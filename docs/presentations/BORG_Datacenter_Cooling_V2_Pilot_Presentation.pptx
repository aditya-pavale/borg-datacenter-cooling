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(30-45s): This project asks whether we can build a workload-aware cooling controller for a datacenter, using REAL Google workload and power traces instead of assumptions, and whether learned multi-agent control (MAPPO) can beat classical control on the energy/safety trade-off. We are presenting PROGRESS, not a finished result: this is the pilot stage, built and validated on 4 of the 8 official Google Borg cells while the remaining 4 are waiting on a free-tier data quota. Every number in this deck is pilot evidence, not a final claim -- that distinction is repeated on every results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Follow the left-hand chain top to bottom: workload creates utilization, utilization draws power, power becomes heat, heat raises temperature, and once temperature is high enough the cooling system has to work, which costs energy. The panel on the right is the actual conflict: cool too aggressively and you waste energy for no safety benefit; cool too little and you risk exceeding a safe operating temperature. The entire rest of the deck is about building a system that can make this trade-off well, using real workload and power data instead of guesses. LIKELY QUESTION: 'Isn't this just always cool to the max to be safe?' ANSWER: cooling capacity itself costs continuous energy -- our own thermal calibration (slide 21) shows full cooling all the time uses roughly 3x more energy per episode than a well-tuned PID, for no additional safety benefit under normal 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classic feedback control loop, not a one-shot prediction problem. The controller looks at temperatures/workload NOW, picks a cooling action, that action plus the incoming workload determines the NEXT temperature, and the loop repeats. Because heat has thermal inertia (it takes time to build up and time to remove), a controller that only reacts to what has already happened will lag behind. That is exactly the motivation for adding a forecaster: if the controller knows workload is about to rise, it can start cooling proactively instead of reactively. LIKELY QUESTION: 'Why not just always look at current temperature, isn't that enough?' ANSWER: our own pilot data shows a reactive PID controller still violates the safety limit 34% of the time (slide 22) specifically because of this lag -- that's the motivating evidence for this slide, not a hypothetical.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V1 is a completed, honestly-reported baseline, not a failure to be embarrassed about. Its most important property is methodological: when RL lost to classical control, that result was kept and published, not hidden or re-tuned away. That discipline is what V2 inherits and this deck follows the same rule -- if V2's PPO/MAPPO lose to PID again on the final 8-cell data, that will also be reported as-is. LIKELY QUESTION: 'Why build V2 at all if V1 already has a full result?' ANSWER: V1's workload came from an undocumented Kaggle re-export with no real power data at all; V2 replaces both with official, documented Google sources so any claim (positive or negative) rests on stronger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this as three columns per row: what was limited in V1, why that limitation actually mattered scientifically (not just 'it was old'), and exactly what V2 does about it -- with an explicit DONE/PLANNED tag, never both claimed as finished. LIKELY QUESTION: 'Has V2 already fixed everything in this table?' ANSWER: No -- read the right column carefully. Several rows say 'DONE (pilot)' meaning validated on 4 cells only, and two rows are explicitly 'PLANNED', not done.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five questions frame everything that follows. Note we do NOT state an expected answer for any of them -- RQ4 in particular could come back 'classical control wins again', and V1's own result suggests that's a live possibility, not something to explain away in advance. LIKELY QUESTION: 'What's the actual novel contribution here?' ANSWER: honestly, at this pilot stage the contribution is the validated infrastructure (real-data pipeline, fitted power model, tested MAPPO) plus early evidence on RQ1-RQ3; RQ4/RQ5 need the full 8-cell run before a defensible answer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real fix from V1's Kaggle export -- same underlying Google system, but now the official, documented release. The number that matters operationally: each cell's raw table is 2-2.4 terabytes, which is why every extraction script in this project dry-runs its query cost first and never downloads the raw table. LIKELY QUESTION: 'Is this the same data as V1?' ANSWER: same underlying system (Google Borg) and same rough scale (8 cells), but a completely different, officially documented export -- V1's Kaggle file had zero uploader documentation of its join/sampling method.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PowerData2019 is Google's own measured power reference -- the thing V1 never had at all. Two important honesty points here: first, the utilization values are FRACTIONS of a PDU's rated capacity, not absolute watts, because no capacity-in-kW field exists in the public schema -- so our power model's output is a normalized quantity, not literal watts. Second, we found and documented a real discrepancy: Google's text implies 55 domains should belong to the 8 cells, but the public BigQuery mirror only exposes 50 tables -- we reported that gap rather than quietly assuming it away. LIKELY QUESTION: 'Are the three-zone temperatures real Google measurements?' ANSWER: No -- see the right-hand panel. Workload and power are real official data; the thermal environment itself is a simulation built ON TOP of that real data, explained fully on slide 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single most scrutinized design decision in the whole pipeline, so take the time here. Workload records get aggregated up to the Borg-cell level; power measurements already carry an explicit 'cell' column in their own schema. The cell is therefore not a convenience choice -- it is the finest join key that is actually supported by both datasets' own structure plus Google's documentation sentence. LIKELY QUESTION: 'How do you know workload and power actually belong together?' ANSWER: we verified it three ways -- (1) Google's own text says most PDUs belong to the 8 ClusterData cells, (2) every PowerData2019 row already carries a 'cell' field matching those same 8 labels, (3) we cross-checked the time axes (both ~31 days, 5-minute cadence) line up. We do NOT claim a machine-level mapping, and we found and disclosed a real discrepancy (50 vs. 55 PDU tables) rather than smoothing it over.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any model gets trained, the pipeline has to pass structural checks -- this table is the actual list, not a generic 'we did QA' claim. All nine of these are backed by a specific assertion or test in the codebase (tests/test_v2_pipeline.py and tests/test_v2_config_consistency.py). LIKELY QUESTION: 'What happens if one of these fails?' ANSWER: the pipeline raises an assertion error and stops rather than silently producing a wrong result -- e.g. the join coverage check literally throws if any cell falls below 95% match 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All 8 cells' POWER data and machine metadata are already fully extracted -- it is only the workload table for cells E-H that is blocked, and only because of a free-tier query quota, not because the data doesn't exist or is hard to get. We deliberately chose not to pay for BigQuery access; we're waiting for the free monthly allowance to reset. LIKELY QUESTION: 'Why not just pay the few dollars to unblock it?' ANSWER: that was an explicit project decision to stay fully on the free tier; the optimized query already fits comfortably inside one reset cycle, so paying isn't necessary, just slower.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whole system in one picture. Two real data sources come down two parallel tracks (workload/forecast on the left, power on the right), they physically meet only inside the thermal model as a heat input, and from there every controller -- classical or learned -- is evaluated through the identical safety shield and evaluation harness. That 'same environment for every controller' property is what makes the comparisons on later slides fair. LIKELY QUESTION: 'Which parts of this are actually built vs. planned?' ANSWER: every box in this diagram has working code today, validated on cells A-D; the orange PPO/MAPPO boxes are currently smoke-test scale, not final.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Walk down the 7 steps on the left -- this is the literal order of operations in src/data/v2_build_timeseries.py and v2_split.py. The one step worth pausing on is #7: unlike a typical ML pipeline, we never shuffle before splitting, because that would let the model implicitly learn from the future. LIKELY QUESTION: 'How do you know there's no leakage?' ANSWER: it's not just a design intent -- tests/test_v2_pipeline.py programmatically checks the split ranges are disjoint and chronologically ordered, and a separate test checks the GRU's forecast windows never cross a split boundary.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GRU's job is narrow and specific: given the last 4 hours of a cell's summed CPU demand, predict the next 30 minutes. That's it -- it does not forecast power or temperature directly, only workload; power and temperature are computed downstream from that forecast plus the fitted power model. LIKELY QUESTION: 'Why 4 hours in, 30 minutes out?' ANSWER: chosen to mirror V1's real-world time spans (V1 used 4h lookback / 30min horizon at a coarser 15-min resolution); at V2's native 5-minute resolution that becomes 48 and 6 steps respectively.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GRU (Gated Recurrent Unit) is a recurrent neural network cell -- it reads a sequence one step at a time and keeps a running 'hidden state' summary, with gates that decide what to keep and what to forget. It's a well-established, moderate-complexity choice: simpler than an LSTM, more expressive than a plain RNN. LIKELY QUESTION: 'Why not a Transformer or something more modern?' ANSWER: at this sequence length (48 steps) and pilot data volume, a small GRU is appropriate and sufficient -- and importantly it DOES beat the simple baselines on the next slide, which is the actual justification, not the architecture's reputation.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'Persistence' just repeats the last observed value; 'moving average' averages the last few steps. Both are trivial to compute and set the bar the GRU has to clear. On this test split it does: MAE 260 vs 290/284, RMSE 367 vs 418/404, R-squared 0.824 vs 0.772/0.787 -- read exact numbers from results/pilot/forecasting/metrics.json. LIKELY QUESTION: 'Is 0.824 a good R-squared?' ANSWER: for a real, noisy operational workload signal, yes -- and more importantly it beats the baselines by a clear, consistent margin on every metric, which is the more meaningful bar than an absolute threshold.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things are true at once here: the forecaster genuinely works, and it works less well exactly where it matters most for safety -- sudden bursts. That's an honest limitation, not something to gloss over: proximity events near the safety limit correlate with exactly the regime (burst load) where the forecast is weakest. LIKELY QUESTION: 'So is forecasting actually useful for control, or not?' ANSWER: this slide only establishes forecast QUALITY; whether it changes CONTROL behavior is a separate question tested by the forecast on/off ablation, which is planned for the final 8-cell run (V1's own forecast ablation found no measurable control benefit, so this is a real open question, not assumed to be positive).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genuinely new capability V2 has that V1 never did: a REAL empirical relationship between workload and measured power. We tried four candidates in increasing complexity -- a constant baseline, a pooled linear model, a linear model with a per-cell fixed effect, and a random forest -- and picked the winner purely on validation RMSE, never touching the test split. LIKELY QUESTION: 'Why does a per-cell fixed effect help so much (0.648 to 0.714 R2)?' ANSWER: different cells likely have different numbers of PDUs / baseline power draw; the feature-importance breakdown in the appendix shows cell identity carries real predictive weight (36.7%), almost as much as CPU itself (58.4%).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Side by side, the difference is that V1's middle step was a guess and V2's is a fitted model checked against real measurements. That is the specific scientific upgrade this slide is making, no more and no less. LIKELY QUESTION: 'Does this mean the thermal simulation is now realistic?' ANSWER: no -- that's exactly the caution in the panel below. A better power model does not automatically validate the downstream thermal simulation; that's addressed separately, next.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diagram shows the general topology -- each zone has its own heat and cooling, plus a coupling term with its neighbors so heat can spread. The genuinely new decision in V2 is using the Borg CELL as the zone unit instead of V1's synthetic hash-based split -- because we now have a real partition to use, re-inventing an arbitrary one would be a step backward. LIKELY QUESTION: 'Are these real Google temperature measurements?' ANSWER: No. The workload and power references are official Google data, but the three/four-zone thermal environment itself is a simulation abstraction built to study the control problem -- there is no real temperature data anywhere in either Google trace.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chart is read left to right as we turn up an assumed heat-intensity parameter. The red line (cooling off) crosses the safety limit almost immediately; the green line (full cooling) stays safe until about 0.9, where it also starts failing -- meaning the cooling capacity itself becomes insufficient beyond that point. 0.85 sits right at the edge: violates when off, safe when full. LIKELY QUESTION: 'Why should I trust a self-reported bug fix?' ANSWER: because we're showing you exactly how it was caught -- an impossible symptom (the 'off' trajectory changing when a cooling-capacity parameter was varied, which should be physically impossible for action=0) -- and the fix is now a permanent automated test, not just a one-time patch.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finding we're choosing to show you plainly rather than hide. The chart is one real simulated 24-hour test episode: four cell temperatures over time, the dashed red line is the safety limit, and the shaded band marks where at least one zone is over it. 83 of 288 steps in this specific episode are above the line. LIKELY QUESTION: 'Why didn't you simply tune the model until PID had zero violations?' ANSWER: because that would alter the evidence to obtain a desired result. The dense calibration (previous slide) showed this behavior is tied to the actual thermal/control dynamics -- reactive lag plus a myopic one-step shield -- so it was retained and documented, exactly as the instructions for this project require.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controller in this project — classical or learned — is solving exactly this loop with exactly these constraints; that shared definition is what makes the comparisons on the next few slides apples-to-apples. LIKELY QUESTION: 'What exactly is in the observation?' ANSWER: current temperatures, current workload, the GRU's forecast, the safety margin remaining, the previous action (for smoothness), and a sine/cosine time-of-day encoding -- listed in full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classical controllers, ordered roughly by sophistication. PID is the strongest of the four (lowest violation rate at 33.9%, per the chart) because it responds to error, the trend of that error, and its accumulated history, not just an instantaneous threshold. MPC here is a documented random-shooting search over 64 candidate action sequences per step, not a full gradient/CEM solver -- a disclosed simplification, not hidden. LIKELY QUESTION: 'Why does MPC not obviously beat PID here?' ANSWER: MPC's heat forecast over its horizon is held constant (a documented simplification, since the fitted power model needs a memory-usage feature that isn't forecasted) -- so it isn't exploiting future information the way a full model-predictive approach ideally would.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PPO is single-agent here: one policy observes and controls ALL zones jointly. The training curve on the right is genuine data from this pilot run, but at 8,640 timesteps it's a small fraction of a real budget -- read it as 'the wiring works', not 'this is how good PPO is'. LIKELY QUESTION: 'What's the clipping math?' ANSWER: the objective clips the probability ratio between new and old policy to [1-epsilon, 1+epsilon] (epsilon=0.2 here) before multiplying by the advantage -- full formulation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Each of the 4 agents (one per cell) has its own actor network with SHARED weights, and sees only its own zone's local observation when acting -- that's decentralized execution. During TRAINING ONLY, a separate centralized critic sees the concatenation of all four zones' observations, so it can learn how the zones interact even though the actors themselves never do at execution time. LIKELY QUESTION: 'How do you know this is real MAPPO and not just relabeled PPO?' ANSWER: it's structurally verified by test -- the actor's input dimension (9, one zone) is asserted to differ from the critic's input dimension (36, all four zones concatenated) in tests/test_marl.py, and each agent's action is confirmed to depend only on its own local observation, never the others'.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shield sits between every controller's decision and the physics -- it never changes the reward function, only the applied action, and every correction is logged so reliance on it can be measured, not assumed. LIKELY QUESTION: 'Does the shield eliminate all safety problems?' ANSWER: no, and that's the point of the ablation chart -- Fixed and Threshold lean on it heavily (25 and 21 percentage points worse without it), while PID shows no change either way. Read that last one carefully: it does NOT mean PID is inherently safe -- our thermal calibration shows PID's cooling is already maxed out in the regime that causes its violations, so the shield literally has nothing left to give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slide exists to show engineering rigor, not just a pass/fail count. The specific bug called out on the left is real: before a final-pipeline readiness audit, two config files could disagree about which cells were active, and the final run could have silently overwritten pilot results at the same file path. It was found, fixed, and turned into a permanent test rather than a one-off patch. LIKELY QUESTION: 'Do these 62 tests include anything about PPO/MAPPO correctness?' ANSWER: yes, inherited from V1 -- 8 dedicated tests verify MAPPO's actor only sees local observations while the critic sees the full global state, and that the PPO importance-sampling ratio is computed correctly (a real bug found and fixed during V1).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table is the honest summary of the whole deck so far -- read the STATUS column carefully, it is not uniform. Most rows say PILOT, meaning validated on 4-of-8 cells; two rows (PPO, MAPPO) are explicitly downgraded further to SMOKE TEST because their training budget is a small fraction of even V1's reduced budget. LIKELY QUESTION: 'Which of these numbers would you bet on holding up on 8 cells?' ANSWER: the data-alignment and engineering-test rows are structural, not statistical -- they should hold. The GRU/power-model R2 values are real pilot measurements but the final ones must be re-measured on the complete population, not assumed unchanged.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honest columns, no overlap. Everything on the left is genuinely finished engineering work you can inspect in the repository today; everything on the right requires the complete 8-cell dataset and has not been attempted on 4-of-8 cells as a substitute. LIKELY QUESTION: 'What's the single biggest remaining risk?' ANSWER: that PPO/MAPPO, even with a full training budget, don't beat classical control -- V1 already found exactly that outcome once, so it's a live possibility we're not assuming away.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methodology safeguard, not a hedge. If we let ourselves tune everything against the same 4 cells we then report results on, any positive finding becomes suspect -- indistinguishable from fitting to that specific pilot population. Keeping A-D strictly as development data and reserving A-H for one final, frozen evaluation is what keeps the eventual final claim defensible. LIKELY QUESTION: 'Isn't this overly cautious for a progress presentation?' ANSWER: this same discipline is exactly what let V1 report an honest negative result (PID beating RL) instead of an inflated one -- it's a deliberate scientific-integrity choice, not delay for its own sake.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exact sequence, in order, that fires once the BigQuery quota resets -- not a vague future plan. Two rules govern it: model selection only ever touches train/validation, and the final test split is evaluated exactly once, after everything else is frozen. LIKELY QUESTION: 'How long will this take once E-H unblocks?' ANSWER: the mechanical steps (extraction, preprocessing, refitting the forecaster/power model) are fast (all pilot equivalents ran in minutes); the RL training at a REAL budget (5 seeds x PPO and MAPPO) is the dominant cost, matching V1's own multi-hour CPU training time.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the paragraph on this slide close to verbatim -- it is the deliberately precise summary of where the project actually stands, phrased to avoid overclaiming. LIKELY QUESTION: 'So what's the headline result of this project?' ANSWER: there isn't one yet, by design -- the headline result is deferred until the full 8-cell run completes; what exists today is validated infrastructure and early feasibility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source listed here is one this project actually used or produced -- nothing is a placeholder citation. LIKELY QUESTION: 'Where's the related-work / literature review?' ANSWER: honestly, not done yet at this pilot stage -- it's explicitly planned for the final phase (see the master project plan), and we chose not to fabricate a reading list to fill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Hold here unless a specific technical question calls for one of these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D59"/>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nchor="t" lIns="0" rIns="0" tIns="0" bIns="0">
            <a:spAutoFit/>
          </a:bodyPr>
          <a:lstStyle/>
          <a:p>
            <a:pPr algn="l">
              <a:lnSpc>
                <a:spcPct val="100000"/>
              </a:lnSpc>
            </a:pPr>
            <a:r>
              <a:rPr sz="1400" b="1" i="0">
                <a:solidFill>
                  <a:srgbClr val="FFC99E"/>
                </a:solidFill>
                <a:latin typeface="Calibri"/>
              </a:rPr>
              <a:t>VERSION 2 — PILOT / DEVELOPMENT STAGE  ·  CELLS A–D</a:t>
            </a:r>
          </a:p>
        </p:txBody>
      </p:sp>
      <p:sp>
        <p:nvSpPr>
          <p:cNvPr id="3" name="TextBox 2"/>
          <p:cNvSpPr txBox="1"/>
          <p:nvPr/>
        </p:nvSpPr>
        <p:spPr>
          <a:xfrm>
            <a:off x="822960" y="2286000"/>
            <a:ext cx="10515600" cy="1554480"/>
          </a:xfrm>
          <a:prstGeom prst="rect">
            <a:avLst/>
          </a:prstGeom>
          <a:noFill/>
        </p:spPr>
        <p:txBody>
          <a:bodyPr wrap="square" anchor="t" lIns="0" rIns="0" tIns="0" bIns="0">
            <a:spAutoFit/>
          </a:bodyPr>
          <a:lstStyle/>
          <a:p>
            <a:pPr algn="l">
              <a:lnSpc>
                <a:spcPct val="105000"/>
              </a:lnSpc>
            </a:pPr>
            <a:r>
              <a:rPr sz="4200" b="1" i="0">
                <a:solidFill>
                  <a:srgbClr val="FFFFFF"/>
                </a:solidFill>
                <a:latin typeface="Cambria"/>
              </a:rPr>
              <a:t>BORG Datacenter Cooling Optimization</a:t>
            </a:r>
          </a:p>
        </p:txBody>
      </p:sp>
      <p:sp>
        <p:nvSpPr>
          <p:cNvPr id="4" name="TextBox 3"/>
          <p:cNvSpPr txBox="1"/>
          <p:nvPr/>
        </p:nvSpPr>
        <p:spPr>
          <a:xfrm>
            <a:off x="822960" y="3886200"/>
            <a:ext cx="10058400" cy="1188720"/>
          </a:xfrm>
          <a:prstGeom prst="rect">
            <a:avLst/>
          </a:prstGeom>
          <a:noFill/>
        </p:spPr>
        <p:txBody>
          <a:bodyPr wrap="square" anchor="t" lIns="0" rIns="0" tIns="0" bIns="0">
            <a:spAutoFit/>
          </a:bodyPr>
          <a:lstStyle/>
          <a:p>
            <a:pPr algn="l">
              <a:lnSpc>
                <a:spcPct val="120000"/>
              </a:lnSpc>
            </a:pPr>
            <a:r>
              <a:rPr sz="1800" b="0" i="0">
                <a:solidFill>
                  <a:srgbClr val="CADCFC"/>
                </a:solidFill>
                <a:latin typeface="Calibri"/>
              </a:rPr>
              <a:t>Official Google Borg 2019 Workload and Power Traces with Workload</a:t>
            </a:r>
          </a:p>
          <a:p>
            <a:pPr algn="l">
              <a:lnSpc>
                <a:spcPct val="120000"/>
              </a:lnSpc>
            </a:pPr>
            <a:r>
              <a:rPr sz="1800" b="0" i="0">
                <a:solidFill>
                  <a:srgbClr val="CADCFC"/>
                </a:solidFill>
                <a:latin typeface="Calibri"/>
              </a:rPr>
              <a:t>Forecasting, Thermal Modeling and Safe Multi-Agent Reinforcement Learning</a:t>
            </a:r>
          </a:p>
        </p:txBody>
      </p:sp>
      <p:sp>
        <p:nvSpPr>
          <p:cNvPr id="5" name="TextBox 4"/>
          <p:cNvSpPr txBox="1"/>
          <p:nvPr/>
        </p:nvSpPr>
        <p:spPr>
          <a:xfrm>
            <a:off x="822960" y="5806440"/>
            <a:ext cx="10058400" cy="365760"/>
          </a:xfrm>
          <a:prstGeom prst="rect">
            <a:avLst/>
          </a:prstGeom>
          <a:noFill/>
        </p:spPr>
        <p:txBody>
          <a:bodyPr wrap="square" anchor="t" lIns="0" rIns="0" tIns="0" bIns="0">
            <a:spAutoFit/>
          </a:bodyPr>
          <a:lstStyle/>
          <a:p>
            <a:pPr algn="l">
              <a:lnSpc>
                <a:spcPct val="100000"/>
              </a:lnSpc>
            </a:pPr>
            <a:r>
              <a:rPr sz="1250" b="0" i="0">
                <a:solidFill>
                  <a:srgbClr val="9FB6C8"/>
                </a:solidFill>
                <a:latin typeface="Calibri"/>
              </a:rPr>
              <a:t>Research Progress Presentation · git: v2-official-google-data @ b83ce2a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 Core Engineering Problem</a:t>
            </a:r>
          </a:p>
        </p:txBody>
      </p:sp>
      <p:sp>
        <p:nvSpPr>
          <p:cNvPr id="3" name="Rounded Rectangle 2"/>
          <p:cNvSpPr/>
          <p:nvPr/>
        </p:nvSpPr>
        <p:spPr>
          <a:xfrm>
            <a:off x="822960" y="1371600"/>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Datacenter workload</a:t>
            </a:r>
          </a:p>
        </p:txBody>
      </p:sp>
      <p:cxnSp>
        <p:nvCxnSpPr>
          <p:cNvPr id="4" name="Connector 3"/>
          <p:cNvCxnSpPr/>
          <p:nvPr/>
        </p:nvCxnSpPr>
        <p:spPr>
          <a:xfrm>
            <a:off x="2194560.0" y="1828800"/>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993392"/>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Server utilization</a:t>
            </a:r>
          </a:p>
        </p:txBody>
      </p:sp>
      <p:cxnSp>
        <p:nvCxnSpPr>
          <p:cNvPr id="6" name="Connector 5"/>
          <p:cNvCxnSpPr/>
          <p:nvPr/>
        </p:nvCxnSpPr>
        <p:spPr>
          <a:xfrm>
            <a:off x="2194560.0" y="2450592"/>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22960" y="2615184"/>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Electrical power</a:t>
            </a:r>
          </a:p>
        </p:txBody>
      </p:sp>
      <p:cxnSp>
        <p:nvCxnSpPr>
          <p:cNvPr id="8" name="Connector 7"/>
          <p:cNvCxnSpPr/>
          <p:nvPr/>
        </p:nvCxnSpPr>
        <p:spPr>
          <a:xfrm>
            <a:off x="2194560.0" y="3072384"/>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3236976"/>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Heat generation</a:t>
            </a:r>
          </a:p>
        </p:txBody>
      </p:sp>
      <p:cxnSp>
        <p:nvCxnSpPr>
          <p:cNvPr id="10" name="Connector 9"/>
          <p:cNvCxnSpPr/>
          <p:nvPr/>
        </p:nvCxnSpPr>
        <p:spPr>
          <a:xfrm>
            <a:off x="2194560.0" y="3694176"/>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3858768"/>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Temperature</a:t>
            </a:r>
          </a:p>
        </p:txBody>
      </p:sp>
      <p:cxnSp>
        <p:nvCxnSpPr>
          <p:cNvPr id="12" name="Connector 11"/>
          <p:cNvCxnSpPr/>
          <p:nvPr/>
        </p:nvCxnSpPr>
        <p:spPr>
          <a:xfrm>
            <a:off x="2194560.0" y="4315968"/>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480560"/>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Cooling requirement</a:t>
            </a:r>
          </a:p>
        </p:txBody>
      </p:sp>
      <p:cxnSp>
        <p:nvCxnSpPr>
          <p:cNvPr id="14" name="Connector 13"/>
          <p:cNvCxnSpPr/>
          <p:nvPr/>
        </p:nvCxnSpPr>
        <p:spPr>
          <a:xfrm>
            <a:off x="2194560.0" y="4937760"/>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 y="5102352"/>
            <a:ext cx="274320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Cooling energy</a:t>
            </a:r>
          </a:p>
        </p:txBody>
      </p:sp>
      <p:sp>
        <p:nvSpPr>
          <p:cNvPr id="16" name="Rounded Rectangle 15"/>
          <p:cNvSpPr/>
          <p:nvPr/>
        </p:nvSpPr>
        <p:spPr>
          <a:xfrm>
            <a:off x="4937760" y="1371600"/>
            <a:ext cx="6309360" cy="443484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1554480"/>
            <a:ext cx="5760720" cy="365760"/>
          </a:xfrm>
          <a:prstGeom prst="rect">
            <a:avLst/>
          </a:prstGeom>
          <a:noFill/>
        </p:spPr>
        <p:txBody>
          <a:bodyPr wrap="square" anchor="t" lIns="0" rIns="0" tIns="0" bIns="0">
            <a:spAutoFit/>
          </a:bodyPr>
          <a:lstStyle/>
          <a:p>
            <a:pPr algn="l">
              <a:lnSpc>
                <a:spcPct val="100000"/>
              </a:lnSpc>
            </a:pPr>
            <a:r>
              <a:rPr sz="1700" b="1" i="0">
                <a:solidFill>
                  <a:srgbClr val="0B3D59"/>
                </a:solidFill>
                <a:latin typeface="Cambria"/>
              </a:rPr>
              <a:t>The control conflict</a:t>
            </a:r>
          </a:p>
        </p:txBody>
      </p:sp>
      <p:sp>
        <p:nvSpPr>
          <p:cNvPr id="18" name="Rounded Rectangle 17"/>
          <p:cNvSpPr/>
          <p:nvPr/>
        </p:nvSpPr>
        <p:spPr>
          <a:xfrm>
            <a:off x="5212080" y="2057400"/>
            <a:ext cx="2651760" cy="64008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Too much</a:t>
            </a:r>
          </a:p>
          <a:p>
            <a:pPr algn="ctr"/>
            <a:r>
              <a:rPr sz="1300" b="0">
                <a:solidFill>
                  <a:srgbClr val="FFFFFF"/>
                </a:solidFill>
                <a:latin typeface="Calibri"/>
              </a:rPr>
              <a:t>cooling</a:t>
            </a:r>
          </a:p>
        </p:txBody>
      </p:sp>
      <p:sp>
        <p:nvSpPr>
          <p:cNvPr id="19" name="TextBox 18"/>
          <p:cNvSpPr txBox="1"/>
          <p:nvPr/>
        </p:nvSpPr>
        <p:spPr>
          <a:xfrm>
            <a:off x="8001000" y="2148840"/>
            <a:ext cx="2743200" cy="457200"/>
          </a:xfrm>
          <a:prstGeom prst="rect">
            <a:avLst/>
          </a:prstGeom>
          <a:noFill/>
        </p:spPr>
        <p:txBody>
          <a:bodyPr wrap="square" anchor="t" lIns="0" rIns="0" tIns="0" bIns="0">
            <a:spAutoFit/>
          </a:bodyPr>
          <a:lstStyle/>
          <a:p>
            <a:pPr algn="l">
              <a:lnSpc>
                <a:spcPct val="100000"/>
              </a:lnSpc>
            </a:pPr>
            <a:r>
              <a:rPr sz="1300" b="0" i="0">
                <a:solidFill>
                  <a:srgbClr val="1A1F24"/>
                </a:solidFill>
                <a:latin typeface="Calibri"/>
              </a:rPr>
              <a:t>→ wastes energy</a:t>
            </a:r>
          </a:p>
        </p:txBody>
      </p:sp>
      <p:sp>
        <p:nvSpPr>
          <p:cNvPr id="20" name="Rounded Rectangle 19"/>
          <p:cNvSpPr/>
          <p:nvPr/>
        </p:nvSpPr>
        <p:spPr>
          <a:xfrm>
            <a:off x="5212080" y="2880360"/>
            <a:ext cx="2651760" cy="64008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Too little</a:t>
            </a:r>
          </a:p>
          <a:p>
            <a:pPr algn="ctr"/>
            <a:r>
              <a:rPr sz="1300" b="0">
                <a:solidFill>
                  <a:srgbClr val="FFFFFF"/>
                </a:solidFill>
                <a:latin typeface="Calibri"/>
              </a:rPr>
              <a:t>cooling</a:t>
            </a:r>
          </a:p>
        </p:txBody>
      </p:sp>
      <p:sp>
        <p:nvSpPr>
          <p:cNvPr id="21" name="TextBox 20"/>
          <p:cNvSpPr txBox="1"/>
          <p:nvPr/>
        </p:nvSpPr>
        <p:spPr>
          <a:xfrm>
            <a:off x="8001000" y="2971800"/>
            <a:ext cx="3017520" cy="457200"/>
          </a:xfrm>
          <a:prstGeom prst="rect">
            <a:avLst/>
          </a:prstGeom>
          <a:noFill/>
        </p:spPr>
        <p:txBody>
          <a:bodyPr wrap="square" anchor="t" lIns="0" rIns="0" tIns="0" bIns="0">
            <a:spAutoFit/>
          </a:bodyPr>
          <a:lstStyle/>
          <a:p>
            <a:pPr algn="l">
              <a:lnSpc>
                <a:spcPct val="100000"/>
              </a:lnSpc>
            </a:pPr>
            <a:r>
              <a:rPr sz="1300" b="0" i="0">
                <a:solidFill>
                  <a:srgbClr val="1A1F24"/>
                </a:solidFill>
                <a:latin typeface="Calibri"/>
              </a:rPr>
              <a:t>→ thermal safety risk</a:t>
            </a:r>
          </a:p>
        </p:txBody>
      </p:sp>
      <p:sp>
        <p:nvSpPr>
          <p:cNvPr id="22" name="TextBox 21"/>
          <p:cNvSpPr txBox="1"/>
          <p:nvPr/>
        </p:nvSpPr>
        <p:spPr>
          <a:xfrm>
            <a:off x="5212080" y="3749040"/>
            <a:ext cx="5760720" cy="365760"/>
          </a:xfrm>
          <a:prstGeom prst="rect">
            <a:avLst/>
          </a:prstGeom>
          <a:noFill/>
        </p:spPr>
        <p:txBody>
          <a:bodyPr wrap="square" anchor="t" lIns="0" rIns="0" tIns="0" bIns="0">
            <a:spAutoFit/>
          </a:bodyPr>
          <a:lstStyle/>
          <a:p>
            <a:pPr algn="l">
              <a:lnSpc>
                <a:spcPct val="100000"/>
              </a:lnSpc>
            </a:pPr>
            <a:r>
              <a:rPr sz="1500" b="1" i="0">
                <a:solidFill>
                  <a:srgbClr val="0B3D59"/>
                </a:solidFill>
                <a:latin typeface="Calibri"/>
              </a:rPr>
              <a:t>The research objective:</a:t>
            </a:r>
          </a:p>
        </p:txBody>
      </p:sp>
      <p:sp>
        <p:nvSpPr>
          <p:cNvPr id="23" name="Rounded Rectangle 22"/>
          <p:cNvSpPr/>
          <p:nvPr/>
        </p:nvSpPr>
        <p:spPr>
          <a:xfrm>
            <a:off x="5212080" y="4251960"/>
            <a:ext cx="1828800" cy="594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ENERGY EFFICIENCY</a:t>
            </a:r>
          </a:p>
        </p:txBody>
      </p:sp>
      <p:sp>
        <p:nvSpPr>
          <p:cNvPr id="24" name="Rounded Rectangle 23"/>
          <p:cNvSpPr/>
          <p:nvPr/>
        </p:nvSpPr>
        <p:spPr>
          <a:xfrm>
            <a:off x="7223760" y="4251960"/>
            <a:ext cx="1828800" cy="59436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THERMAL SAFETY</a:t>
            </a:r>
          </a:p>
        </p:txBody>
      </p:sp>
      <p:sp>
        <p:nvSpPr>
          <p:cNvPr id="25" name="Rounded Rectangle 24"/>
          <p:cNvSpPr/>
          <p:nvPr/>
        </p:nvSpPr>
        <p:spPr>
          <a:xfrm>
            <a:off x="9235440" y="4251960"/>
            <a:ext cx="1828800" cy="5943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CONTROL STABILITY</a:t>
            </a:r>
          </a:p>
        </p:txBody>
      </p:sp>
      <p:sp>
        <p:nvSpPr>
          <p:cNvPr id="26" name="TextBox 25"/>
          <p:cNvSpPr txBox="1"/>
          <p:nvPr/>
        </p:nvSpPr>
        <p:spPr>
          <a:xfrm>
            <a:off x="5212080" y="5029200"/>
            <a:ext cx="5760720" cy="640080"/>
          </a:xfrm>
          <a:prstGeom prst="rect">
            <a:avLst/>
          </a:prstGeom>
          <a:noFill/>
        </p:spPr>
        <p:txBody>
          <a:bodyPr wrap="square" anchor="t" lIns="0" rIns="0" tIns="0" bIns="0">
            <a:spAutoFit/>
          </a:bodyPr>
          <a:lstStyle/>
          <a:p>
            <a:pPr algn="l">
              <a:lnSpc>
                <a:spcPct val="115000"/>
              </a:lnSpc>
            </a:pPr>
            <a:r>
              <a:rPr sz="1300" b="0" i="0">
                <a:solidFill>
                  <a:srgbClr val="5B666E"/>
                </a:solidFill>
                <a:latin typeface="Calibri"/>
              </a:rPr>
              <a:t>Balance all three at once — not just minimize energy, and not</a:t>
            </a:r>
          </a:p>
          <a:p>
            <a:pPr algn="l">
              <a:lnSpc>
                <a:spcPct val="115000"/>
              </a:lnSpc>
            </a:pPr>
            <a:r>
              <a:rPr sz="1300" b="0" i="0">
                <a:solidFill>
                  <a:srgbClr val="5B666E"/>
                </a:solidFill>
                <a:latin typeface="Calibri"/>
              </a:rPr>
              <a:t>just eliminate risk by over-cooling.</a:t>
            </a:r>
          </a:p>
        </p:txBody>
      </p:sp>
      <p:sp>
        <p:nvSpPr>
          <p:cNvPr id="27" name="Rounded Rectangle 26"/>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
        <p:nvSpPr>
          <p:cNvPr id="28" name="TextBox 27"/>
          <p:cNvSpPr txBox="1"/>
          <p:nvPr/>
        </p:nvSpPr>
        <p:spPr>
          <a:xfrm>
            <a:off x="548640" y="6473952"/>
            <a:ext cx="8229600" cy="274320"/>
          </a:xfrm>
          <a:prstGeom prst="rect">
            <a:avLst/>
          </a:prstGeom>
          <a:noFill/>
        </p:spPr>
        <p:txBody>
          <a:bodyPr wrap="square" anchor="t" lIns="0" rIns="0" tIns="0" bIns="0">
            <a:spAutoFit/>
          </a:bodyPr>
          <a:lstStyle/>
          <a:p>
            <a:pPr algn="l">
              <a:lnSpc>
                <a:spcPct val="100000"/>
              </a:lnSpc>
            </a:pPr>
            <a:r>
              <a:rPr sz="950" b="0" i="1">
                <a:solidFill>
                  <a:srgbClr val="5B666E"/>
                </a:solidFill>
                <a:latin typeface="Calibri"/>
              </a:rPr>
              <a:t>Causal chain from workload to cooling energy; the trade-off this whole project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Why This Is a Feedback Control Problem</a:t>
            </a:r>
          </a:p>
        </p:txBody>
      </p:sp>
      <p:sp>
        <p:nvSpPr>
          <p:cNvPr id="3" name="Rounded Rectangle 2"/>
          <p:cNvSpPr/>
          <p:nvPr/>
        </p:nvSpPr>
        <p:spPr>
          <a:xfrm>
            <a:off x="4206240" y="1463040"/>
            <a:ext cx="3749039"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FFFFFF"/>
                </a:solidFill>
                <a:latin typeface="Calibri"/>
              </a:rPr>
              <a:t>State / Observations</a:t>
            </a:r>
          </a:p>
        </p:txBody>
      </p:sp>
      <p:cxnSp>
        <p:nvCxnSpPr>
          <p:cNvPr id="4" name="Connector 3"/>
          <p:cNvCxnSpPr/>
          <p:nvPr/>
        </p:nvCxnSpPr>
        <p:spPr>
          <a:xfrm>
            <a:off x="6080759.5" y="2029968"/>
            <a:ext cx="0.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206240" y="2286000"/>
            <a:ext cx="3749039"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FFFFFF"/>
                </a:solidFill>
                <a:latin typeface="Calibri"/>
              </a:rPr>
              <a:t>Controller</a:t>
            </a:r>
          </a:p>
        </p:txBody>
      </p:sp>
      <p:cxnSp>
        <p:nvCxnSpPr>
          <p:cNvPr id="6" name="Connector 5"/>
          <p:cNvCxnSpPr/>
          <p:nvPr/>
        </p:nvCxnSpPr>
        <p:spPr>
          <a:xfrm>
            <a:off x="6080759.5" y="2852928"/>
            <a:ext cx="0.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0" y="3108960"/>
            <a:ext cx="3749039"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FFFFFF"/>
                </a:solidFill>
                <a:latin typeface="Calibri"/>
              </a:rPr>
              <a:t>Cooling Action</a:t>
            </a:r>
          </a:p>
        </p:txBody>
      </p:sp>
      <p:cxnSp>
        <p:nvCxnSpPr>
          <p:cNvPr id="8" name="Connector 7"/>
          <p:cNvCxnSpPr/>
          <p:nvPr/>
        </p:nvCxnSpPr>
        <p:spPr>
          <a:xfrm>
            <a:off x="6080759.5" y="3675888"/>
            <a:ext cx="0.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06240" y="3931920"/>
            <a:ext cx="3749039"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FFFFFF"/>
                </a:solidFill>
                <a:latin typeface="Calibri"/>
              </a:rPr>
              <a:t>Thermal Response</a:t>
            </a:r>
          </a:p>
        </p:txBody>
      </p:sp>
      <p:cxnSp>
        <p:nvCxnSpPr>
          <p:cNvPr id="10" name="Connector 9"/>
          <p:cNvCxnSpPr/>
          <p:nvPr/>
        </p:nvCxnSpPr>
        <p:spPr>
          <a:xfrm>
            <a:off x="6080759.5" y="4498848"/>
            <a:ext cx="0.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4754880"/>
            <a:ext cx="3749039"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FFFFFF"/>
                </a:solidFill>
                <a:latin typeface="Calibri"/>
              </a:rPr>
              <a:t>Next State</a:t>
            </a:r>
          </a:p>
        </p:txBody>
      </p:sp>
      <p:cxnSp>
        <p:nvCxnSpPr>
          <p:cNvPr id="12" name="Connector 11"/>
          <p:cNvCxnSpPr/>
          <p:nvPr/>
        </p:nvCxnSpPr>
        <p:spPr>
          <a:xfrm>
            <a:off x="7955279" y="1746504.0"/>
            <a:ext cx="548640" cy="0.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955279" y="4782312.0"/>
            <a:ext cx="548640" cy="0.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03919" y="1746504.0"/>
            <a:ext cx="0" cy="3035808.0"/>
          </a:xfrm>
          <a:prstGeom prst="line">
            <a:avLst/>
          </a:prstGeom>
          <a:ln w="19050">
            <a:solidFill>
              <a:srgbClr val="5B6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95359" y="2980944"/>
            <a:ext cx="1463040" cy="548640"/>
          </a:xfrm>
          <a:prstGeom prst="rect">
            <a:avLst/>
          </a:prstGeom>
          <a:noFill/>
        </p:spPr>
        <p:txBody>
          <a:bodyPr wrap="square" anchor="t" lIns="0" rIns="0" tIns="0" bIns="0">
            <a:spAutoFit/>
          </a:bodyPr>
          <a:lstStyle/>
          <a:p>
            <a:pPr algn="l">
              <a:lnSpc>
                <a:spcPct val="100000"/>
              </a:lnSpc>
            </a:pPr>
            <a:r>
              <a:rPr sz="1100" b="0" i="1">
                <a:solidFill>
                  <a:srgbClr val="5B666E"/>
                </a:solidFill>
                <a:latin typeface="Calibri"/>
              </a:rPr>
              <a:t>feedback</a:t>
            </a:r>
          </a:p>
          <a:p>
            <a:pPr algn="l">
              <a:lnSpc>
                <a:spcPct val="100000"/>
              </a:lnSpc>
            </a:pPr>
            <a:r>
              <a:rPr sz="1100" b="0" i="1">
                <a:solidFill>
                  <a:srgbClr val="5B666E"/>
                </a:solidFill>
                <a:latin typeface="Calibri"/>
              </a:rPr>
              <a:t>loop</a:t>
            </a:r>
          </a:p>
        </p:txBody>
      </p:sp>
      <p:sp>
        <p:nvSpPr>
          <p:cNvPr id="16" name="TextBox 15"/>
          <p:cNvSpPr txBox="1"/>
          <p:nvPr/>
        </p:nvSpPr>
        <p:spPr>
          <a:xfrm>
            <a:off x="548640" y="5074920"/>
            <a:ext cx="11064240" cy="1463040"/>
          </a:xfrm>
          <a:prstGeom prst="rect">
            <a:avLst/>
          </a:prstGeom>
          <a:noFill/>
        </p:spPr>
        <p:txBody>
          <a:bodyPr wrap="square" lIns="0" rIns="0">
            <a:spAutoFit/>
          </a:bodyPr>
          <a:lstStyle/>
          <a:p>
            <a:pPr>
              <a:lnSpc>
                <a:spcPct val="108000"/>
              </a:lnSpc>
              <a:spcAft>
                <a:spcPts val="800"/>
              </a:spcAft>
            </a:pPr>
            <a:r>
              <a:rPr sz="1450" b="0">
                <a:solidFill>
                  <a:srgbClr val="1A1F24"/>
                </a:solidFill>
                <a:latin typeface="Calibri"/>
              </a:rPr>
              <a:t>•  Dynamic: today's cooling decision changes tomorrow's starting temperature.</a:t>
            </a:r>
          </a:p>
          <a:p>
            <a:pPr>
              <a:lnSpc>
                <a:spcPct val="108000"/>
              </a:lnSpc>
              <a:spcAft>
                <a:spcPts val="800"/>
              </a:spcAft>
            </a:pPr>
            <a:r>
              <a:rPr sz="1450" b="0">
                <a:solidFill>
                  <a:srgbClr val="1A1F24"/>
                </a:solidFill>
                <a:latin typeface="Calibri"/>
              </a:rPr>
              <a:t>•  Lagged: heat takes time to raise temperature, and cooling takes time to remove it.</a:t>
            </a:r>
          </a:p>
          <a:p>
            <a:pPr>
              <a:lnSpc>
                <a:spcPct val="108000"/>
              </a:lnSpc>
              <a:spcAft>
                <a:spcPts val="800"/>
              </a:spcAft>
            </a:pPr>
            <a:r>
              <a:rPr sz="1450" b="0">
                <a:solidFill>
                  <a:srgbClr val="1A1F24"/>
                </a:solidFill>
                <a:latin typeface="Calibri"/>
              </a:rPr>
              <a:t>•  Workload varies over time — a controller that only reacts to the CURRENT state is always a step behind.</a:t>
            </a:r>
          </a:p>
          <a:p>
            <a:pPr>
              <a:lnSpc>
                <a:spcPct val="108000"/>
              </a:lnSpc>
              <a:spcAft>
                <a:spcPts val="800"/>
              </a:spcAft>
            </a:pPr>
            <a:r>
              <a:rPr sz="1450" b="0">
                <a:solidFill>
                  <a:srgbClr val="1A1F24"/>
                </a:solidFill>
                <a:latin typeface="Calibri"/>
              </a:rPr>
              <a:t>•  Forecasting (next section) gives the controller information about near-future workload, ahead of time.</a:t>
            </a:r>
          </a:p>
        </p:txBody>
      </p:sp>
      <p:sp>
        <p:nvSpPr>
          <p:cNvPr id="17" name="Rounded Rectangle 16"/>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Version 1: The Original System</a:t>
            </a:r>
          </a:p>
        </p:txBody>
      </p:sp>
      <p:sp>
        <p:nvSpPr>
          <p:cNvPr id="3" name="TextBox 2"/>
          <p:cNvSpPr txBox="1"/>
          <p:nvPr/>
        </p:nvSpPr>
        <p:spPr>
          <a:xfrm>
            <a:off x="548640" y="1371600"/>
            <a:ext cx="5486400" cy="4754880"/>
          </a:xfrm>
          <a:prstGeom prst="rect">
            <a:avLst/>
          </a:prstGeom>
          <a:noFill/>
        </p:spPr>
        <p:txBody>
          <a:bodyPr wrap="square" lIns="0" rIns="0">
            <a:spAutoFit/>
          </a:bodyPr>
          <a:lstStyle/>
          <a:p>
            <a:pPr>
              <a:lnSpc>
                <a:spcPct val="108000"/>
              </a:lnSpc>
              <a:spcAft>
                <a:spcPts val="1200"/>
              </a:spcAft>
            </a:pPr>
            <a:r>
              <a:rPr sz="1500" b="0">
                <a:solidFill>
                  <a:srgbClr val="1A1F24"/>
                </a:solidFill>
                <a:latin typeface="Calibri"/>
              </a:rPr>
              <a:t>•  Dataset: Kaggle export of a Google Borg trace (“muzairbair/borg-traces-data”), not the official Google release — no uploader documentation.</a:t>
            </a:r>
          </a:p>
          <a:p>
            <a:pPr>
              <a:lnSpc>
                <a:spcPct val="108000"/>
              </a:lnSpc>
              <a:spcAft>
                <a:spcPts val="1200"/>
              </a:spcAft>
            </a:pPr>
            <a:r>
              <a:rPr sz="1500" b="0">
                <a:solidFill>
                  <a:srgbClr val="1A1F24"/>
                </a:solidFill>
                <a:latin typeface="Calibri"/>
              </a:rPr>
              <a:t>•  Workload: 405,894 real records pooled across all 8 Borg clusters, binned to 15 minutes; zones were 3 SYNTHETIC groups from hash(machine_id) % 3.</a:t>
            </a:r>
          </a:p>
          <a:p>
            <a:pPr>
              <a:lnSpc>
                <a:spcPct val="108000"/>
              </a:lnSpc>
              <a:spcAft>
                <a:spcPts val="1200"/>
              </a:spcAft>
            </a:pPr>
            <a:r>
              <a:rPr sz="1500" b="0">
                <a:solidFill>
                  <a:srgbClr val="1A1F24"/>
                </a:solidFill>
                <a:latin typeface="Calibri"/>
              </a:rPr>
              <a:t>•  Power: NO real power measurements existed. Heat was computed from an ASSUMED linear CPU→power formula.</a:t>
            </a:r>
          </a:p>
          <a:p>
            <a:pPr>
              <a:lnSpc>
                <a:spcPct val="108000"/>
              </a:lnSpc>
              <a:spcAft>
                <a:spcPts val="1200"/>
              </a:spcAft>
            </a:pPr>
            <a:r>
              <a:rPr sz="1500" b="0">
                <a:solidFill>
                  <a:srgbClr val="1A1F24"/>
                </a:solidFill>
                <a:latin typeface="Calibri"/>
              </a:rPr>
              <a:t>•  Thermal model: 3-zone lumped-parameter simulation, numerically validated (9/9 tests) but never claimed to be physically calibrated.</a:t>
            </a:r>
          </a:p>
          <a:p>
            <a:pPr>
              <a:lnSpc>
                <a:spcPct val="108000"/>
              </a:lnSpc>
              <a:spcAft>
                <a:spcPts val="1200"/>
              </a:spcAft>
            </a:pPr>
            <a:r>
              <a:rPr sz="1500" b="0">
                <a:solidFill>
                  <a:srgbClr val="1A1F24"/>
                </a:solidFill>
                <a:latin typeface="Calibri"/>
              </a:rPr>
              <a:t>•  Controllers: Fixed, Threshold, PID, random-shooting MPC, single-agent PPO, and a from-scratch CTDE MAPPO.</a:t>
            </a:r>
          </a:p>
          <a:p>
            <a:pPr>
              <a:lnSpc>
                <a:spcPct val="108000"/>
              </a:lnSpc>
              <a:spcAft>
                <a:spcPts val="1200"/>
              </a:spcAft>
            </a:pPr>
            <a:r>
              <a:rPr sz="1500" b="0">
                <a:solidFill>
                  <a:srgbClr val="1A1F24"/>
                </a:solidFill>
                <a:latin typeface="Calibri"/>
              </a:rPr>
              <a:t>•  V1's own headline finding: classical PID beat both PPO and MAPPO on energy efficiency, under a CPU-only compute budget — reported honestly, not hidden.</a:t>
            </a:r>
          </a:p>
        </p:txBody>
      </p:sp>
      <p:sp>
        <p:nvSpPr>
          <p:cNvPr id="4" name="Rounded Rectangle 3"/>
          <p:cNvSpPr/>
          <p:nvPr/>
        </p:nvSpPr>
        <p:spPr>
          <a:xfrm>
            <a:off x="6400800" y="1371600"/>
            <a:ext cx="5257800" cy="475488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1A1F24"/>
                </a:solidFill>
                <a:latin typeface="Calibri"/>
              </a:rPr>
              <a:t/>
            </a:r>
          </a:p>
        </p:txBody>
      </p:sp>
      <p:sp>
        <p:nvSpPr>
          <p:cNvPr id="5" name="TextBox 4"/>
          <p:cNvSpPr txBox="1"/>
          <p:nvPr/>
        </p:nvSpPr>
        <p:spPr>
          <a:xfrm>
            <a:off x="6675120" y="1554480"/>
            <a:ext cx="4754880" cy="365760"/>
          </a:xfrm>
          <a:prstGeom prst="rect">
            <a:avLst/>
          </a:prstGeom>
          <a:noFill/>
        </p:spPr>
        <p:txBody>
          <a:bodyPr wrap="square" anchor="t" lIns="0" rIns="0" tIns="0" bIns="0">
            <a:spAutoFit/>
          </a:bodyPr>
          <a:lstStyle/>
          <a:p>
            <a:pPr algn="l">
              <a:lnSpc>
                <a:spcPct val="100000"/>
              </a:lnSpc>
            </a:pPr>
            <a:r>
              <a:rPr sz="1300" b="1" i="0">
                <a:solidFill>
                  <a:srgbClr val="0B3D59"/>
                </a:solidFill>
                <a:latin typeface="Calibri"/>
              </a:rPr>
              <a:t>V1 result, verbatim (docs/final_validation_report.md)</a:t>
            </a:r>
          </a:p>
        </p:txBody>
      </p:sp>
      <p:graphicFrame>
        <p:nvGraphicFramePr>
          <p:cNvPr id="6" name="Table 5"/>
          <p:cNvGraphicFramePr>
            <a:graphicFrameLocks noGrp="1"/>
          </p:cNvGraphicFramePr>
          <p:nvPr/>
        </p:nvGraphicFramePr>
        <p:xfrm>
          <a:off x="6675120" y="1965960"/>
          <a:ext cx="4754880" cy="2103120"/>
        </p:xfrm>
        <a:graphic>
          <a:graphicData uri="http://schemas.openxmlformats.org/drawingml/2006/table">
            <a:tbl>
              <a:tblPr firstRow="1" bandRow="1">
                <a:tableStyleId>{5C22544A-7EE6-4342-B048-85BDC9FD1C3A}</a:tableStyleId>
              </a:tblPr>
              <a:tblGrid>
                <a:gridCol w="1920240"/>
                <a:gridCol w="1554480"/>
                <a:gridCol w="1280160"/>
              </a:tblGrid>
              <a:tr h="300445">
                <a:tc>
                  <a:txBody>
                    <a:bodyPr/>
                    <a:lstStyle/>
                    <a:p>
                      <a:r>
                        <a:rPr sz="1200" b="1">
                          <a:solidFill>
                            <a:srgbClr val="FFFFFF"/>
                          </a:solidFill>
                          <a:latin typeface="Calibri"/>
                        </a:rPr>
                        <a:t>Controller</a:t>
                      </a:r>
                    </a:p>
                  </a:txBody>
                  <a:tcPr marT="50800" marB="50800">
                    <a:solidFill>
                      <a:srgbClr val="0B3D59"/>
                    </a:solidFill>
                  </a:tcPr>
                </a:tc>
                <a:tc>
                  <a:txBody>
                    <a:bodyPr/>
                    <a:lstStyle/>
                    <a:p>
                      <a:r>
                        <a:rPr sz="1200" b="1">
                          <a:solidFill>
                            <a:srgbClr val="FFFFFF"/>
                          </a:solidFill>
                          <a:latin typeface="Calibri"/>
                        </a:rPr>
                        <a:t>Energy (kWh/ep)</a:t>
                      </a:r>
                    </a:p>
                  </a:txBody>
                  <a:tcPr marT="50800" marB="50800">
                    <a:solidFill>
                      <a:srgbClr val="0B3D59"/>
                    </a:solidFill>
                  </a:tcPr>
                </a:tc>
                <a:tc>
                  <a:txBody>
                    <a:bodyPr/>
                    <a:lstStyle/>
                    <a:p>
                      <a:r>
                        <a:rPr sz="1200" b="1">
                          <a:solidFill>
                            <a:srgbClr val="FFFFFF"/>
                          </a:solidFill>
                          <a:latin typeface="Calibri"/>
                        </a:rPr>
                        <a:t>Violations</a:t>
                      </a:r>
                    </a:p>
                  </a:txBody>
                  <a:tcPr marT="50800" marB="50800">
                    <a:solidFill>
                      <a:srgbClr val="0B3D59"/>
                    </a:solidFill>
                  </a:tcPr>
                </a:tc>
              </a:tr>
              <a:tr h="300445">
                <a:tc>
                  <a:txBody>
                    <a:bodyPr/>
                    <a:lstStyle/>
                    <a:p>
                      <a:r>
                        <a:rPr sz="1150" b="0">
                          <a:solidFill>
                            <a:srgbClr val="1A1F24"/>
                          </a:solidFill>
                          <a:latin typeface="Calibri"/>
                        </a:rPr>
                        <a:t>Fixed</a:t>
                      </a:r>
                    </a:p>
                  </a:txBody>
                  <a:tcPr marT="38100" marB="38100" anchor="ctr">
                    <a:solidFill>
                      <a:srgbClr val="FFFFFF"/>
                    </a:solidFill>
                  </a:tcPr>
                </a:tc>
                <a:tc>
                  <a:txBody>
                    <a:bodyPr/>
                    <a:lstStyle/>
                    <a:p>
                      <a:r>
                        <a:rPr sz="1150" b="0">
                          <a:solidFill>
                            <a:srgbClr val="1A1F24"/>
                          </a:solidFill>
                          <a:latin typeface="Calibri"/>
                        </a:rPr>
                        <a:t>17.93</a:t>
                      </a:r>
                    </a:p>
                  </a:txBody>
                  <a:tcPr marT="38100" marB="38100" anchor="ctr">
                    <a:solidFill>
                      <a:srgbClr val="FFFFFF"/>
                    </a:solidFill>
                  </a:tcPr>
                </a:tc>
                <a:tc>
                  <a:txBody>
                    <a:bodyPr/>
                    <a:lstStyle/>
                    <a:p>
                      <a:r>
                        <a:rPr sz="1150" b="0">
                          <a:solidFill>
                            <a:srgbClr val="1A1F24"/>
                          </a:solidFill>
                          <a:latin typeface="Calibri"/>
                        </a:rPr>
                        <a:t>0.0%</a:t>
                      </a:r>
                    </a:p>
                  </a:txBody>
                  <a:tcPr marT="38100" marB="38100" anchor="ctr">
                    <a:solidFill>
                      <a:srgbClr val="FFFFFF"/>
                    </a:solidFill>
                  </a:tcPr>
                </a:tc>
              </a:tr>
              <a:tr h="300445">
                <a:tc>
                  <a:txBody>
                    <a:bodyPr/>
                    <a:lstStyle/>
                    <a:p>
                      <a:r>
                        <a:rPr sz="1150" b="0">
                          <a:solidFill>
                            <a:srgbClr val="1A1F24"/>
                          </a:solidFill>
                          <a:latin typeface="Calibri"/>
                        </a:rPr>
                        <a:t>Threshold</a:t>
                      </a:r>
                    </a:p>
                  </a:txBody>
                  <a:tcPr marT="38100" marB="38100" anchor="ctr">
                    <a:solidFill>
                      <a:srgbClr val="F1F4F6"/>
                    </a:solidFill>
                  </a:tcPr>
                </a:tc>
                <a:tc>
                  <a:txBody>
                    <a:bodyPr/>
                    <a:lstStyle/>
                    <a:p>
                      <a:r>
                        <a:rPr sz="1150" b="0">
                          <a:solidFill>
                            <a:srgbClr val="1A1F24"/>
                          </a:solidFill>
                          <a:latin typeface="Calibri"/>
                        </a:rPr>
                        <a:t>7.20</a:t>
                      </a:r>
                    </a:p>
                  </a:txBody>
                  <a:tcPr marT="38100" marB="38100" anchor="ctr">
                    <a:solidFill>
                      <a:srgbClr val="F1F4F6"/>
                    </a:solidFill>
                  </a:tcPr>
                </a:tc>
                <a:tc>
                  <a:txBody>
                    <a:bodyPr/>
                    <a:lstStyle/>
                    <a:p>
                      <a:r>
                        <a:rPr sz="1150" b="0">
                          <a:solidFill>
                            <a:srgbClr val="1A1F24"/>
                          </a:solidFill>
                          <a:latin typeface="Calibri"/>
                        </a:rPr>
                        <a:t>0.0%</a:t>
                      </a:r>
                    </a:p>
                  </a:txBody>
                  <a:tcPr marT="38100" marB="38100" anchor="ctr">
                    <a:solidFill>
                      <a:srgbClr val="F1F4F6"/>
                    </a:solidFill>
                  </a:tcPr>
                </a:tc>
              </a:tr>
              <a:tr h="300445">
                <a:tc>
                  <a:txBody>
                    <a:bodyPr/>
                    <a:lstStyle/>
                    <a:p>
                      <a:r>
                        <a:rPr sz="1150" b="1">
                          <a:solidFill>
                            <a:srgbClr val="2E7D32"/>
                          </a:solidFill>
                          <a:latin typeface="Calibri"/>
                        </a:rPr>
                        <a:t>PID</a:t>
                      </a:r>
                    </a:p>
                  </a:txBody>
                  <a:tcPr marT="38100" marB="38100" anchor="ctr">
                    <a:solidFill>
                      <a:srgbClr val="EAF3EC"/>
                    </a:solidFill>
                  </a:tcPr>
                </a:tc>
                <a:tc>
                  <a:txBody>
                    <a:bodyPr/>
                    <a:lstStyle/>
                    <a:p>
                      <a:r>
                        <a:rPr sz="1150" b="0">
                          <a:solidFill>
                            <a:srgbClr val="2E7D32"/>
                          </a:solidFill>
                          <a:latin typeface="Calibri"/>
                        </a:rPr>
                        <a:t>6.43</a:t>
                      </a:r>
                    </a:p>
                  </a:txBody>
                  <a:tcPr marT="38100" marB="38100" anchor="ctr">
                    <a:solidFill>
                      <a:srgbClr val="EAF3EC"/>
                    </a:solidFill>
                  </a:tcPr>
                </a:tc>
                <a:tc>
                  <a:txBody>
                    <a:bodyPr/>
                    <a:lstStyle/>
                    <a:p>
                      <a:r>
                        <a:rPr sz="1150" b="0">
                          <a:solidFill>
                            <a:srgbClr val="2E7D32"/>
                          </a:solidFill>
                          <a:latin typeface="Calibri"/>
                        </a:rPr>
                        <a:t>0.0%</a:t>
                      </a:r>
                    </a:p>
                  </a:txBody>
                  <a:tcPr marT="38100" marB="38100" anchor="ctr">
                    <a:solidFill>
                      <a:srgbClr val="EAF3EC"/>
                    </a:solidFill>
                  </a:tcPr>
                </a:tc>
              </a:tr>
              <a:tr h="300445">
                <a:tc>
                  <a:txBody>
                    <a:bodyPr/>
                    <a:lstStyle/>
                    <a:p>
                      <a:r>
                        <a:rPr sz="1150" b="0">
                          <a:solidFill>
                            <a:srgbClr val="1A1F24"/>
                          </a:solidFill>
                          <a:latin typeface="Calibri"/>
                        </a:rPr>
                        <a:t>MPC</a:t>
                      </a:r>
                    </a:p>
                  </a:txBody>
                  <a:tcPr marT="38100" marB="38100" anchor="ctr">
                    <a:solidFill>
                      <a:srgbClr val="F1F4F6"/>
                    </a:solidFill>
                  </a:tcPr>
                </a:tc>
                <a:tc>
                  <a:txBody>
                    <a:bodyPr/>
                    <a:lstStyle/>
                    <a:p>
                      <a:r>
                        <a:rPr sz="1150" b="0">
                          <a:solidFill>
                            <a:srgbClr val="1A1F24"/>
                          </a:solidFill>
                          <a:latin typeface="Calibri"/>
                        </a:rPr>
                        <a:t>7.92</a:t>
                      </a:r>
                    </a:p>
                  </a:txBody>
                  <a:tcPr marT="38100" marB="38100" anchor="ctr">
                    <a:solidFill>
                      <a:srgbClr val="F1F4F6"/>
                    </a:solidFill>
                  </a:tcPr>
                </a:tc>
                <a:tc>
                  <a:txBody>
                    <a:bodyPr/>
                    <a:lstStyle/>
                    <a:p>
                      <a:r>
                        <a:rPr sz="1150" b="0">
                          <a:solidFill>
                            <a:srgbClr val="1A1F24"/>
                          </a:solidFill>
                          <a:latin typeface="Calibri"/>
                        </a:rPr>
                        <a:t>0.0%</a:t>
                      </a:r>
                    </a:p>
                  </a:txBody>
                  <a:tcPr marT="38100" marB="38100" anchor="ctr">
                    <a:solidFill>
                      <a:srgbClr val="F1F4F6"/>
                    </a:solidFill>
                  </a:tcPr>
                </a:tc>
              </a:tr>
              <a:tr h="300445">
                <a:tc>
                  <a:txBody>
                    <a:bodyPr/>
                    <a:lstStyle/>
                    <a:p>
                      <a:r>
                        <a:rPr sz="1150" b="0">
                          <a:solidFill>
                            <a:srgbClr val="1A1F24"/>
                          </a:solidFill>
                          <a:latin typeface="Calibri"/>
                        </a:rPr>
                        <a:t>PPO (best)</a:t>
                      </a:r>
                    </a:p>
                  </a:txBody>
                  <a:tcPr marT="38100" marB="38100" anchor="ctr">
                    <a:solidFill>
                      <a:srgbClr val="FFFFFF"/>
                    </a:solidFill>
                  </a:tcPr>
                </a:tc>
                <a:tc>
                  <a:txBody>
                    <a:bodyPr/>
                    <a:lstStyle/>
                    <a:p>
                      <a:r>
                        <a:rPr sz="1150" b="0">
                          <a:solidFill>
                            <a:srgbClr val="1A1F24"/>
                          </a:solidFill>
                          <a:latin typeface="Calibri"/>
                        </a:rPr>
                        <a:t>6.47</a:t>
                      </a:r>
                    </a:p>
                  </a:txBody>
                  <a:tcPr marT="38100" marB="38100" anchor="ctr">
                    <a:solidFill>
                      <a:srgbClr val="FFFFFF"/>
                    </a:solidFill>
                  </a:tcPr>
                </a:tc>
                <a:tc>
                  <a:txBody>
                    <a:bodyPr/>
                    <a:lstStyle/>
                    <a:p>
                      <a:r>
                        <a:rPr sz="1150" b="0">
                          <a:solidFill>
                            <a:srgbClr val="1A1F24"/>
                          </a:solidFill>
                          <a:latin typeface="Calibri"/>
                        </a:rPr>
                        <a:t>0.0%</a:t>
                      </a:r>
                    </a:p>
                  </a:txBody>
                  <a:tcPr marT="38100" marB="38100" anchor="ctr">
                    <a:solidFill>
                      <a:srgbClr val="FFFFFF"/>
                    </a:solidFill>
                  </a:tcPr>
                </a:tc>
              </a:tr>
              <a:tr h="300450">
                <a:tc>
                  <a:txBody>
                    <a:bodyPr/>
                    <a:lstStyle/>
                    <a:p>
                      <a:r>
                        <a:rPr sz="1150" b="0">
                          <a:solidFill>
                            <a:srgbClr val="1A1F24"/>
                          </a:solidFill>
                          <a:latin typeface="Calibri"/>
                        </a:rPr>
                        <a:t>MAPPO (best)</a:t>
                      </a:r>
                    </a:p>
                  </a:txBody>
                  <a:tcPr marT="38100" marB="38100" anchor="ctr">
                    <a:solidFill>
                      <a:srgbClr val="F1F4F6"/>
                    </a:solidFill>
                  </a:tcPr>
                </a:tc>
                <a:tc>
                  <a:txBody>
                    <a:bodyPr/>
                    <a:lstStyle/>
                    <a:p>
                      <a:r>
                        <a:rPr sz="1150" b="0">
                          <a:solidFill>
                            <a:srgbClr val="1A1F24"/>
                          </a:solidFill>
                          <a:latin typeface="Calibri"/>
                        </a:rPr>
                        <a:t>19.15</a:t>
                      </a:r>
                    </a:p>
                  </a:txBody>
                  <a:tcPr marT="38100" marB="38100" anchor="ctr">
                    <a:solidFill>
                      <a:srgbClr val="F1F4F6"/>
                    </a:solidFill>
                  </a:tcPr>
                </a:tc>
                <a:tc>
                  <a:txBody>
                    <a:bodyPr/>
                    <a:lstStyle/>
                    <a:p>
                      <a:r>
                        <a:rPr sz="1150" b="0">
                          <a:solidFill>
                            <a:srgbClr val="1A1F24"/>
                          </a:solidFill>
                          <a:latin typeface="Calibri"/>
                        </a:rPr>
                        <a:t>0.0%</a:t>
                      </a:r>
                    </a:p>
                  </a:txBody>
                  <a:tcPr marT="38100" marB="38100" anchor="ctr">
                    <a:solidFill>
                      <a:srgbClr val="F1F4F6"/>
                    </a:solidFill>
                  </a:tcPr>
                </a:tc>
              </a:tr>
            </a:tbl>
          </a:graphicData>
        </a:graphic>
      </p:graphicFrame>
      <p:sp>
        <p:nvSpPr>
          <p:cNvPr id="7" name="TextBox 6"/>
          <p:cNvSpPr txBox="1"/>
          <p:nvPr/>
        </p:nvSpPr>
        <p:spPr>
          <a:xfrm>
            <a:off x="6675120" y="4709160"/>
            <a:ext cx="4754880" cy="1280160"/>
          </a:xfrm>
          <a:prstGeom prst="rect">
            <a:avLst/>
          </a:prstGeom>
          <a:noFill/>
        </p:spPr>
        <p:txBody>
          <a:bodyPr wrap="square" anchor="t" lIns="0" rIns="0" tIns="0" bIns="0">
            <a:spAutoFit/>
          </a:bodyPr>
          <a:lstStyle/>
          <a:p>
            <a:pPr algn="l">
              <a:lnSpc>
                <a:spcPct val="120000"/>
              </a:lnSpc>
            </a:pPr>
            <a:r>
              <a:rPr sz="1200" b="0" i="0">
                <a:solidFill>
                  <a:srgbClr val="5B666E"/>
                </a:solidFill>
                <a:latin typeface="Calibri"/>
              </a:rPr>
              <a:t>V1 is complete and preserved (tag v1-kaggle-baseline, branch main). It is the reason this project reports negative/mixed results honestly — it already found that PID beat RL, and did not suppress that.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Why Version 1 Wasn't Enough for the Research Goal</a:t>
            </a:r>
          </a:p>
        </p:txBody>
      </p:sp>
      <p:graphicFrame>
        <p:nvGraphicFramePr>
          <p:cNvPr id="3" name="Table 2"/>
          <p:cNvGraphicFramePr>
            <a:graphicFrameLocks noGrp="1"/>
          </p:cNvGraphicFramePr>
          <p:nvPr/>
        </p:nvGraphicFramePr>
        <p:xfrm>
          <a:off x="548640" y="1417320"/>
          <a:ext cx="11064237" cy="4846320"/>
        </p:xfrm>
        <a:graphic>
          <a:graphicData uri="http://schemas.openxmlformats.org/drawingml/2006/table">
            <a:tbl>
              <a:tblPr firstRow="1" bandRow="1">
                <a:tableStyleId>{5C22544A-7EE6-4342-B048-85BDC9FD1C3A}</a:tableStyleId>
              </a:tblPr>
              <a:tblGrid>
                <a:gridCol w="2834639"/>
                <a:gridCol w="3840479"/>
                <a:gridCol w="4389119"/>
              </a:tblGrid>
              <a:tr h="692331">
                <a:tc>
                  <a:txBody>
                    <a:bodyPr/>
                    <a:lstStyle/>
                    <a:p>
                      <a:r>
                        <a:rPr sz="1200" b="1">
                          <a:solidFill>
                            <a:srgbClr val="FFFFFF"/>
                          </a:solidFill>
                          <a:latin typeface="Calibri"/>
                        </a:rPr>
                        <a:t>V1 limitation</a:t>
                      </a:r>
                    </a:p>
                  </a:txBody>
                  <a:tcPr marT="50800" marB="50800">
                    <a:solidFill>
                      <a:srgbClr val="0B3D59"/>
                    </a:solidFill>
                  </a:tcPr>
                </a:tc>
                <a:tc>
                  <a:txBody>
                    <a:bodyPr/>
                    <a:lstStyle/>
                    <a:p>
                      <a:r>
                        <a:rPr sz="1200" b="1">
                          <a:solidFill>
                            <a:srgbClr val="FFFFFF"/>
                          </a:solidFill>
                          <a:latin typeface="Calibri"/>
                        </a:rPr>
                        <a:t>Why it matters</a:t>
                      </a:r>
                    </a:p>
                  </a:txBody>
                  <a:tcPr marT="50800" marB="50800">
                    <a:solidFill>
                      <a:srgbClr val="0B3D59"/>
                    </a:solidFill>
                  </a:tcPr>
                </a:tc>
                <a:tc>
                  <a:txBody>
                    <a:bodyPr/>
                    <a:lstStyle/>
                    <a:p>
                      <a:r>
                        <a:rPr sz="1200" b="1">
                          <a:solidFill>
                            <a:srgbClr val="FFFFFF"/>
                          </a:solidFill>
                          <a:latin typeface="Calibri"/>
                        </a:rPr>
                        <a:t>V2 response</a:t>
                      </a:r>
                    </a:p>
                  </a:txBody>
                  <a:tcPr marT="50800" marB="50800">
                    <a:solidFill>
                      <a:srgbClr val="0B3D59"/>
                    </a:solidFill>
                  </a:tcPr>
                </a:tc>
              </a:tr>
              <a:tr h="692331">
                <a:tc>
                  <a:txBody>
                    <a:bodyPr/>
                    <a:lstStyle/>
                    <a:p>
                      <a:r>
                        <a:rPr sz="1150" b="0">
                          <a:solidFill>
                            <a:srgbClr val="1A1F24"/>
                          </a:solidFill>
                          <a:latin typeface="Calibri"/>
                        </a:rPr>
                        <a:t>Undocumented Kaggle re-export</a:t>
                      </a:r>
                    </a:p>
                  </a:txBody>
                  <a:tcPr marT="38100" marB="38100" anchor="ctr">
                    <a:solidFill>
                      <a:srgbClr val="FFFFFF"/>
                    </a:solidFill>
                  </a:tcPr>
                </a:tc>
                <a:tc>
                  <a:txBody>
                    <a:bodyPr/>
                    <a:lstStyle/>
                    <a:p>
                      <a:r>
                        <a:rPr sz="1150" b="0">
                          <a:solidFill>
                            <a:srgbClr val="1A1F24"/>
                          </a:solidFill>
                          <a:latin typeface="Calibri"/>
                        </a:rPr>
                        <a:t>Provenance/join method unknown; can't defend as 'the official trace'</a:t>
                      </a:r>
                    </a:p>
                  </a:txBody>
                  <a:tcPr marT="38100" marB="38100" anchor="ctr">
                    <a:solidFill>
                      <a:srgbClr val="FFFFFF"/>
                    </a:solidFill>
                  </a:tcPr>
                </a:tc>
                <a:tc>
                  <a:txBody>
                    <a:bodyPr/>
                    <a:lstStyle/>
                    <a:p>
                      <a:r>
                        <a:rPr sz="1150" b="0">
                          <a:solidFill>
                            <a:srgbClr val="1A1F24"/>
                          </a:solidFill>
                          <a:latin typeface="Calibri"/>
                        </a:rPr>
                        <a:t>Switch to official ClusterData2019 — DONE (pilot)</a:t>
                      </a:r>
                    </a:p>
                  </a:txBody>
                  <a:tcPr marT="38100" marB="38100" anchor="ctr">
                    <a:solidFill>
                      <a:srgbClr val="FFFFFF"/>
                    </a:solidFill>
                  </a:tcPr>
                </a:tc>
              </a:tr>
              <a:tr h="692331">
                <a:tc>
                  <a:txBody>
                    <a:bodyPr/>
                    <a:lstStyle/>
                    <a:p>
                      <a:r>
                        <a:rPr sz="1150" b="0">
                          <a:solidFill>
                            <a:srgbClr val="1A1F24"/>
                          </a:solidFill>
                          <a:latin typeface="Calibri"/>
                        </a:rPr>
                        <a:t>No real power measurements</a:t>
                      </a:r>
                    </a:p>
                  </a:txBody>
                  <a:tcPr marT="38100" marB="38100" anchor="ctr">
                    <a:solidFill>
                      <a:srgbClr val="F1F4F6"/>
                    </a:solidFill>
                  </a:tcPr>
                </a:tc>
                <a:tc>
                  <a:txBody>
                    <a:bodyPr/>
                    <a:lstStyle/>
                    <a:p>
                      <a:r>
                        <a:rPr sz="1150" b="0">
                          <a:solidFill>
                            <a:srgbClr val="1A1F24"/>
                          </a:solidFill>
                          <a:latin typeface="Calibri"/>
                        </a:rPr>
                        <a:t>Power model was a pure assumption, never validated</a:t>
                      </a:r>
                    </a:p>
                  </a:txBody>
                  <a:tcPr marT="38100" marB="38100" anchor="ctr">
                    <a:solidFill>
                      <a:srgbClr val="F1F4F6"/>
                    </a:solidFill>
                  </a:tcPr>
                </a:tc>
                <a:tc>
                  <a:txBody>
                    <a:bodyPr/>
                    <a:lstStyle/>
                    <a:p>
                      <a:r>
                        <a:rPr sz="1150" b="0">
                          <a:solidFill>
                            <a:srgbClr val="1A1F24"/>
                          </a:solidFill>
                          <a:latin typeface="Calibri"/>
                        </a:rPr>
                        <a:t>Fit an empirical model against real PowerData2019 — DONE (pilot)</a:t>
                      </a:r>
                    </a:p>
                  </a:txBody>
                  <a:tcPr marT="38100" marB="38100" anchor="ctr">
                    <a:solidFill>
                      <a:srgbClr val="F1F4F6"/>
                    </a:solidFill>
                  </a:tcPr>
                </a:tc>
              </a:tr>
              <a:tr h="692331">
                <a:tc>
                  <a:txBody>
                    <a:bodyPr/>
                    <a:lstStyle/>
                    <a:p>
                      <a:r>
                        <a:rPr sz="1150" b="0">
                          <a:solidFill>
                            <a:srgbClr val="1A1F24"/>
                          </a:solidFill>
                          <a:latin typeface="Calibri"/>
                        </a:rPr>
                        <a:t>Sparse workload (94% zero bins)</a:t>
                      </a:r>
                    </a:p>
                  </a:txBody>
                  <a:tcPr marT="38100" marB="38100" anchor="ctr">
                    <a:solidFill>
                      <a:srgbClr val="FFFFFF"/>
                    </a:solidFill>
                  </a:tcPr>
                </a:tc>
                <a:tc>
                  <a:txBody>
                    <a:bodyPr/>
                    <a:lstStyle/>
                    <a:p>
                      <a:r>
                        <a:rPr sz="1150" b="0">
                          <a:solidFill>
                            <a:srgbClr val="1A1F24"/>
                          </a:solidFill>
                          <a:latin typeface="Calibri"/>
                        </a:rPr>
                        <a:t>Forced 15-min bins and cross-cluster pooling to get signal</a:t>
                      </a:r>
                    </a:p>
                  </a:txBody>
                  <a:tcPr marT="38100" marB="38100" anchor="ctr">
                    <a:solidFill>
                      <a:srgbClr val="FFFFFF"/>
                    </a:solidFill>
                  </a:tcPr>
                </a:tc>
                <a:tc>
                  <a:txBody>
                    <a:bodyPr/>
                    <a:lstStyle/>
                    <a:p>
                      <a:r>
                        <a:rPr sz="1150" b="0">
                          <a:solidFill>
                            <a:srgbClr val="1A1F24"/>
                          </a:solidFill>
                          <a:latin typeface="Calibri"/>
                        </a:rPr>
                        <a:t>Cell-level aggregation is naturally dense — DONE (pilot)</a:t>
                      </a:r>
                    </a:p>
                  </a:txBody>
                  <a:tcPr marT="38100" marB="38100" anchor="ctr">
                    <a:solidFill>
                      <a:srgbClr val="FFFFFF"/>
                    </a:solidFill>
                  </a:tcPr>
                </a:tc>
              </a:tr>
              <a:tr h="692331">
                <a:tc>
                  <a:txBody>
                    <a:bodyPr/>
                    <a:lstStyle/>
                    <a:p>
                      <a:r>
                        <a:rPr sz="1150" b="0">
                          <a:solidFill>
                            <a:srgbClr val="1A1F24"/>
                          </a:solidFill>
                          <a:latin typeface="Calibri"/>
                        </a:rPr>
                        <a:t>Thermal params never recalibrated on real data</a:t>
                      </a:r>
                    </a:p>
                  </a:txBody>
                  <a:tcPr marT="38100" marB="38100" anchor="ctr">
                    <a:solidFill>
                      <a:srgbClr val="F1F4F6"/>
                    </a:solidFill>
                  </a:tcPr>
                </a:tc>
                <a:tc>
                  <a:txBody>
                    <a:bodyPr/>
                    <a:lstStyle/>
                    <a:p>
                      <a:r>
                        <a:rPr sz="1150" b="0">
                          <a:solidFill>
                            <a:srgbClr val="1A1F24"/>
                          </a:solidFill>
                          <a:latin typeface="Calibri"/>
                        </a:rPr>
                        <a:t>Risk of a vacuous (never-violating) safety problem</a:t>
                      </a:r>
                    </a:p>
                  </a:txBody>
                  <a:tcPr marT="38100" marB="38100" anchor="ctr">
                    <a:solidFill>
                      <a:srgbClr val="F1F4F6"/>
                    </a:solidFill>
                  </a:tcPr>
                </a:tc>
                <a:tc>
                  <a:txBody>
                    <a:bodyPr/>
                    <a:lstStyle/>
                    <a:p>
                      <a:r>
                        <a:rPr sz="1150" b="0">
                          <a:solidFill>
                            <a:srgbClr val="1A1F24"/>
                          </a:solidFill>
                          <a:latin typeface="Calibri"/>
                        </a:rPr>
                        <a:t>Dense 251-window recalibration — DONE (pilot); full re-check planned for 8 cells</a:t>
                      </a:r>
                    </a:p>
                  </a:txBody>
                  <a:tcPr marT="38100" marB="38100" anchor="ctr">
                    <a:solidFill>
                      <a:srgbClr val="F1F4F6"/>
                    </a:solidFill>
                  </a:tcPr>
                </a:tc>
              </a:tr>
              <a:tr h="692331">
                <a:tc>
                  <a:txBody>
                    <a:bodyPr/>
                    <a:lstStyle/>
                    <a:p>
                      <a:r>
                        <a:rPr sz="1150" b="0">
                          <a:solidFill>
                            <a:srgbClr val="1A1F24"/>
                          </a:solidFill>
                          <a:latin typeface="Calibri"/>
                        </a:rPr>
                        <a:t>Only 3 development seeds, reduced RL budget</a:t>
                      </a:r>
                    </a:p>
                  </a:txBody>
                  <a:tcPr marT="38100" marB="38100" anchor="ctr">
                    <a:solidFill>
                      <a:srgbClr val="FFFFFF"/>
                    </a:solidFill>
                  </a:tcPr>
                </a:tc>
                <a:tc>
                  <a:txBody>
                    <a:bodyPr/>
                    <a:lstStyle/>
                    <a:p>
                      <a:r>
                        <a:rPr sz="1150" b="0">
                          <a:solidFill>
                            <a:srgbClr val="1A1F24"/>
                          </a:solidFill>
                          <a:latin typeface="Calibri"/>
                        </a:rPr>
                        <a:t>Can't rule out noise driving the PID-wins finding</a:t>
                      </a:r>
                    </a:p>
                  </a:txBody>
                  <a:tcPr marT="38100" marB="38100" anchor="ctr">
                    <a:solidFill>
                      <a:srgbClr val="FFFFFF"/>
                    </a:solidFill>
                  </a:tcPr>
                </a:tc>
                <a:tc>
                  <a:txBody>
                    <a:bodyPr/>
                    <a:lstStyle/>
                    <a:p>
                      <a:r>
                        <a:rPr sz="1150" b="0">
                          <a:solidFill>
                            <a:srgbClr val="1A1F24"/>
                          </a:solidFill>
                          <a:latin typeface="Calibri"/>
                        </a:rPr>
                        <a:t>Full multi-seed budget — PLANNED for final 8-cell run</a:t>
                      </a:r>
                    </a:p>
                  </a:txBody>
                  <a:tcPr marT="38100" marB="38100" anchor="ctr">
                    <a:solidFill>
                      <a:srgbClr val="FFFFFF"/>
                    </a:solidFill>
                  </a:tcPr>
                </a:tc>
              </a:tr>
              <a:tr h="692334">
                <a:tc>
                  <a:txBody>
                    <a:bodyPr/>
                    <a:lstStyle/>
                    <a:p>
                      <a:r>
                        <a:rPr sz="1150" b="0">
                          <a:solidFill>
                            <a:srgbClr val="1A1F24"/>
                          </a:solidFill>
                          <a:latin typeface="Calibri"/>
                        </a:rPr>
                        <a:t>Single population (one Kaggle export)</a:t>
                      </a:r>
                    </a:p>
                  </a:txBody>
                  <a:tcPr marT="38100" marB="38100" anchor="ctr">
                    <a:solidFill>
                      <a:srgbClr val="F1F4F6"/>
                    </a:solidFill>
                  </a:tcPr>
                </a:tc>
                <a:tc>
                  <a:txBody>
                    <a:bodyPr/>
                    <a:lstStyle/>
                    <a:p>
                      <a:r>
                        <a:rPr sz="1150" b="0">
                          <a:solidFill>
                            <a:srgbClr val="1A1F24"/>
                          </a:solidFill>
                          <a:latin typeface="Calibri"/>
                        </a:rPr>
                        <a:t>No held-out, differently-sourced population to test on</a:t>
                      </a:r>
                    </a:p>
                  </a:txBody>
                  <a:tcPr marT="38100" marB="38100" anchor="ctr">
                    <a:solidFill>
                      <a:srgbClr val="F1F4F6"/>
                    </a:solidFill>
                  </a:tcPr>
                </a:tc>
                <a:tc>
                  <a:txBody>
                    <a:bodyPr/>
                    <a:lstStyle/>
                    <a:p>
                      <a:r>
                        <a:rPr sz="1150" b="0">
                          <a:solidFill>
                            <a:srgbClr val="1A1F24"/>
                          </a:solidFill>
                          <a:latin typeface="Calibri"/>
                        </a:rPr>
                        <a:t>8 real Borg cells, split train/val/test — 4 done (pilot), 4 PLANNED</a:t>
                      </a:r>
                    </a:p>
                  </a:txBody>
                  <a:tcPr marT="38100" marB="38100" anchor="ctr">
                    <a:solidFill>
                      <a:srgbClr val="F1F4F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Research Objective and Questions</a:t>
            </a:r>
          </a:p>
        </p:txBody>
      </p:sp>
      <p:sp>
        <p:nvSpPr>
          <p:cNvPr id="3" name="TextBox 2"/>
          <p:cNvSpPr txBox="1"/>
          <p:nvPr/>
        </p:nvSpPr>
        <p:spPr>
          <a:xfrm>
            <a:off x="548640" y="1371600"/>
            <a:ext cx="11064240" cy="1005840"/>
          </a:xfrm>
          <a:prstGeom prst="rect">
            <a:avLst/>
          </a:prstGeom>
          <a:noFill/>
        </p:spPr>
        <p:txBody>
          <a:bodyPr wrap="square" anchor="t" lIns="0" rIns="0" tIns="0" bIns="0">
            <a:spAutoFit/>
          </a:bodyPr>
          <a:lstStyle/>
          <a:p>
            <a:pPr algn="l">
              <a:lnSpc>
                <a:spcPct val="125000"/>
              </a:lnSpc>
            </a:pPr>
            <a:r>
              <a:rPr sz="1700" b="0" i="1">
                <a:solidFill>
                  <a:srgbClr val="0B3D59"/>
                </a:solidFill>
                <a:latin typeface="Calibri"/>
              </a:rPr>
              <a:t>Develop and evaluate a workload-aware datacenter cooling control framework using official Google Borg workload and power traces, workload forecasting, thermal modeling, classical controllers, PPO, MAPPO, and explicit safety constraints.</a:t>
            </a:r>
          </a:p>
        </p:txBody>
      </p:sp>
      <p:sp>
        <p:nvSpPr>
          <p:cNvPr id="4" name="Rounded Rectangle 3"/>
          <p:cNvSpPr/>
          <p:nvPr/>
        </p:nvSpPr>
        <p:spPr>
          <a:xfrm>
            <a:off x="548640" y="2606040"/>
            <a:ext cx="960120" cy="566928"/>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RQ1</a:t>
            </a:r>
          </a:p>
        </p:txBody>
      </p:sp>
      <p:sp>
        <p:nvSpPr>
          <p:cNvPr id="5" name="TextBox 4"/>
          <p:cNvSpPr txBox="1"/>
          <p:nvPr/>
        </p:nvSpPr>
        <p:spPr>
          <a:xfrm>
            <a:off x="1691640" y="2660904"/>
            <a:ext cx="9875520" cy="548640"/>
          </a:xfrm>
          <a:prstGeom prst="rect">
            <a:avLst/>
          </a:prstGeom>
          <a:noFill/>
        </p:spPr>
        <p:txBody>
          <a:bodyPr wrap="square" anchor="t" lIns="0" rIns="0" tIns="0" bIns="0">
            <a:spAutoFit/>
          </a:bodyPr>
          <a:lstStyle/>
          <a:p>
            <a:pPr algn="l">
              <a:lnSpc>
                <a:spcPct val="100000"/>
              </a:lnSpc>
            </a:pPr>
            <a:r>
              <a:rPr sz="1550" b="0" i="0">
                <a:solidFill>
                  <a:srgbClr val="1A1F24"/>
                </a:solidFill>
                <a:latin typeface="Calibri"/>
              </a:rPr>
              <a:t>Can workload telemetry provide useful short-horizon forecasts?</a:t>
            </a:r>
          </a:p>
        </p:txBody>
      </p:sp>
      <p:sp>
        <p:nvSpPr>
          <p:cNvPr id="6" name="Rounded Rectangle 5"/>
          <p:cNvSpPr/>
          <p:nvPr/>
        </p:nvSpPr>
        <p:spPr>
          <a:xfrm>
            <a:off x="548640" y="3319272"/>
            <a:ext cx="960120" cy="566928"/>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RQ2</a:t>
            </a:r>
          </a:p>
        </p:txBody>
      </p:sp>
      <p:sp>
        <p:nvSpPr>
          <p:cNvPr id="7" name="TextBox 6"/>
          <p:cNvSpPr txBox="1"/>
          <p:nvPr/>
        </p:nvSpPr>
        <p:spPr>
          <a:xfrm>
            <a:off x="1691640" y="3374136"/>
            <a:ext cx="9875520" cy="548640"/>
          </a:xfrm>
          <a:prstGeom prst="rect">
            <a:avLst/>
          </a:prstGeom>
          <a:noFill/>
        </p:spPr>
        <p:txBody>
          <a:bodyPr wrap="square" anchor="t" lIns="0" rIns="0" tIns="0" bIns="0">
            <a:spAutoFit/>
          </a:bodyPr>
          <a:lstStyle/>
          <a:p>
            <a:pPr algn="l">
              <a:lnSpc>
                <a:spcPct val="100000"/>
              </a:lnSpc>
            </a:pPr>
            <a:r>
              <a:rPr sz="1550" b="0" i="0">
                <a:solidFill>
                  <a:srgbClr val="1A1F24"/>
                </a:solidFill>
                <a:latin typeface="Calibri"/>
              </a:rPr>
              <a:t>Can measured power data support an empirical workload→power model?</a:t>
            </a:r>
          </a:p>
        </p:txBody>
      </p:sp>
      <p:sp>
        <p:nvSpPr>
          <p:cNvPr id="8" name="Rounded Rectangle 7"/>
          <p:cNvSpPr/>
          <p:nvPr/>
        </p:nvSpPr>
        <p:spPr>
          <a:xfrm>
            <a:off x="548640" y="4032504"/>
            <a:ext cx="960120" cy="566928"/>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RQ3</a:t>
            </a:r>
          </a:p>
        </p:txBody>
      </p:sp>
      <p:sp>
        <p:nvSpPr>
          <p:cNvPr id="9" name="TextBox 8"/>
          <p:cNvSpPr txBox="1"/>
          <p:nvPr/>
        </p:nvSpPr>
        <p:spPr>
          <a:xfrm>
            <a:off x="1691640" y="4087368"/>
            <a:ext cx="9875520" cy="548640"/>
          </a:xfrm>
          <a:prstGeom prst="rect">
            <a:avLst/>
          </a:prstGeom>
          <a:noFill/>
        </p:spPr>
        <p:txBody>
          <a:bodyPr wrap="square" anchor="t" lIns="0" rIns="0" tIns="0" bIns="0">
            <a:spAutoFit/>
          </a:bodyPr>
          <a:lstStyle/>
          <a:p>
            <a:pPr algn="l">
              <a:lnSpc>
                <a:spcPct val="100000"/>
              </a:lnSpc>
            </a:pPr>
            <a:r>
              <a:rPr sz="1550" b="0" i="0">
                <a:solidFill>
                  <a:srgbClr val="1A1F24"/>
                </a:solidFill>
                <a:latin typeface="Calibri"/>
              </a:rPr>
              <a:t>Can the resulting thermal simulation support meaningful cooling-control experiments?</a:t>
            </a:r>
          </a:p>
        </p:txBody>
      </p:sp>
      <p:sp>
        <p:nvSpPr>
          <p:cNvPr id="10" name="Rounded Rectangle 9"/>
          <p:cNvSpPr/>
          <p:nvPr/>
        </p:nvSpPr>
        <p:spPr>
          <a:xfrm>
            <a:off x="548640" y="4745736"/>
            <a:ext cx="960120" cy="566928"/>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RQ4</a:t>
            </a:r>
          </a:p>
        </p:txBody>
      </p:sp>
      <p:sp>
        <p:nvSpPr>
          <p:cNvPr id="11" name="TextBox 10"/>
          <p:cNvSpPr txBox="1"/>
          <p:nvPr/>
        </p:nvSpPr>
        <p:spPr>
          <a:xfrm>
            <a:off x="1691640" y="4800600"/>
            <a:ext cx="9875520" cy="548640"/>
          </a:xfrm>
          <a:prstGeom prst="rect">
            <a:avLst/>
          </a:prstGeom>
          <a:noFill/>
        </p:spPr>
        <p:txBody>
          <a:bodyPr wrap="square" anchor="t" lIns="0" rIns="0" tIns="0" bIns="0">
            <a:spAutoFit/>
          </a:bodyPr>
          <a:lstStyle/>
          <a:p>
            <a:pPr algn="l">
              <a:lnSpc>
                <a:spcPct val="100000"/>
              </a:lnSpc>
            </a:pPr>
            <a:r>
              <a:rPr sz="1550" b="0" i="0">
                <a:solidFill>
                  <a:srgbClr val="1A1F24"/>
                </a:solidFill>
                <a:latin typeface="Calibri"/>
              </a:rPr>
              <a:t>How do classical controllers, PPO and MAPPO compare under common thermal constraints?</a:t>
            </a:r>
          </a:p>
        </p:txBody>
      </p:sp>
      <p:sp>
        <p:nvSpPr>
          <p:cNvPr id="12" name="Rounded Rectangle 11"/>
          <p:cNvSpPr/>
          <p:nvPr/>
        </p:nvSpPr>
        <p:spPr>
          <a:xfrm>
            <a:off x="548640" y="5458968"/>
            <a:ext cx="960120" cy="566928"/>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RQ5</a:t>
            </a:r>
          </a:p>
        </p:txBody>
      </p:sp>
      <p:sp>
        <p:nvSpPr>
          <p:cNvPr id="13" name="TextBox 12"/>
          <p:cNvSpPr txBox="1"/>
          <p:nvPr/>
        </p:nvSpPr>
        <p:spPr>
          <a:xfrm>
            <a:off x="1691640" y="5513832"/>
            <a:ext cx="9875520" cy="548640"/>
          </a:xfrm>
          <a:prstGeom prst="rect">
            <a:avLst/>
          </a:prstGeom>
          <a:noFill/>
        </p:spPr>
        <p:txBody>
          <a:bodyPr wrap="square" anchor="t" lIns="0" rIns="0" tIns="0" bIns="0">
            <a:spAutoFit/>
          </a:bodyPr>
          <a:lstStyle/>
          <a:p>
            <a:pPr algn="l">
              <a:lnSpc>
                <a:spcPct val="100000"/>
              </a:lnSpc>
            </a:pPr>
            <a:r>
              <a:rPr sz="1550" b="0" i="0">
                <a:solidFill>
                  <a:srgbClr val="1A1F24"/>
                </a:solidFill>
                <a:latin typeface="Calibri"/>
              </a:rPr>
              <a:t>Does forecasting and/or safety intervention materially affect control performance?</a:t>
            </a:r>
          </a:p>
        </p:txBody>
      </p:sp>
      <p:sp>
        <p:nvSpPr>
          <p:cNvPr id="14" name="TextBox 13"/>
          <p:cNvSpPr txBox="1"/>
          <p:nvPr/>
        </p:nvSpPr>
        <p:spPr>
          <a:xfrm>
            <a:off x="548640" y="6263640"/>
            <a:ext cx="10515600" cy="548640"/>
          </a:xfrm>
          <a:prstGeom prst="rect">
            <a:avLst/>
          </a:prstGeom>
          <a:noFill/>
        </p:spPr>
        <p:txBody>
          <a:bodyPr wrap="square" anchor="t" lIns="0" rIns="0" tIns="0" bIns="0">
            <a:spAutoFit/>
          </a:bodyPr>
          <a:lstStyle/>
          <a:p>
            <a:pPr algn="l">
              <a:lnSpc>
                <a:spcPct val="100000"/>
              </a:lnSpc>
            </a:pPr>
            <a:r>
              <a:rPr sz="1300" b="0" i="1">
                <a:solidFill>
                  <a:srgbClr val="5B666E"/>
                </a:solidFill>
                <a:latin typeface="Calibri"/>
              </a:rPr>
              <a:t>None of these questions have a predetermined answer — the evidence decides, including if the answer is negative.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Official Dataset 1: ClusterData2019</a:t>
            </a:r>
          </a:p>
        </p:txBody>
      </p:sp>
      <p:sp>
        <p:nvSpPr>
          <p:cNvPr id="3" name="TextBox 2"/>
          <p:cNvSpPr txBox="1"/>
          <p:nvPr/>
        </p:nvSpPr>
        <p:spPr>
          <a:xfrm>
            <a:off x="548640" y="1508760"/>
            <a:ext cx="6309360" cy="4480560"/>
          </a:xfrm>
          <a:prstGeom prst="rect">
            <a:avLst/>
          </a:prstGeom>
          <a:noFill/>
        </p:spPr>
        <p:txBody>
          <a:bodyPr wrap="square" lIns="0" rIns="0">
            <a:spAutoFit/>
          </a:bodyPr>
          <a:lstStyle/>
          <a:p>
            <a:pPr>
              <a:lnSpc>
                <a:spcPct val="108000"/>
              </a:lnSpc>
              <a:spcAft>
                <a:spcPts val="1300"/>
              </a:spcAft>
            </a:pPr>
            <a:r>
              <a:rPr sz="1500" b="0">
                <a:solidFill>
                  <a:srgbClr val="1A1F24"/>
                </a:solidFill>
                <a:latin typeface="Calibri"/>
              </a:rPr>
              <a:t>•  Source: official Google “cluster-data” GitHub release (google/cluster-data, ClusterData2019.md), not a third-party re-export.</a:t>
            </a:r>
          </a:p>
          <a:p>
            <a:pPr>
              <a:lnSpc>
                <a:spcPct val="108000"/>
              </a:lnSpc>
              <a:spcAft>
                <a:spcPts val="1300"/>
              </a:spcAft>
            </a:pPr>
            <a:r>
              <a:rPr sz="1500" b="0">
                <a:solidFill>
                  <a:srgbClr val="1A1F24"/>
                </a:solidFill>
                <a:latin typeface="Calibri"/>
              </a:rPr>
              <a:t>•  Coverage: eight independent, concurrent Borg cells, for the month of May 2019.</a:t>
            </a:r>
          </a:p>
          <a:p>
            <a:pPr>
              <a:lnSpc>
                <a:spcPct val="108000"/>
              </a:lnSpc>
              <a:spcAft>
                <a:spcPts val="1300"/>
              </a:spcAft>
            </a:pPr>
            <a:r>
              <a:rPr sz="1500" b="0">
                <a:solidFill>
                  <a:srgbClr val="1A1F24"/>
                </a:solidFill>
                <a:latin typeface="Calibri"/>
              </a:rPr>
              <a:t>•  Resolution: per-task/per-machine CPU and memory usage, at 5-minute native granularity (instance_usage table).</a:t>
            </a:r>
          </a:p>
          <a:p>
            <a:pPr>
              <a:lnSpc>
                <a:spcPct val="108000"/>
              </a:lnSpc>
              <a:spcAft>
                <a:spcPts val="1300"/>
              </a:spcAft>
            </a:pPr>
            <a:r>
              <a:rPr sz="1500" b="0">
                <a:solidFill>
                  <a:srgbClr val="1A1F24"/>
                </a:solidFill>
                <a:latin typeface="Calibri"/>
              </a:rPr>
              <a:t>•  What V2 actually uses: start_time, average_usage.cpus, average_usage.memory, and machine_id — aggregated per cell, per 5-minute bucket.</a:t>
            </a:r>
          </a:p>
          <a:p>
            <a:pPr>
              <a:lnSpc>
                <a:spcPct val="108000"/>
              </a:lnSpc>
              <a:spcAft>
                <a:spcPts val="1300"/>
              </a:spcAft>
            </a:pPr>
            <a:r>
              <a:rPr sz="1500" b="0">
                <a:solidFill>
                  <a:srgbClr val="1A1F24"/>
                </a:solidFill>
                <a:latin typeface="Calibri"/>
              </a:rPr>
              <a:t>•  Access method: BigQuery public dataset, queried with column-pruned, cost-estimated SQL — the raw table is ~2.0–2.4 TB per cell, never downloaded whole.</a:t>
            </a:r>
          </a:p>
        </p:txBody>
      </p:sp>
      <p:sp>
        <p:nvSpPr>
          <p:cNvPr id="4" name="Rounded Rectangle 3"/>
          <p:cNvSpPr/>
          <p:nvPr/>
        </p:nvSpPr>
        <p:spPr>
          <a:xfrm>
            <a:off x="7132320" y="1508760"/>
            <a:ext cx="4526280" cy="448056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5" name="TextBox 4"/>
          <p:cNvSpPr txBox="1"/>
          <p:nvPr/>
        </p:nvSpPr>
        <p:spPr>
          <a:xfrm>
            <a:off x="7406640" y="1737360"/>
            <a:ext cx="402336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Why this matters vs. a generic/synthetic trace</a:t>
            </a:r>
          </a:p>
        </p:txBody>
      </p:sp>
      <p:sp>
        <p:nvSpPr>
          <p:cNvPr id="6" name="TextBox 5"/>
          <p:cNvSpPr txBox="1"/>
          <p:nvPr/>
        </p:nvSpPr>
        <p:spPr>
          <a:xfrm>
            <a:off x="7406640" y="2194560"/>
            <a:ext cx="4023360" cy="3566160"/>
          </a:xfrm>
          <a:prstGeom prst="rect">
            <a:avLst/>
          </a:prstGeom>
          <a:noFill/>
        </p:spPr>
        <p:txBody>
          <a:bodyPr wrap="square" lIns="0" rIns="0">
            <a:spAutoFit/>
          </a:bodyPr>
          <a:lstStyle/>
          <a:p>
            <a:pPr>
              <a:lnSpc>
                <a:spcPct val="108000"/>
              </a:lnSpc>
              <a:spcAft>
                <a:spcPts val="1000"/>
              </a:spcAft>
            </a:pPr>
            <a:r>
              <a:rPr sz="1350" b="0">
                <a:solidFill>
                  <a:srgbClr val="1A1F24"/>
                </a:solidFill>
                <a:latin typeface="Calibri"/>
              </a:rPr>
              <a:t>•  Documented schema and units — no guessing what a column means.</a:t>
            </a:r>
          </a:p>
          <a:p>
            <a:pPr>
              <a:lnSpc>
                <a:spcPct val="108000"/>
              </a:lnSpc>
              <a:spcAft>
                <a:spcPts val="1000"/>
              </a:spcAft>
            </a:pPr>
            <a:r>
              <a:rPr sz="1350" b="0">
                <a:solidFill>
                  <a:srgbClr val="1A1F24"/>
                </a:solidFill>
                <a:latin typeface="Calibri"/>
              </a:rPr>
              <a:t>•  Real inter-service, inter-machine correlation structure that a synthetic generator would not reproduce.</a:t>
            </a:r>
          </a:p>
          <a:p>
            <a:pPr>
              <a:lnSpc>
                <a:spcPct val="108000"/>
              </a:lnSpc>
              <a:spcAft>
                <a:spcPts val="1000"/>
              </a:spcAft>
            </a:pPr>
            <a:r>
              <a:rPr sz="1350" b="0">
                <a:solidFill>
                  <a:srgbClr val="1A1F24"/>
                </a:solidFill>
                <a:latin typeface="Calibri"/>
              </a:rPr>
              <a:t>•  Directly pairs with an official Google power dataset (next slide) — a synthetic trace would have no real power counterpart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Official Dataset 2: PowerData2019</a:t>
            </a:r>
          </a:p>
        </p:txBody>
      </p:sp>
      <p:sp>
        <p:nvSpPr>
          <p:cNvPr id="3" name="TextBox 2"/>
          <p:cNvSpPr txBox="1"/>
          <p:nvPr/>
        </p:nvSpPr>
        <p:spPr>
          <a:xfrm>
            <a:off x="548640" y="1508760"/>
            <a:ext cx="6309360" cy="4206240"/>
          </a:xfrm>
          <a:prstGeom prst="rect">
            <a:avLst/>
          </a:prstGeom>
          <a:noFill/>
        </p:spPr>
        <p:txBody>
          <a:bodyPr wrap="square" lIns="0" rIns="0">
            <a:spAutoFit/>
          </a:bodyPr>
          <a:lstStyle/>
          <a:p>
            <a:pPr>
              <a:lnSpc>
                <a:spcPct val="108000"/>
              </a:lnSpc>
              <a:spcAft>
                <a:spcPts val="1100"/>
              </a:spcAft>
            </a:pPr>
            <a:r>
              <a:rPr sz="1400" b="0">
                <a:solidFill>
                  <a:srgbClr val="1A1F24"/>
                </a:solidFill>
                <a:latin typeface="Calibri"/>
              </a:rPr>
              <a:t>•  Source: official Google “cluster-data” release, PowerData2019.md — same GitHub repository as ClusterData2019.</a:t>
            </a:r>
          </a:p>
          <a:p>
            <a:pPr>
              <a:lnSpc>
                <a:spcPct val="108000"/>
              </a:lnSpc>
              <a:spcAft>
                <a:spcPts val="1100"/>
              </a:spcAft>
            </a:pPr>
            <a:r>
              <a:rPr sz="1400" b="0">
                <a:solidFill>
                  <a:srgbClr val="1A1F24"/>
                </a:solidFill>
                <a:latin typeface="Calibri"/>
              </a:rPr>
              <a:t>•  Coverage: 57 power domains (Power Distribution Units, PDUs) during May 2019.</a:t>
            </a:r>
          </a:p>
          <a:p>
            <a:pPr>
              <a:lnSpc>
                <a:spcPct val="108000"/>
              </a:lnSpc>
              <a:spcAft>
                <a:spcPts val="1100"/>
              </a:spcAft>
            </a:pPr>
            <a:r>
              <a:rPr sz="1400" b="0">
                <a:solidFill>
                  <a:srgbClr val="1A1F24"/>
                </a:solidFill>
                <a:latin typeface="Calibri"/>
              </a:rPr>
              <a:t>•  Google's own documentation: “two of these power domains are from cells with the new medium voltage power plane design; the remainder belong to the eight cells featured in the 2019 Cluster Data trace.”</a:t>
            </a:r>
          </a:p>
          <a:p>
            <a:pPr>
              <a:lnSpc>
                <a:spcPct val="108000"/>
              </a:lnSpc>
              <a:spcAft>
                <a:spcPts val="1100"/>
              </a:spcAft>
            </a:pPr>
            <a:r>
              <a:rPr sz="1400" b="0">
                <a:solidFill>
                  <a:srgbClr val="1A1F24"/>
                </a:solidFill>
                <a:latin typeface="Calibri"/>
              </a:rPr>
              <a:t>•  Fields actually used: cell, pdu, measured_power_util, production_power_util, and two data-quality flags — utilization FRACTIONS of PDU capacity, not watts.</a:t>
            </a:r>
          </a:p>
          <a:p>
            <a:pPr>
              <a:lnSpc>
                <a:spcPct val="108000"/>
              </a:lnSpc>
              <a:spcAft>
                <a:spcPts val="1100"/>
              </a:spcAft>
            </a:pPr>
            <a:r>
              <a:rPr sz="1400" b="0">
                <a:solidFill>
                  <a:srgbClr val="1A1F24"/>
                </a:solidFill>
                <a:latin typeface="Calibri"/>
              </a:rPr>
              <a:t>•  50 PDU tables were found in the public BigQuery mirror (documented discrepancy vs. the 55 implied by Google's text — disclosed in the alignment audit, not hidden).</a:t>
            </a:r>
          </a:p>
        </p:txBody>
      </p:sp>
      <p:sp>
        <p:nvSpPr>
          <p:cNvPr id="4" name="Rounded Rectangle 3"/>
          <p:cNvSpPr/>
          <p:nvPr/>
        </p:nvSpPr>
        <p:spPr>
          <a:xfrm>
            <a:off x="7132320" y="1508760"/>
            <a:ext cx="4526280" cy="448056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5" name="TextBox 4"/>
          <p:cNvSpPr txBox="1"/>
          <p:nvPr/>
        </p:nvSpPr>
        <p:spPr>
          <a:xfrm>
            <a:off x="7406640" y="1737360"/>
            <a:ext cx="4023360" cy="1097280"/>
          </a:xfrm>
          <a:prstGeom prst="rect">
            <a:avLst/>
          </a:prstGeom>
          <a:noFill/>
        </p:spPr>
        <p:txBody>
          <a:bodyPr wrap="square" anchor="t" lIns="0" rIns="0" tIns="0" bIns="0">
            <a:spAutoFit/>
          </a:bodyPr>
          <a:lstStyle/>
          <a:p>
            <a:pPr algn="l">
              <a:lnSpc>
                <a:spcPct val="110000"/>
              </a:lnSpc>
            </a:pPr>
            <a:r>
              <a:rPr sz="1400" b="1" i="0">
                <a:solidFill>
                  <a:srgbClr val="0B3D59"/>
                </a:solidFill>
                <a:latin typeface="Calibri"/>
              </a:rPr>
              <a:t>Three different things — do not conflate them</a:t>
            </a:r>
          </a:p>
        </p:txBody>
      </p:sp>
      <p:sp>
        <p:nvSpPr>
          <p:cNvPr id="6" name="Rounded Rectangle 5"/>
          <p:cNvSpPr/>
          <p:nvPr/>
        </p:nvSpPr>
        <p:spPr>
          <a:xfrm>
            <a:off x="7406640" y="2697480"/>
            <a:ext cx="393192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WORKLOAD DATA</a:t>
            </a:r>
          </a:p>
        </p:txBody>
      </p:sp>
      <p:sp>
        <p:nvSpPr>
          <p:cNvPr id="7" name="TextBox 6"/>
          <p:cNvSpPr txBox="1"/>
          <p:nvPr/>
        </p:nvSpPr>
        <p:spPr>
          <a:xfrm>
            <a:off x="7406640" y="3182112"/>
            <a:ext cx="3931920" cy="320040"/>
          </a:xfrm>
          <a:prstGeom prst="rect">
            <a:avLst/>
          </a:prstGeom>
          <a:noFill/>
        </p:spPr>
        <p:txBody>
          <a:bodyPr wrap="square" anchor="t" lIns="0" rIns="0" tIns="0" bIns="0">
            <a:spAutoFit/>
          </a:bodyPr>
          <a:lstStyle/>
          <a:p>
            <a:pPr algn="l">
              <a:lnSpc>
                <a:spcPct val="100000"/>
              </a:lnSpc>
            </a:pPr>
            <a:r>
              <a:rPr sz="1150" b="0" i="1">
                <a:solidFill>
                  <a:srgbClr val="5B666E"/>
                </a:solidFill>
                <a:latin typeface="Calibri"/>
              </a:rPr>
              <a:t>real, official (ClusterData2019)</a:t>
            </a:r>
          </a:p>
        </p:txBody>
      </p:sp>
      <p:sp>
        <p:nvSpPr>
          <p:cNvPr id="8" name="Rounded Rectangle 7"/>
          <p:cNvSpPr/>
          <p:nvPr/>
        </p:nvSpPr>
        <p:spPr>
          <a:xfrm>
            <a:off x="7406640" y="3566160"/>
            <a:ext cx="393192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MEASURED POWER DATA</a:t>
            </a:r>
          </a:p>
        </p:txBody>
      </p:sp>
      <p:sp>
        <p:nvSpPr>
          <p:cNvPr id="9" name="TextBox 8"/>
          <p:cNvSpPr txBox="1"/>
          <p:nvPr/>
        </p:nvSpPr>
        <p:spPr>
          <a:xfrm>
            <a:off x="7406640" y="4050792"/>
            <a:ext cx="3931920" cy="320040"/>
          </a:xfrm>
          <a:prstGeom prst="rect">
            <a:avLst/>
          </a:prstGeom>
          <a:noFill/>
        </p:spPr>
        <p:txBody>
          <a:bodyPr wrap="square" anchor="t" lIns="0" rIns="0" tIns="0" bIns="0">
            <a:spAutoFit/>
          </a:bodyPr>
          <a:lstStyle/>
          <a:p>
            <a:pPr algn="l">
              <a:lnSpc>
                <a:spcPct val="100000"/>
              </a:lnSpc>
            </a:pPr>
            <a:r>
              <a:rPr sz="1150" b="0" i="1">
                <a:solidFill>
                  <a:srgbClr val="5B666E"/>
                </a:solidFill>
                <a:latin typeface="Calibri"/>
              </a:rPr>
              <a:t>real, official (PowerData2019)</a:t>
            </a:r>
          </a:p>
        </p:txBody>
      </p:sp>
      <p:sp>
        <p:nvSpPr>
          <p:cNvPr id="10" name="Rounded Rectangle 9"/>
          <p:cNvSpPr/>
          <p:nvPr/>
        </p:nvSpPr>
        <p:spPr>
          <a:xfrm>
            <a:off x="7406640" y="4434840"/>
            <a:ext cx="3931920" cy="45720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SIMULATED THERMAL DATA</a:t>
            </a:r>
          </a:p>
        </p:txBody>
      </p:sp>
      <p:sp>
        <p:nvSpPr>
          <p:cNvPr id="11" name="TextBox 10"/>
          <p:cNvSpPr txBox="1"/>
          <p:nvPr/>
        </p:nvSpPr>
        <p:spPr>
          <a:xfrm>
            <a:off x="7406640" y="4919472"/>
            <a:ext cx="3931920" cy="320040"/>
          </a:xfrm>
          <a:prstGeom prst="rect">
            <a:avLst/>
          </a:prstGeom>
          <a:noFill/>
        </p:spPr>
        <p:txBody>
          <a:bodyPr wrap="square" anchor="t" lIns="0" rIns="0" tIns="0" bIns="0">
            <a:spAutoFit/>
          </a:bodyPr>
          <a:lstStyle/>
          <a:p>
            <a:pPr algn="l">
              <a:lnSpc>
                <a:spcPct val="100000"/>
              </a:lnSpc>
            </a:pPr>
            <a:r>
              <a:rPr sz="1150" b="0" i="1">
                <a:solidFill>
                  <a:srgbClr val="5B666E"/>
                </a:solidFill>
                <a:latin typeface="Calibri"/>
              </a:rPr>
              <a:t>a simulation abstraction, not measured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 Central Question: Workload ↔ Power Alignment</a:t>
            </a:r>
          </a:p>
        </p:txBody>
      </p:sp>
      <p:sp>
        <p:nvSpPr>
          <p:cNvPr id="3" name="TextBox 2"/>
          <p:cNvSpPr txBox="1"/>
          <p:nvPr/>
        </p:nvSpPr>
        <p:spPr>
          <a:xfrm>
            <a:off x="548640" y="1234440"/>
            <a:ext cx="11064240" cy="457200"/>
          </a:xfrm>
          <a:prstGeom prst="rect">
            <a:avLst/>
          </a:prstGeom>
          <a:noFill/>
        </p:spPr>
        <p:txBody>
          <a:bodyPr wrap="square" anchor="t" lIns="0" rIns="0" tIns="0" bIns="0">
            <a:spAutoFit/>
          </a:bodyPr>
          <a:lstStyle/>
          <a:p>
            <a:pPr algn="l">
              <a:lnSpc>
                <a:spcPct val="100000"/>
              </a:lnSpc>
            </a:pPr>
            <a:r>
              <a:rPr sz="1600" b="0" i="1">
                <a:solidFill>
                  <a:srgbClr val="0B3D59"/>
                </a:solidFill>
                <a:latin typeface="Calibri"/>
              </a:rPr>
              <a:t>“How can workload and power be combined if they were never recorded at the same machine?”</a:t>
            </a:r>
          </a:p>
        </p:txBody>
      </p:sp>
      <p:sp>
        <p:nvSpPr>
          <p:cNvPr id="4" name="Rounded Rectangle 3"/>
          <p:cNvSpPr/>
          <p:nvPr/>
        </p:nvSpPr>
        <p:spPr>
          <a:xfrm>
            <a:off x="822960" y="1965960"/>
            <a:ext cx="329184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Workload records
(per machine, per task)</a:t>
            </a:r>
          </a:p>
        </p:txBody>
      </p:sp>
      <p:cxnSp>
        <p:nvCxnSpPr>
          <p:cNvPr id="5" name="Connector 4"/>
          <p:cNvCxnSpPr/>
          <p:nvPr/>
        </p:nvCxnSpPr>
        <p:spPr>
          <a:xfrm>
            <a:off x="2468880" y="2468880"/>
            <a:ext cx="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2724912"/>
            <a:ext cx="329184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Borg-cell aggregation</a:t>
            </a:r>
          </a:p>
        </p:txBody>
      </p:sp>
      <p:cxnSp>
        <p:nvCxnSpPr>
          <p:cNvPr id="7" name="Connector 6"/>
          <p:cNvCxnSpPr/>
          <p:nvPr/>
        </p:nvCxnSpPr>
        <p:spPr>
          <a:xfrm>
            <a:off x="2468880" y="3227832"/>
            <a:ext cx="0" cy="25603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138160" y="1965960"/>
            <a:ext cx="329184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Power-domain (PDU)
measurements</a:t>
            </a:r>
          </a:p>
        </p:txBody>
      </p:sp>
      <p:cxnSp>
        <p:nvCxnSpPr>
          <p:cNvPr id="9" name="Connector 8"/>
          <p:cNvCxnSpPr/>
          <p:nvPr/>
        </p:nvCxnSpPr>
        <p:spPr>
          <a:xfrm>
            <a:off x="9784080" y="2468880"/>
            <a:ext cx="0" cy="758952"/>
          </a:xfrm>
          <a:prstGeom prst="line">
            <a:avLst/>
          </a:prstGeom>
          <a:ln w="22225">
            <a:solidFill>
              <a:srgbClr val="5B666E"/>
            </a:solidFill>
            <a:head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38160" y="2724912"/>
            <a:ext cx="329184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PowerData2019's own
“cell” column</a:t>
            </a:r>
          </a:p>
        </p:txBody>
      </p:sp>
      <p:cxnSp>
        <p:nvCxnSpPr>
          <p:cNvPr id="11" name="Connector 10"/>
          <p:cNvCxnSpPr/>
          <p:nvPr/>
        </p:nvCxnSpPr>
        <p:spPr>
          <a:xfrm>
            <a:off x="4114800" y="2971800"/>
            <a:ext cx="320040"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772400" y="2971800"/>
            <a:ext cx="365760"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34840" y="2651760"/>
            <a:ext cx="3337560" cy="59436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COMMON KEY:
Borg CELL (a–h)</a:t>
            </a:r>
          </a:p>
        </p:txBody>
      </p:sp>
      <p:sp>
        <p:nvSpPr>
          <p:cNvPr id="14" name="Rounded Rectangle 13"/>
          <p:cNvSpPr/>
          <p:nvPr/>
        </p:nvSpPr>
        <p:spPr>
          <a:xfrm>
            <a:off x="822960" y="3657600"/>
            <a:ext cx="5120640" cy="77724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NOT DONE:</a:t>
            </a:r>
          </a:p>
          <a:p>
            <a:pPr algn="ctr"/>
            <a:r>
              <a:rPr sz="1300" b="0">
                <a:solidFill>
                  <a:srgbClr val="FFFFFF"/>
                </a:solidFill>
                <a:latin typeface="Calibri"/>
              </a:rPr>
              <a:t>machine A → arbitrary power domain B</a:t>
            </a:r>
          </a:p>
        </p:txBody>
      </p:sp>
      <p:sp>
        <p:nvSpPr>
          <p:cNvPr id="15" name="Rounded Rectangle 14"/>
          <p:cNvSpPr/>
          <p:nvPr/>
        </p:nvSpPr>
        <p:spPr>
          <a:xfrm>
            <a:off x="6263640" y="3657600"/>
            <a:ext cx="5120640"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DONE:</a:t>
            </a:r>
          </a:p>
          <a:p>
            <a:pPr algn="ctr"/>
            <a:r>
              <a:rPr sz="1300" b="0">
                <a:solidFill>
                  <a:srgbClr val="FFFFFF"/>
                </a:solidFill>
                <a:latin typeface="Calibri"/>
              </a:rPr>
              <a:t>workload → documented Borg-cell → measured power</a:t>
            </a:r>
          </a:p>
        </p:txBody>
      </p:sp>
      <p:sp>
        <p:nvSpPr>
          <p:cNvPr id="16" name="TextBox 15"/>
          <p:cNvSpPr txBox="1"/>
          <p:nvPr/>
        </p:nvSpPr>
        <p:spPr>
          <a:xfrm>
            <a:off x="822960" y="4709160"/>
            <a:ext cx="10515600" cy="1188720"/>
          </a:xfrm>
          <a:prstGeom prst="rect">
            <a:avLst/>
          </a:prstGeom>
          <a:noFill/>
        </p:spPr>
        <p:txBody>
          <a:bodyPr wrap="square" lIns="0" rIns="0">
            <a:spAutoFit/>
          </a:bodyPr>
          <a:lstStyle/>
          <a:p>
            <a:pPr>
              <a:lnSpc>
                <a:spcPct val="108000"/>
              </a:lnSpc>
              <a:spcAft>
                <a:spcPts val="600"/>
              </a:spcAft>
            </a:pPr>
            <a:r>
              <a:rPr sz="1300" b="0">
                <a:solidFill>
                  <a:srgbClr val="1A1F24"/>
                </a:solidFill>
                <a:latin typeface="Calibri"/>
              </a:rPr>
              <a:t>•  No machine-to-PDU mapping exists anywhere in either schema — it was not invented.</a:t>
            </a:r>
          </a:p>
          <a:p>
            <a:pPr>
              <a:lnSpc>
                <a:spcPct val="108000"/>
              </a:lnSpc>
              <a:spcAft>
                <a:spcPts val="600"/>
              </a:spcAft>
            </a:pPr>
            <a:r>
              <a:rPr sz="1300" b="0">
                <a:solidFill>
                  <a:srgbClr val="1A1F24"/>
                </a:solidFill>
                <a:latin typeface="Calibri"/>
              </a:rPr>
              <a:t>•  Google's own PowerData2019.md documents that (most) power domains belong to the eight ClusterData2019 cells — the cell is the finest key both datasets actually share.</a:t>
            </a:r>
          </a:p>
          <a:p>
            <a:pPr>
              <a:lnSpc>
                <a:spcPct val="108000"/>
              </a:lnSpc>
              <a:spcAft>
                <a:spcPts val="600"/>
              </a:spcAft>
            </a:pPr>
            <a:r>
              <a:rPr sz="1300" b="0">
                <a:solidFill>
                  <a:srgbClr val="1A1F24"/>
                </a:solidFill>
                <a:latin typeface="Calibri"/>
              </a:rPr>
              <a:t>•  Cost: per-machine and per-PDU resolution is lost. The unit of prediction is one of 8 Borg cells, not a machine or a rack.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Data Audit and Validation — Why This Comes Before ML/RL</a:t>
            </a:r>
          </a:p>
        </p:txBody>
      </p:sp>
      <p:graphicFrame>
        <p:nvGraphicFramePr>
          <p:cNvPr id="3" name="Table 2"/>
          <p:cNvGraphicFramePr>
            <a:graphicFrameLocks noGrp="1"/>
          </p:cNvGraphicFramePr>
          <p:nvPr/>
        </p:nvGraphicFramePr>
        <p:xfrm>
          <a:off x="548640" y="1417320"/>
          <a:ext cx="11064239" cy="4892040"/>
        </p:xfrm>
        <a:graphic>
          <a:graphicData uri="http://schemas.openxmlformats.org/drawingml/2006/table">
            <a:tbl>
              <a:tblPr firstRow="1" bandRow="1">
                <a:tableStyleId>{5C22544A-7EE6-4342-B048-85BDC9FD1C3A}</a:tableStyleId>
              </a:tblPr>
              <a:tblGrid>
                <a:gridCol w="3108960"/>
                <a:gridCol w="7955279"/>
              </a:tblGrid>
              <a:tr h="489204">
                <a:tc>
                  <a:txBody>
                    <a:bodyPr/>
                    <a:lstStyle/>
                    <a:p>
                      <a:r>
                        <a:rPr sz="1350" b="1">
                          <a:solidFill>
                            <a:srgbClr val="FFFFFF"/>
                          </a:solidFill>
                          <a:latin typeface="Calibri"/>
                        </a:rPr>
                        <a:t>Check</a:t>
                      </a:r>
                    </a:p>
                  </a:txBody>
                  <a:tcPr marT="50800" marB="50800">
                    <a:solidFill>
                      <a:srgbClr val="0B3D59"/>
                    </a:solidFill>
                  </a:tcPr>
                </a:tc>
                <a:tc>
                  <a:txBody>
                    <a:bodyPr/>
                    <a:lstStyle/>
                    <a:p>
                      <a:r>
                        <a:rPr sz="1350" b="1">
                          <a:solidFill>
                            <a:srgbClr val="FFFFFF"/>
                          </a:solidFill>
                          <a:latin typeface="Calibri"/>
                        </a:rPr>
                        <a:t>What was verified</a:t>
                      </a:r>
                    </a:p>
                  </a:txBody>
                  <a:tcPr marT="50800" marB="50800">
                    <a:solidFill>
                      <a:srgbClr val="0B3D59"/>
                    </a:solidFill>
                  </a:tcPr>
                </a:tc>
              </a:tr>
              <a:tr h="489204">
                <a:tc>
                  <a:txBody>
                    <a:bodyPr/>
                    <a:lstStyle/>
                    <a:p>
                      <a:r>
                        <a:rPr sz="1300" b="0">
                          <a:solidFill>
                            <a:srgbClr val="1A1F24"/>
                          </a:solidFill>
                          <a:latin typeface="Calibri"/>
                        </a:rPr>
                        <a:t>Official source verification</a:t>
                      </a:r>
                    </a:p>
                  </a:txBody>
                  <a:tcPr marT="38100" marB="38100" anchor="ctr">
                    <a:solidFill>
                      <a:srgbClr val="FFFFFF"/>
                    </a:solidFill>
                  </a:tcPr>
                </a:tc>
                <a:tc>
                  <a:txBody>
                    <a:bodyPr/>
                    <a:lstStyle/>
                    <a:p>
                      <a:r>
                        <a:rPr sz="1300" b="0">
                          <a:solidFill>
                            <a:srgbClr val="1A1F24"/>
                          </a:solidFill>
                          <a:latin typeface="Calibri"/>
                        </a:rPr>
                        <a:t>gcloud/BigQuery access, dataset+table listing confirmed live</a:t>
                      </a:r>
                    </a:p>
                  </a:txBody>
                  <a:tcPr marT="38100" marB="38100" anchor="ctr">
                    <a:solidFill>
                      <a:srgbClr val="FFFFFF"/>
                    </a:solidFill>
                  </a:tcPr>
                </a:tc>
              </a:tr>
              <a:tr h="489204">
                <a:tc>
                  <a:txBody>
                    <a:bodyPr/>
                    <a:lstStyle/>
                    <a:p>
                      <a:r>
                        <a:rPr sz="1300" b="0">
                          <a:solidFill>
                            <a:srgbClr val="1A1F24"/>
                          </a:solidFill>
                          <a:latin typeface="Calibri"/>
                        </a:rPr>
                        <a:t>Schema validation</a:t>
                      </a:r>
                    </a:p>
                  </a:txBody>
                  <a:tcPr marT="38100" marB="38100" anchor="ctr">
                    <a:solidFill>
                      <a:srgbClr val="F1F4F6"/>
                    </a:solidFill>
                  </a:tcPr>
                </a:tc>
                <a:tc>
                  <a:txBody>
                    <a:bodyPr/>
                    <a:lstStyle/>
                    <a:p>
                      <a:r>
                        <a:rPr sz="1300" b="0">
                          <a:solidFill>
                            <a:srgbClr val="1A1F24"/>
                          </a:solidFill>
                          <a:latin typeface="Calibri"/>
                        </a:rPr>
                        <a:t>every field used (cell, pdu, machine_id, average_usage.*) read from the live schema</a:t>
                      </a:r>
                    </a:p>
                  </a:txBody>
                  <a:tcPr marT="38100" marB="38100" anchor="ctr">
                    <a:solidFill>
                      <a:srgbClr val="F1F4F6"/>
                    </a:solidFill>
                  </a:tcPr>
                </a:tc>
              </a:tr>
              <a:tr h="489204">
                <a:tc>
                  <a:txBody>
                    <a:bodyPr/>
                    <a:lstStyle/>
                    <a:p>
                      <a:r>
                        <a:rPr sz="1300" b="0">
                          <a:solidFill>
                            <a:srgbClr val="1A1F24"/>
                          </a:solidFill>
                          <a:latin typeface="Calibri"/>
                        </a:rPr>
                        <a:t>Timestamp / epoch check</a:t>
                      </a:r>
                    </a:p>
                  </a:txBody>
                  <a:tcPr marT="38100" marB="38100" anchor="ctr">
                    <a:solidFill>
                      <a:srgbClr val="FFFFFF"/>
                    </a:solidFill>
                  </a:tcPr>
                </a:tc>
                <a:tc>
                  <a:txBody>
                    <a:bodyPr/>
                    <a:lstStyle/>
                    <a:p>
                      <a:r>
                        <a:rPr sz="1300" b="0">
                          <a:solidFill>
                            <a:srgbClr val="1A1F24"/>
                          </a:solidFill>
                          <a:latin typeface="Calibri"/>
                        </a:rPr>
                        <a:t>power row-count (8,928) matches a 5-min grid over ~31 days; cross-checked ranges</a:t>
                      </a:r>
                    </a:p>
                  </a:txBody>
                  <a:tcPr marT="38100" marB="38100" anchor="ctr">
                    <a:solidFill>
                      <a:srgbClr val="FFFFFF"/>
                    </a:solidFill>
                  </a:tcPr>
                </a:tc>
              </a:tr>
              <a:tr h="489204">
                <a:tc>
                  <a:txBody>
                    <a:bodyPr/>
                    <a:lstStyle/>
                    <a:p>
                      <a:r>
                        <a:rPr sz="1300" b="0">
                          <a:solidFill>
                            <a:srgbClr val="1A1F24"/>
                          </a:solidFill>
                          <a:latin typeface="Calibri"/>
                        </a:rPr>
                        <a:t>Duplicate check</a:t>
                      </a:r>
                    </a:p>
                  </a:txBody>
                  <a:tcPr marT="38100" marB="38100" anchor="ctr">
                    <a:solidFill>
                      <a:srgbClr val="F1F4F6"/>
                    </a:solidFill>
                  </a:tcPr>
                </a:tc>
                <a:tc>
                  <a:txBody>
                    <a:bodyPr/>
                    <a:lstStyle/>
                    <a:p>
                      <a:r>
                        <a:rPr sz="1300" b="0">
                          <a:solidFill>
                            <a:srgbClr val="1A1F24"/>
                          </a:solidFill>
                          <a:latin typeface="Calibri"/>
                        </a:rPr>
                        <a:t>zero duplicate (cell, time-bucket) rows after the join</a:t>
                      </a:r>
                    </a:p>
                  </a:txBody>
                  <a:tcPr marT="38100" marB="38100" anchor="ctr">
                    <a:solidFill>
                      <a:srgbClr val="F1F4F6"/>
                    </a:solidFill>
                  </a:tcPr>
                </a:tc>
              </a:tr>
              <a:tr h="489204">
                <a:tc>
                  <a:txBody>
                    <a:bodyPr/>
                    <a:lstStyle/>
                    <a:p>
                      <a:r>
                        <a:rPr sz="1300" b="0">
                          <a:solidFill>
                            <a:srgbClr val="1A1F24"/>
                          </a:solidFill>
                          <a:latin typeface="Calibri"/>
                        </a:rPr>
                        <a:t>Cell/zone consistency</a:t>
                      </a:r>
                    </a:p>
                  </a:txBody>
                  <a:tcPr marT="38100" marB="38100" anchor="ctr">
                    <a:solidFill>
                      <a:srgbClr val="FFFFFF"/>
                    </a:solidFill>
                  </a:tcPr>
                </a:tc>
                <a:tc>
                  <a:txBody>
                    <a:bodyPr/>
                    <a:lstStyle/>
                    <a:p>
                      <a:r>
                        <a:rPr sz="1300" b="0">
                          <a:solidFill>
                            <a:srgbClr val="1A1F24"/>
                          </a:solidFill>
                          <a:latin typeface="Calibri"/>
                        </a:rPr>
                        <a:t>zone code = deterministic alphabetical index of cell; asserted, not assumed</a:t>
                      </a:r>
                    </a:p>
                  </a:txBody>
                  <a:tcPr marT="38100" marB="38100" anchor="ctr">
                    <a:solidFill>
                      <a:srgbClr val="FFFFFF"/>
                    </a:solidFill>
                  </a:tcPr>
                </a:tc>
              </a:tr>
              <a:tr h="489204">
                <a:tc>
                  <a:txBody>
                    <a:bodyPr/>
                    <a:lstStyle/>
                    <a:p>
                      <a:r>
                        <a:rPr sz="1300" b="0">
                          <a:solidFill>
                            <a:srgbClr val="1A1F24"/>
                          </a:solidFill>
                          <a:latin typeface="Calibri"/>
                        </a:rPr>
                        <a:t>Workload/power join coverage</a:t>
                      </a:r>
                    </a:p>
                  </a:txBody>
                  <a:tcPr marT="38100" marB="38100" anchor="ctr">
                    <a:solidFill>
                      <a:srgbClr val="F1F4F6"/>
                    </a:solidFill>
                  </a:tcPr>
                </a:tc>
                <a:tc>
                  <a:txBody>
                    <a:bodyPr/>
                    <a:lstStyle/>
                    <a:p>
                      <a:r>
                        <a:rPr sz="1300" b="0">
                          <a:solidFill>
                            <a:srgbClr val="1A1F24"/>
                          </a:solidFill>
                          <a:latin typeface="Calibri"/>
                        </a:rPr>
                        <a:t>≥ 95% of workload buckets matched a power bucket per cell (assert, not silently drop)</a:t>
                      </a:r>
                    </a:p>
                  </a:txBody>
                  <a:tcPr marT="38100" marB="38100" anchor="ctr">
                    <a:solidFill>
                      <a:srgbClr val="F1F4F6"/>
                    </a:solidFill>
                  </a:tcPr>
                </a:tc>
              </a:tr>
              <a:tr h="489204">
                <a:tc>
                  <a:txBody>
                    <a:bodyPr/>
                    <a:lstStyle/>
                    <a:p>
                      <a:r>
                        <a:rPr sz="1300" b="0">
                          <a:solidFill>
                            <a:srgbClr val="1A1F24"/>
                          </a:solidFill>
                          <a:latin typeface="Calibri"/>
                        </a:rPr>
                        <a:t>Chronology / leakage</a:t>
                      </a:r>
                    </a:p>
                  </a:txBody>
                  <a:tcPr marT="38100" marB="38100" anchor="ctr">
                    <a:solidFill>
                      <a:srgbClr val="FFFFFF"/>
                    </a:solidFill>
                  </a:tcPr>
                </a:tc>
                <a:tc>
                  <a:txBody>
                    <a:bodyPr/>
                    <a:lstStyle/>
                    <a:p>
                      <a:r>
                        <a:rPr sz="1300" b="0">
                          <a:solidFill>
                            <a:srgbClr val="1A1F24"/>
                          </a:solidFill>
                          <a:latin typeface="Calibri"/>
                        </a:rPr>
                        <a:t>train &lt; validation &lt; test bucket ranges enforced; GRU windows never cross a split</a:t>
                      </a:r>
                    </a:p>
                  </a:txBody>
                  <a:tcPr marT="38100" marB="38100" anchor="ctr">
                    <a:solidFill>
                      <a:srgbClr val="FFFFFF"/>
                    </a:solidFill>
                  </a:tcPr>
                </a:tc>
              </a:tr>
              <a:tr h="489204">
                <a:tc>
                  <a:txBody>
                    <a:bodyPr/>
                    <a:lstStyle/>
                    <a:p>
                      <a:r>
                        <a:rPr sz="1300" b="0">
                          <a:solidFill>
                            <a:srgbClr val="1A1F24"/>
                          </a:solidFill>
                          <a:latin typeface="Calibri"/>
                        </a:rPr>
                        <a:t>Config consistency</a:t>
                      </a:r>
                    </a:p>
                  </a:txBody>
                  <a:tcPr marT="38100" marB="38100" anchor="ctr">
                    <a:solidFill>
                      <a:srgbClr val="F1F4F6"/>
                    </a:solidFill>
                  </a:tcPr>
                </a:tc>
                <a:tc>
                  <a:txBody>
                    <a:bodyPr/>
                    <a:lstStyle/>
                    <a:p>
                      <a:r>
                        <a:rPr sz="1300" b="0">
                          <a:solidFill>
                            <a:srgbClr val="1A1F24"/>
                          </a:solidFill>
                          <a:latin typeface="Calibri"/>
                        </a:rPr>
                        <a:t>single source of truth for active cell set; n_zones derived from data, not configured</a:t>
                      </a:r>
                    </a:p>
                  </a:txBody>
                  <a:tcPr marT="38100" marB="38100" anchor="ctr">
                    <a:solidFill>
                      <a:srgbClr val="F1F4F6"/>
                    </a:solidFill>
                  </a:tcPr>
                </a:tc>
              </a:tr>
              <a:tr h="489204">
                <a:tc>
                  <a:txBody>
                    <a:bodyPr/>
                    <a:lstStyle/>
                    <a:p>
                      <a:r>
                        <a:rPr sz="1300" b="0">
                          <a:solidFill>
                            <a:srgbClr val="1A1F24"/>
                          </a:solidFill>
                          <a:latin typeface="Calibri"/>
                        </a:rPr>
                        <a:t>Extraction dry-run</a:t>
                      </a:r>
                    </a:p>
                  </a:txBody>
                  <a:tcPr marT="38100" marB="38100" anchor="ctr">
                    <a:solidFill>
                      <a:srgbClr val="FFFFFF"/>
                    </a:solidFill>
                  </a:tcPr>
                </a:tc>
                <a:tc>
                  <a:txBody>
                    <a:bodyPr/>
                    <a:lstStyle/>
                    <a:p>
                      <a:r>
                        <a:rPr sz="1300" b="0">
                          <a:solidFill>
                            <a:srgbClr val="1A1F24"/>
                          </a:solidFill>
                          <a:latin typeface="Calibri"/>
                        </a:rPr>
                        <a:t>every non-trivial BigQuery query cost-estimated before running for real</a:t>
                      </a:r>
                    </a:p>
                  </a:txBody>
                  <a:tcPr marT="38100" marB="3810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Current Data Availability</a:t>
            </a:r>
          </a:p>
        </p:txBody>
      </p:sp>
      <p:sp>
        <p:nvSpPr>
          <p:cNvPr id="3" name="Rounded Rectangle 2"/>
          <p:cNvSpPr/>
          <p:nvPr/>
        </p:nvSpPr>
        <p:spPr>
          <a:xfrm>
            <a:off x="822960" y="1417320"/>
            <a:ext cx="1298448"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FFFFFF"/>
                </a:solidFill>
                <a:latin typeface="Calibri"/>
              </a:rPr>
              <a:t>A</a:t>
            </a:r>
          </a:p>
          <a:p>
            <a:pPr algn="ctr"/>
            <a:r>
              <a:rPr sz="2000" b="0">
                <a:solidFill>
                  <a:srgbClr val="FFFFFF"/>
                </a:solidFill>
                <a:latin typeface="Calibri"/>
              </a:rPr>
              <a:t>✓</a:t>
            </a:r>
          </a:p>
        </p:txBody>
      </p:sp>
      <p:sp>
        <p:nvSpPr>
          <p:cNvPr id="4" name="Rounded Rectangle 3"/>
          <p:cNvSpPr/>
          <p:nvPr/>
        </p:nvSpPr>
        <p:spPr>
          <a:xfrm>
            <a:off x="2194560" y="1417320"/>
            <a:ext cx="1298448"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FFFFFF"/>
                </a:solidFill>
                <a:latin typeface="Calibri"/>
              </a:rPr>
              <a:t>B</a:t>
            </a:r>
          </a:p>
          <a:p>
            <a:pPr algn="ctr"/>
            <a:r>
              <a:rPr sz="2000" b="0">
                <a:solidFill>
                  <a:srgbClr val="FFFFFF"/>
                </a:solidFill>
                <a:latin typeface="Calibri"/>
              </a:rPr>
              <a:t>✓</a:t>
            </a:r>
          </a:p>
        </p:txBody>
      </p:sp>
      <p:sp>
        <p:nvSpPr>
          <p:cNvPr id="5" name="Rounded Rectangle 4"/>
          <p:cNvSpPr/>
          <p:nvPr/>
        </p:nvSpPr>
        <p:spPr>
          <a:xfrm>
            <a:off x="3566160" y="1417320"/>
            <a:ext cx="1298448"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FFFFFF"/>
                </a:solidFill>
                <a:latin typeface="Calibri"/>
              </a:rPr>
              <a:t>C</a:t>
            </a:r>
          </a:p>
          <a:p>
            <a:pPr algn="ctr"/>
            <a:r>
              <a:rPr sz="2000" b="0">
                <a:solidFill>
                  <a:srgbClr val="FFFFFF"/>
                </a:solidFill>
                <a:latin typeface="Calibri"/>
              </a:rPr>
              <a:t>✓</a:t>
            </a:r>
          </a:p>
        </p:txBody>
      </p:sp>
      <p:sp>
        <p:nvSpPr>
          <p:cNvPr id="6" name="Rounded Rectangle 5"/>
          <p:cNvSpPr/>
          <p:nvPr/>
        </p:nvSpPr>
        <p:spPr>
          <a:xfrm>
            <a:off x="4937760" y="1417320"/>
            <a:ext cx="1298448"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FFFFFF"/>
                </a:solidFill>
                <a:latin typeface="Calibri"/>
              </a:rPr>
              <a:t>D</a:t>
            </a:r>
          </a:p>
          <a:p>
            <a:pPr algn="ctr"/>
            <a:r>
              <a:rPr sz="2000" b="0">
                <a:solidFill>
                  <a:srgbClr val="FFFFFF"/>
                </a:solidFill>
                <a:latin typeface="Calibri"/>
              </a:rPr>
              <a:t>✓</a:t>
            </a:r>
          </a:p>
        </p:txBody>
      </p:sp>
      <p:sp>
        <p:nvSpPr>
          <p:cNvPr id="7" name="Rounded Rectangle 6"/>
          <p:cNvSpPr/>
          <p:nvPr/>
        </p:nvSpPr>
        <p:spPr>
          <a:xfrm>
            <a:off x="6309360" y="1417320"/>
            <a:ext cx="1298448" cy="777240"/>
          </a:xfrm>
          <a:prstGeom prst="roundRect">
            <a:avLst/>
          </a:prstGeom>
          <a:solidFill>
            <a:srgbClr val="E8C7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7A4B12"/>
                </a:solidFill>
                <a:latin typeface="Calibri"/>
              </a:rPr>
              <a:t>E</a:t>
            </a:r>
          </a:p>
          <a:p>
            <a:pPr algn="ctr"/>
            <a:r>
              <a:rPr sz="2000" b="0">
                <a:solidFill>
                  <a:srgbClr val="7A4B12"/>
                </a:solidFill>
                <a:latin typeface="Calibri"/>
              </a:rPr>
              <a:t>⏳</a:t>
            </a:r>
          </a:p>
        </p:txBody>
      </p:sp>
      <p:sp>
        <p:nvSpPr>
          <p:cNvPr id="8" name="Rounded Rectangle 7"/>
          <p:cNvSpPr/>
          <p:nvPr/>
        </p:nvSpPr>
        <p:spPr>
          <a:xfrm>
            <a:off x="7680960" y="1417320"/>
            <a:ext cx="1298448" cy="777240"/>
          </a:xfrm>
          <a:prstGeom prst="roundRect">
            <a:avLst/>
          </a:prstGeom>
          <a:solidFill>
            <a:srgbClr val="E8C7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7A4B12"/>
                </a:solidFill>
                <a:latin typeface="Calibri"/>
              </a:rPr>
              <a:t>F</a:t>
            </a:r>
          </a:p>
          <a:p>
            <a:pPr algn="ctr"/>
            <a:r>
              <a:rPr sz="2000" b="0">
                <a:solidFill>
                  <a:srgbClr val="7A4B12"/>
                </a:solidFill>
                <a:latin typeface="Calibri"/>
              </a:rPr>
              <a:t>⏳</a:t>
            </a:r>
          </a:p>
        </p:txBody>
      </p:sp>
      <p:sp>
        <p:nvSpPr>
          <p:cNvPr id="9" name="Rounded Rectangle 8"/>
          <p:cNvSpPr/>
          <p:nvPr/>
        </p:nvSpPr>
        <p:spPr>
          <a:xfrm>
            <a:off x="9052560" y="1417320"/>
            <a:ext cx="1298448" cy="777240"/>
          </a:xfrm>
          <a:prstGeom prst="roundRect">
            <a:avLst/>
          </a:prstGeom>
          <a:solidFill>
            <a:srgbClr val="E8C7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7A4B12"/>
                </a:solidFill>
                <a:latin typeface="Calibri"/>
              </a:rPr>
              <a:t>G</a:t>
            </a:r>
          </a:p>
          <a:p>
            <a:pPr algn="ctr"/>
            <a:r>
              <a:rPr sz="2000" b="0">
                <a:solidFill>
                  <a:srgbClr val="7A4B12"/>
                </a:solidFill>
                <a:latin typeface="Calibri"/>
              </a:rPr>
              <a:t>⏳</a:t>
            </a:r>
          </a:p>
        </p:txBody>
      </p:sp>
      <p:sp>
        <p:nvSpPr>
          <p:cNvPr id="10" name="Rounded Rectangle 9"/>
          <p:cNvSpPr/>
          <p:nvPr/>
        </p:nvSpPr>
        <p:spPr>
          <a:xfrm>
            <a:off x="10424160" y="1417320"/>
            <a:ext cx="1298448" cy="777240"/>
          </a:xfrm>
          <a:prstGeom prst="roundRect">
            <a:avLst/>
          </a:prstGeom>
          <a:solidFill>
            <a:srgbClr val="E8C7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2000" b="1">
                <a:solidFill>
                  <a:srgbClr val="7A4B12"/>
                </a:solidFill>
                <a:latin typeface="Calibri"/>
              </a:rPr>
              <a:t>H</a:t>
            </a:r>
          </a:p>
          <a:p>
            <a:pPr algn="ctr"/>
            <a:r>
              <a:rPr sz="2000" b="0">
                <a:solidFill>
                  <a:srgbClr val="7A4B12"/>
                </a:solidFill>
                <a:latin typeface="Calibri"/>
              </a:rPr>
              <a:t>⏳</a:t>
            </a:r>
          </a:p>
        </p:txBody>
      </p:sp>
      <p:sp>
        <p:nvSpPr>
          <p:cNvPr id="11" name="TextBox 10"/>
          <p:cNvSpPr txBox="1"/>
          <p:nvPr/>
        </p:nvSpPr>
        <p:spPr>
          <a:xfrm>
            <a:off x="822960" y="2286000"/>
            <a:ext cx="10607040" cy="320040"/>
          </a:xfrm>
          <a:prstGeom prst="rect">
            <a:avLst/>
          </a:prstGeom>
          <a:noFill/>
        </p:spPr>
        <p:txBody>
          <a:bodyPr wrap="square" anchor="t" lIns="0" rIns="0" tIns="0" bIns="0">
            <a:spAutoFit/>
          </a:bodyPr>
          <a:lstStyle/>
          <a:p>
            <a:pPr algn="l">
              <a:lnSpc>
                <a:spcPct val="100000"/>
              </a:lnSpc>
            </a:pPr>
            <a:r>
              <a:rPr sz="1250" b="0" i="0">
                <a:solidFill>
                  <a:srgbClr val="5B666E"/>
                </a:solidFill>
                <a:latin typeface="Calibri"/>
              </a:rPr>
              <a:t>✓ = workload extracted &amp; validated     ⏳ = blocked by current BigQuery free-tier scan quota</a:t>
            </a:r>
          </a:p>
        </p:txBody>
      </p:sp>
      <p:graphicFrame>
        <p:nvGraphicFramePr>
          <p:cNvPr id="12" name="Table 11"/>
          <p:cNvGraphicFramePr>
            <a:graphicFrameLocks noGrp="1"/>
          </p:cNvGraphicFramePr>
          <p:nvPr/>
        </p:nvGraphicFramePr>
        <p:xfrm>
          <a:off x="822960" y="2880360"/>
          <a:ext cx="5852157" cy="3200400"/>
        </p:xfrm>
        <a:graphic>
          <a:graphicData uri="http://schemas.openxmlformats.org/drawingml/2006/table">
            <a:tbl>
              <a:tblPr firstRow="1" bandRow="1">
                <a:tableStyleId>{5C22544A-7EE6-4342-B048-85BDC9FD1C3A}</a:tableStyleId>
              </a:tblPr>
              <a:tblGrid>
                <a:gridCol w="836022"/>
                <a:gridCol w="1672045"/>
                <a:gridCol w="1672045"/>
                <a:gridCol w="1672045"/>
              </a:tblGrid>
              <a:tr h="355600">
                <a:tc>
                  <a:txBody>
                    <a:bodyPr/>
                    <a:lstStyle/>
                    <a:p>
                      <a:r>
                        <a:rPr sz="1300" b="1">
                          <a:solidFill>
                            <a:srgbClr val="FFFFFF"/>
                          </a:solidFill>
                          <a:latin typeface="Calibri"/>
                        </a:rPr>
                        <a:t>Cell</a:t>
                      </a:r>
                    </a:p>
                  </a:txBody>
                  <a:tcPr marT="50800" marB="50800">
                    <a:solidFill>
                      <a:srgbClr val="0B3D59"/>
                    </a:solidFill>
                  </a:tcPr>
                </a:tc>
                <a:tc>
                  <a:txBody>
                    <a:bodyPr/>
                    <a:lstStyle/>
                    <a:p>
                      <a:r>
                        <a:rPr sz="1300" b="1">
                          <a:solidFill>
                            <a:srgbClr val="FFFFFF"/>
                          </a:solidFill>
                          <a:latin typeface="Calibri"/>
                        </a:rPr>
                        <a:t>Workload</a:t>
                      </a:r>
                    </a:p>
                  </a:txBody>
                  <a:tcPr marT="50800" marB="50800">
                    <a:solidFill>
                      <a:srgbClr val="0B3D59"/>
                    </a:solidFill>
                  </a:tcPr>
                </a:tc>
                <a:tc>
                  <a:txBody>
                    <a:bodyPr/>
                    <a:lstStyle/>
                    <a:p>
                      <a:r>
                        <a:rPr sz="1300" b="1">
                          <a:solidFill>
                            <a:srgbClr val="FFFFFF"/>
                          </a:solidFill>
                          <a:latin typeface="Calibri"/>
                        </a:rPr>
                        <a:t>Power</a:t>
                      </a:r>
                    </a:p>
                  </a:txBody>
                  <a:tcPr marT="50800" marB="50800">
                    <a:solidFill>
                      <a:srgbClr val="0B3D59"/>
                    </a:solidFill>
                  </a:tcPr>
                </a:tc>
                <a:tc>
                  <a:txBody>
                    <a:bodyPr/>
                    <a:lstStyle/>
                    <a:p>
                      <a:r>
                        <a:rPr sz="1300" b="1">
                          <a:solidFill>
                            <a:srgbClr val="FFFFFF"/>
                          </a:solidFill>
                          <a:latin typeface="Calibri"/>
                        </a:rPr>
                        <a:t>Status</a:t>
                      </a:r>
                    </a:p>
                  </a:txBody>
                  <a:tcPr marT="50800" marB="50800">
                    <a:solidFill>
                      <a:srgbClr val="0B3D59"/>
                    </a:solidFill>
                  </a:tcPr>
                </a:tc>
              </a:tr>
              <a:tr h="355600">
                <a:tc>
                  <a:txBody>
                    <a:bodyPr/>
                    <a:lstStyle/>
                    <a:p>
                      <a:r>
                        <a:rPr sz="1250" b="0">
                          <a:solidFill>
                            <a:srgbClr val="1A1F24"/>
                          </a:solidFill>
                          <a:latin typeface="Calibri"/>
                        </a:rPr>
                        <a:t>A</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PILOT</a:t>
                      </a:r>
                    </a:p>
                  </a:txBody>
                  <a:tcPr marT="38100" marB="38100" anchor="ctr">
                    <a:solidFill>
                      <a:srgbClr val="FFFFFF"/>
                    </a:solidFill>
                  </a:tcPr>
                </a:tc>
              </a:tr>
              <a:tr h="355600">
                <a:tc>
                  <a:txBody>
                    <a:bodyPr/>
                    <a:lstStyle/>
                    <a:p>
                      <a:r>
                        <a:rPr sz="1250" b="0">
                          <a:solidFill>
                            <a:srgbClr val="1A1F24"/>
                          </a:solidFill>
                          <a:latin typeface="Calibri"/>
                        </a:rPr>
                        <a:t>B</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PILOT</a:t>
                      </a:r>
                    </a:p>
                  </a:txBody>
                  <a:tcPr marT="38100" marB="38100" anchor="ctr">
                    <a:solidFill>
                      <a:srgbClr val="F1F4F6"/>
                    </a:solidFill>
                  </a:tcPr>
                </a:tc>
              </a:tr>
              <a:tr h="355600">
                <a:tc>
                  <a:txBody>
                    <a:bodyPr/>
                    <a:lstStyle/>
                    <a:p>
                      <a:r>
                        <a:rPr sz="1250" b="0">
                          <a:solidFill>
                            <a:srgbClr val="1A1F24"/>
                          </a:solidFill>
                          <a:latin typeface="Calibri"/>
                        </a:rPr>
                        <a:t>C</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PILOT</a:t>
                      </a:r>
                    </a:p>
                  </a:txBody>
                  <a:tcPr marT="38100" marB="38100" anchor="ctr">
                    <a:solidFill>
                      <a:srgbClr val="FFFFFF"/>
                    </a:solidFill>
                  </a:tcPr>
                </a:tc>
              </a:tr>
              <a:tr h="355600">
                <a:tc>
                  <a:txBody>
                    <a:bodyPr/>
                    <a:lstStyle/>
                    <a:p>
                      <a:r>
                        <a:rPr sz="1250" b="0">
                          <a:solidFill>
                            <a:srgbClr val="1A1F24"/>
                          </a:solidFill>
                          <a:latin typeface="Calibri"/>
                        </a:rPr>
                        <a:t>D</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PILOT</a:t>
                      </a:r>
                    </a:p>
                  </a:txBody>
                  <a:tcPr marT="38100" marB="38100" anchor="ctr">
                    <a:solidFill>
                      <a:srgbClr val="F1F4F6"/>
                    </a:solidFill>
                  </a:tcPr>
                </a:tc>
              </a:tr>
              <a:tr h="355600">
                <a:tc>
                  <a:txBody>
                    <a:bodyPr/>
                    <a:lstStyle/>
                    <a:p>
                      <a:r>
                        <a:rPr sz="1250" b="0">
                          <a:solidFill>
                            <a:srgbClr val="1A1F24"/>
                          </a:solidFill>
                          <a:latin typeface="Calibri"/>
                        </a:rPr>
                        <a:t>E</a:t>
                      </a:r>
                    </a:p>
                  </a:txBody>
                  <a:tcPr marT="38100" marB="38100" anchor="ctr">
                    <a:solidFill>
                      <a:srgbClr val="FFFFFF"/>
                    </a:solidFill>
                  </a:tcPr>
                </a:tc>
                <a:tc>
                  <a:txBody>
                    <a:bodyPr/>
                    <a:lstStyle/>
                    <a:p>
                      <a:r>
                        <a:rPr sz="1250" b="0">
                          <a:solidFill>
                            <a:srgbClr val="1A1F24"/>
                          </a:solidFill>
                          <a:latin typeface="Calibri"/>
                        </a:rPr>
                        <a:t>blocked</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WAITING</a:t>
                      </a:r>
                    </a:p>
                  </a:txBody>
                  <a:tcPr marT="38100" marB="38100" anchor="ctr">
                    <a:solidFill>
                      <a:srgbClr val="FFFFFF"/>
                    </a:solidFill>
                  </a:tcPr>
                </a:tc>
              </a:tr>
              <a:tr h="355600">
                <a:tc>
                  <a:txBody>
                    <a:bodyPr/>
                    <a:lstStyle/>
                    <a:p>
                      <a:r>
                        <a:rPr sz="1250" b="0">
                          <a:solidFill>
                            <a:srgbClr val="1A1F24"/>
                          </a:solidFill>
                          <a:latin typeface="Calibri"/>
                        </a:rPr>
                        <a:t>F</a:t>
                      </a:r>
                    </a:p>
                  </a:txBody>
                  <a:tcPr marT="38100" marB="38100" anchor="ctr">
                    <a:solidFill>
                      <a:srgbClr val="F1F4F6"/>
                    </a:solidFill>
                  </a:tcPr>
                </a:tc>
                <a:tc>
                  <a:txBody>
                    <a:bodyPr/>
                    <a:lstStyle/>
                    <a:p>
                      <a:r>
                        <a:rPr sz="1250" b="0">
                          <a:solidFill>
                            <a:srgbClr val="1A1F24"/>
                          </a:solidFill>
                          <a:latin typeface="Calibri"/>
                        </a:rPr>
                        <a:t>blocked</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WAITING</a:t>
                      </a:r>
                    </a:p>
                  </a:txBody>
                  <a:tcPr marT="38100" marB="38100" anchor="ctr">
                    <a:solidFill>
                      <a:srgbClr val="F1F4F6"/>
                    </a:solidFill>
                  </a:tcPr>
                </a:tc>
              </a:tr>
              <a:tr h="355600">
                <a:tc>
                  <a:txBody>
                    <a:bodyPr/>
                    <a:lstStyle/>
                    <a:p>
                      <a:r>
                        <a:rPr sz="1250" b="0">
                          <a:solidFill>
                            <a:srgbClr val="1A1F24"/>
                          </a:solidFill>
                          <a:latin typeface="Calibri"/>
                        </a:rPr>
                        <a:t>G</a:t>
                      </a:r>
                    </a:p>
                  </a:txBody>
                  <a:tcPr marT="38100" marB="38100" anchor="ctr">
                    <a:solidFill>
                      <a:srgbClr val="FFFFFF"/>
                    </a:solidFill>
                  </a:tcPr>
                </a:tc>
                <a:tc>
                  <a:txBody>
                    <a:bodyPr/>
                    <a:lstStyle/>
                    <a:p>
                      <a:r>
                        <a:rPr sz="1250" b="0">
                          <a:solidFill>
                            <a:srgbClr val="1A1F24"/>
                          </a:solidFill>
                          <a:latin typeface="Calibri"/>
                        </a:rPr>
                        <a:t>blocked</a:t>
                      </a:r>
                    </a:p>
                  </a:txBody>
                  <a:tcPr marT="38100" marB="38100" anchor="ctr">
                    <a:solidFill>
                      <a:srgbClr val="FFFFFF"/>
                    </a:solidFill>
                  </a:tcPr>
                </a:tc>
                <a:tc>
                  <a:txBody>
                    <a:bodyPr/>
                    <a:lstStyle/>
                    <a:p>
                      <a:r>
                        <a:rPr sz="1250" b="0">
                          <a:solidFill>
                            <a:srgbClr val="1A1F24"/>
                          </a:solidFill>
                          <a:latin typeface="Calibri"/>
                        </a:rPr>
                        <a:t>available</a:t>
                      </a:r>
                    </a:p>
                  </a:txBody>
                  <a:tcPr marT="38100" marB="38100" anchor="ctr">
                    <a:solidFill>
                      <a:srgbClr val="FFFFFF"/>
                    </a:solidFill>
                  </a:tcPr>
                </a:tc>
                <a:tc>
                  <a:txBody>
                    <a:bodyPr/>
                    <a:lstStyle/>
                    <a:p>
                      <a:r>
                        <a:rPr sz="1250" b="0">
                          <a:solidFill>
                            <a:srgbClr val="1A1F24"/>
                          </a:solidFill>
                          <a:latin typeface="Calibri"/>
                        </a:rPr>
                        <a:t>WAITING</a:t>
                      </a:r>
                    </a:p>
                  </a:txBody>
                  <a:tcPr marT="38100" marB="38100" anchor="ctr">
                    <a:solidFill>
                      <a:srgbClr val="FFFFFF"/>
                    </a:solidFill>
                  </a:tcPr>
                </a:tc>
              </a:tr>
              <a:tr h="355600">
                <a:tc>
                  <a:txBody>
                    <a:bodyPr/>
                    <a:lstStyle/>
                    <a:p>
                      <a:r>
                        <a:rPr sz="1250" b="0">
                          <a:solidFill>
                            <a:srgbClr val="1A1F24"/>
                          </a:solidFill>
                          <a:latin typeface="Calibri"/>
                        </a:rPr>
                        <a:t>H</a:t>
                      </a:r>
                    </a:p>
                  </a:txBody>
                  <a:tcPr marT="38100" marB="38100" anchor="ctr">
                    <a:solidFill>
                      <a:srgbClr val="F1F4F6"/>
                    </a:solidFill>
                  </a:tcPr>
                </a:tc>
                <a:tc>
                  <a:txBody>
                    <a:bodyPr/>
                    <a:lstStyle/>
                    <a:p>
                      <a:r>
                        <a:rPr sz="1250" b="0">
                          <a:solidFill>
                            <a:srgbClr val="1A1F24"/>
                          </a:solidFill>
                          <a:latin typeface="Calibri"/>
                        </a:rPr>
                        <a:t>blocked</a:t>
                      </a:r>
                    </a:p>
                  </a:txBody>
                  <a:tcPr marT="38100" marB="38100" anchor="ctr">
                    <a:solidFill>
                      <a:srgbClr val="F1F4F6"/>
                    </a:solidFill>
                  </a:tcPr>
                </a:tc>
                <a:tc>
                  <a:txBody>
                    <a:bodyPr/>
                    <a:lstStyle/>
                    <a:p>
                      <a:r>
                        <a:rPr sz="1250" b="0">
                          <a:solidFill>
                            <a:srgbClr val="1A1F24"/>
                          </a:solidFill>
                          <a:latin typeface="Calibri"/>
                        </a:rPr>
                        <a:t>available</a:t>
                      </a:r>
                    </a:p>
                  </a:txBody>
                  <a:tcPr marT="38100" marB="38100" anchor="ctr">
                    <a:solidFill>
                      <a:srgbClr val="F1F4F6"/>
                    </a:solidFill>
                  </a:tcPr>
                </a:tc>
                <a:tc>
                  <a:txBody>
                    <a:bodyPr/>
                    <a:lstStyle/>
                    <a:p>
                      <a:r>
                        <a:rPr sz="1250" b="0">
                          <a:solidFill>
                            <a:srgbClr val="1A1F24"/>
                          </a:solidFill>
                          <a:latin typeface="Calibri"/>
                        </a:rPr>
                        <a:t>WAITING</a:t>
                      </a:r>
                    </a:p>
                  </a:txBody>
                  <a:tcPr marT="38100" marB="38100" anchor="ctr">
                    <a:solidFill>
                      <a:srgbClr val="F1F4F6"/>
                    </a:solidFill>
                  </a:tcPr>
                </a:tc>
              </a:tr>
            </a:tbl>
          </a:graphicData>
        </a:graphic>
      </p:graphicFrame>
      <p:sp>
        <p:nvSpPr>
          <p:cNvPr id="13" name="Rounded Rectangle 12"/>
          <p:cNvSpPr/>
          <p:nvPr/>
        </p:nvSpPr>
        <p:spPr>
          <a:xfrm>
            <a:off x="6995160" y="2880360"/>
            <a:ext cx="4663440" cy="320040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4" name="TextBox 13"/>
          <p:cNvSpPr txBox="1"/>
          <p:nvPr/>
        </p:nvSpPr>
        <p:spPr>
          <a:xfrm>
            <a:off x="7269480" y="3108960"/>
            <a:ext cx="420624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This is a quota wait, not a data problem</a:t>
            </a:r>
          </a:p>
        </p:txBody>
      </p:sp>
      <p:sp>
        <p:nvSpPr>
          <p:cNvPr id="15" name="TextBox 14"/>
          <p:cNvSpPr txBox="1"/>
          <p:nvPr/>
        </p:nvSpPr>
        <p:spPr>
          <a:xfrm>
            <a:off x="7269480" y="3566160"/>
            <a:ext cx="4206240" cy="2377440"/>
          </a:xfrm>
          <a:prstGeom prst="rect">
            <a:avLst/>
          </a:prstGeom>
          <a:noFill/>
        </p:spPr>
        <p:txBody>
          <a:bodyPr wrap="square" lIns="0" rIns="0">
            <a:spAutoFit/>
          </a:bodyPr>
          <a:lstStyle/>
          <a:p>
            <a:pPr>
              <a:lnSpc>
                <a:spcPct val="108000"/>
              </a:lnSpc>
              <a:spcAft>
                <a:spcPts val="800"/>
              </a:spcAft>
            </a:pPr>
            <a:r>
              <a:rPr sz="1250" b="0">
                <a:solidFill>
                  <a:srgbClr val="1A1F24"/>
                </a:solidFill>
                <a:latin typeface="Calibri"/>
              </a:rPr>
              <a:t>•  BigQuery Sandbox (free tier) caps monthly bytes scanned; cells A–D already used most of it.</a:t>
            </a:r>
          </a:p>
          <a:p>
            <a:pPr>
              <a:lnSpc>
                <a:spcPct val="108000"/>
              </a:lnSpc>
              <a:spcAft>
                <a:spcPts val="800"/>
              </a:spcAft>
            </a:pPr>
            <a:r>
              <a:rPr sz="1250" b="0">
                <a:solidFill>
                  <a:srgbClr val="1A1F24"/>
                </a:solidFill>
                <a:latin typeface="Calibri"/>
              </a:rPr>
              <a:t>•  By explicit project decision: stay on the free tier and wait for the monthly reset, rather than enable billing.</a:t>
            </a:r>
          </a:p>
          <a:p>
            <a:pPr>
              <a:lnSpc>
                <a:spcPct val="108000"/>
              </a:lnSpc>
              <a:spcAft>
                <a:spcPts val="800"/>
              </a:spcAft>
            </a:pPr>
            <a:r>
              <a:rPr sz="1250" b="0">
                <a:solidFill>
                  <a:srgbClr val="1A1F24"/>
                </a:solidFill>
                <a:latin typeface="Calibri"/>
              </a:rPr>
              <a:t>•  The extraction query for E–H is written, cost-estimated (~627 GiB combined), and tested live — it needs zero code changes once the quota resets.</a:t>
            </a:r>
          </a:p>
          <a:p>
            <a:pPr>
              <a:lnSpc>
                <a:spcPct val="108000"/>
              </a:lnSpc>
              <a:spcAft>
                <a:spcPts val="800"/>
              </a:spcAft>
            </a:pPr>
            <a:r>
              <a:rPr sz="1250" b="0">
                <a:solidFill>
                  <a:srgbClr val="1A1F24"/>
                </a:solidFill>
                <a:latin typeface="Calibri"/>
              </a:rPr>
              <a:t>•  No synthetic or substitute data has been created for E–H at any 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End-to-End Version 2 Architecture</a:t>
            </a:r>
          </a:p>
        </p:txBody>
      </p:sp>
      <p:sp>
        <p:nvSpPr>
          <p:cNvPr id="3" name="Rounded Rectangle 2"/>
          <p:cNvSpPr/>
          <p:nvPr/>
        </p:nvSpPr>
        <p:spPr>
          <a:xfrm>
            <a:off x="640080" y="1234440"/>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ClusterData2019 (official)</a:t>
            </a:r>
          </a:p>
        </p:txBody>
      </p:sp>
      <p:cxnSp>
        <p:nvCxnSpPr>
          <p:cNvPr id="4" name="Connector 3"/>
          <p:cNvCxnSpPr/>
          <p:nvPr/>
        </p:nvCxnSpPr>
        <p:spPr>
          <a:xfrm>
            <a:off x="2400300.0" y="1691640"/>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10512"/>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Cell-level workload aggregation</a:t>
            </a:r>
          </a:p>
        </p:txBody>
      </p:sp>
      <p:cxnSp>
        <p:nvCxnSpPr>
          <p:cNvPr id="6" name="Connector 5"/>
          <p:cNvCxnSpPr/>
          <p:nvPr/>
        </p:nvCxnSpPr>
        <p:spPr>
          <a:xfrm>
            <a:off x="2400300.0" y="2267712"/>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2386584"/>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Temporal preprocessing + split</a:t>
            </a:r>
          </a:p>
        </p:txBody>
      </p:sp>
      <p:cxnSp>
        <p:nvCxnSpPr>
          <p:cNvPr id="8" name="Connector 7"/>
          <p:cNvCxnSpPr/>
          <p:nvPr/>
        </p:nvCxnSpPr>
        <p:spPr>
          <a:xfrm>
            <a:off x="2400300.0" y="2843784"/>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 y="2962656"/>
            <a:ext cx="3520440" cy="45720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GRU forecasting</a:t>
            </a:r>
          </a:p>
        </p:txBody>
      </p:sp>
      <p:sp>
        <p:nvSpPr>
          <p:cNvPr id="10" name="Rounded Rectangle 9"/>
          <p:cNvSpPr/>
          <p:nvPr/>
        </p:nvSpPr>
        <p:spPr>
          <a:xfrm>
            <a:off x="4434840" y="1234440"/>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PowerData2019 (official)</a:t>
            </a:r>
          </a:p>
        </p:txBody>
      </p:sp>
      <p:cxnSp>
        <p:nvCxnSpPr>
          <p:cNvPr id="11" name="Connector 10"/>
          <p:cNvCxnSpPr/>
          <p:nvPr/>
        </p:nvCxnSpPr>
        <p:spPr>
          <a:xfrm>
            <a:off x="6195060.0" y="1691640"/>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34840" y="1810512"/>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Workload ↔ power alignment</a:t>
            </a:r>
          </a:p>
        </p:txBody>
      </p:sp>
      <p:cxnSp>
        <p:nvCxnSpPr>
          <p:cNvPr id="13" name="Connector 12"/>
          <p:cNvCxnSpPr/>
          <p:nvPr/>
        </p:nvCxnSpPr>
        <p:spPr>
          <a:xfrm>
            <a:off x="6195060.0" y="2267712"/>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2386584"/>
            <a:ext cx="3520440" cy="45720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Empirical power model</a:t>
            </a:r>
          </a:p>
        </p:txBody>
      </p:sp>
      <p:cxnSp>
        <p:nvCxnSpPr>
          <p:cNvPr id="15" name="Connector 14"/>
          <p:cNvCxnSpPr/>
          <p:nvPr/>
        </p:nvCxnSpPr>
        <p:spPr>
          <a:xfrm>
            <a:off x="6195060.0" y="2843784"/>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34840" y="2962656"/>
            <a:ext cx="352044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Heat generation</a:t>
            </a:r>
          </a:p>
        </p:txBody>
      </p:sp>
      <p:cxnSp>
        <p:nvCxnSpPr>
          <p:cNvPr id="17" name="Connector 16"/>
          <p:cNvCxnSpPr/>
          <p:nvPr/>
        </p:nvCxnSpPr>
        <p:spPr>
          <a:xfrm flipV="1">
            <a:off x="2400300.0" y="3675888"/>
            <a:ext cx="0.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195060.0" y="3675888"/>
            <a:ext cx="0.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 y="3675888"/>
            <a:ext cx="7315200" cy="420624"/>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Three-zone thermal environment</a:t>
            </a:r>
          </a:p>
        </p:txBody>
      </p:sp>
      <p:cxnSp>
        <p:nvCxnSpPr>
          <p:cNvPr id="20" name="Connector 19"/>
          <p:cNvCxnSpPr/>
          <p:nvPr/>
        </p:nvCxnSpPr>
        <p:spPr>
          <a:xfrm>
            <a:off x="4297680.0" y="4096512"/>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2064" y="4279392"/>
            <a:ext cx="117043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Fixed</a:t>
            </a:r>
          </a:p>
        </p:txBody>
      </p:sp>
      <p:sp>
        <p:nvSpPr>
          <p:cNvPr id="22" name="Rounded Rectangle 21"/>
          <p:cNvSpPr/>
          <p:nvPr/>
        </p:nvSpPr>
        <p:spPr>
          <a:xfrm>
            <a:off x="1792224" y="4279392"/>
            <a:ext cx="117043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Threshold</a:t>
            </a:r>
          </a:p>
        </p:txBody>
      </p:sp>
      <p:sp>
        <p:nvSpPr>
          <p:cNvPr id="23" name="Rounded Rectangle 22"/>
          <p:cNvSpPr/>
          <p:nvPr/>
        </p:nvSpPr>
        <p:spPr>
          <a:xfrm>
            <a:off x="3072384" y="4279392"/>
            <a:ext cx="117043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PID</a:t>
            </a:r>
          </a:p>
        </p:txBody>
      </p:sp>
      <p:sp>
        <p:nvSpPr>
          <p:cNvPr id="24" name="Rounded Rectangle 23"/>
          <p:cNvSpPr/>
          <p:nvPr/>
        </p:nvSpPr>
        <p:spPr>
          <a:xfrm>
            <a:off x="4352544" y="4279392"/>
            <a:ext cx="117043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MPC</a:t>
            </a:r>
          </a:p>
        </p:txBody>
      </p:sp>
      <p:sp>
        <p:nvSpPr>
          <p:cNvPr id="25" name="Rounded Rectangle 24"/>
          <p:cNvSpPr/>
          <p:nvPr/>
        </p:nvSpPr>
        <p:spPr>
          <a:xfrm>
            <a:off x="5632704" y="4279392"/>
            <a:ext cx="1170432"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PPO</a:t>
            </a:r>
          </a:p>
        </p:txBody>
      </p:sp>
      <p:sp>
        <p:nvSpPr>
          <p:cNvPr id="26" name="Rounded Rectangle 25"/>
          <p:cNvSpPr/>
          <p:nvPr/>
        </p:nvSpPr>
        <p:spPr>
          <a:xfrm>
            <a:off x="6912864" y="4279392"/>
            <a:ext cx="1170432"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MAPPO</a:t>
            </a:r>
          </a:p>
        </p:txBody>
      </p:sp>
      <p:cxnSp>
        <p:nvCxnSpPr>
          <p:cNvPr id="27" name="Connector 26"/>
          <p:cNvCxnSpPr/>
          <p:nvPr/>
        </p:nvCxnSpPr>
        <p:spPr>
          <a:xfrm>
            <a:off x="4297680.0" y="4663440"/>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 y="4846320"/>
            <a:ext cx="7315200" cy="36576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Safety shield</a:t>
            </a:r>
          </a:p>
        </p:txBody>
      </p:sp>
      <p:cxnSp>
        <p:nvCxnSpPr>
          <p:cNvPr id="29" name="Connector 28"/>
          <p:cNvCxnSpPr/>
          <p:nvPr/>
        </p:nvCxnSpPr>
        <p:spPr>
          <a:xfrm>
            <a:off x="4297680.0" y="5212080"/>
            <a:ext cx="0.0" cy="16459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40080" y="5376672"/>
            <a:ext cx="7315200" cy="40233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Evaluation → ablations + robustness → results</a:t>
            </a:r>
          </a:p>
        </p:txBody>
      </p:sp>
      <p:sp>
        <p:nvSpPr>
          <p:cNvPr id="31" name="Rounded Rectangle 30"/>
          <p:cNvSpPr/>
          <p:nvPr/>
        </p:nvSpPr>
        <p:spPr>
          <a:xfrm>
            <a:off x="8229600" y="1371600"/>
            <a:ext cx="3429000" cy="489204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32" name="TextBox 31"/>
          <p:cNvSpPr txBox="1"/>
          <p:nvPr/>
        </p:nvSpPr>
        <p:spPr>
          <a:xfrm>
            <a:off x="8458200" y="1554480"/>
            <a:ext cx="2971800" cy="365760"/>
          </a:xfrm>
          <a:prstGeom prst="rect">
            <a:avLst/>
          </a:prstGeom>
          <a:noFill/>
        </p:spPr>
        <p:txBody>
          <a:bodyPr wrap="square" anchor="t" lIns="0" rIns="0" tIns="0" bIns="0">
            <a:spAutoFit/>
          </a:bodyPr>
          <a:lstStyle/>
          <a:p>
            <a:pPr algn="l">
              <a:lnSpc>
                <a:spcPct val="100000"/>
              </a:lnSpc>
            </a:pPr>
            <a:r>
              <a:rPr sz="1300" b="1" i="0">
                <a:solidFill>
                  <a:srgbClr val="0B3D59"/>
                </a:solidFill>
                <a:latin typeface="Calibri"/>
              </a:rPr>
              <a:t>Read this diagram as:</a:t>
            </a:r>
          </a:p>
        </p:txBody>
      </p:sp>
      <p:sp>
        <p:nvSpPr>
          <p:cNvPr id="33" name="TextBox 32"/>
          <p:cNvSpPr txBox="1"/>
          <p:nvPr/>
        </p:nvSpPr>
        <p:spPr>
          <a:xfrm>
            <a:off x="8458200" y="1965960"/>
            <a:ext cx="3017520" cy="4114800"/>
          </a:xfrm>
          <a:prstGeom prst="rect">
            <a:avLst/>
          </a:prstGeom>
          <a:noFill/>
        </p:spPr>
        <p:txBody>
          <a:bodyPr wrap="square" lIns="0" rIns="0">
            <a:spAutoFit/>
          </a:bodyPr>
          <a:lstStyle/>
          <a:p>
            <a:pPr>
              <a:lnSpc>
                <a:spcPct val="108000"/>
              </a:lnSpc>
              <a:spcAft>
                <a:spcPts val="900"/>
              </a:spcAft>
            </a:pPr>
            <a:r>
              <a:rPr sz="1200" b="0">
                <a:solidFill>
                  <a:srgbClr val="1A1F24"/>
                </a:solidFill>
                <a:latin typeface="Calibri"/>
              </a:rPr>
              <a:t>•  Two independent official Google traces feed the pipeline from the top.</a:t>
            </a:r>
          </a:p>
          <a:p>
            <a:pPr>
              <a:lnSpc>
                <a:spcPct val="108000"/>
              </a:lnSpc>
              <a:spcAft>
                <a:spcPts val="900"/>
              </a:spcAft>
            </a:pPr>
            <a:r>
              <a:rPr sz="1200" b="0">
                <a:solidFill>
                  <a:srgbClr val="1A1F24"/>
                </a:solidFill>
                <a:latin typeface="Calibri"/>
              </a:rPr>
              <a:t>•  They meet only at the thermal model, through heat generation.</a:t>
            </a:r>
          </a:p>
          <a:p>
            <a:pPr>
              <a:lnSpc>
                <a:spcPct val="108000"/>
              </a:lnSpc>
              <a:spcAft>
                <a:spcPts val="900"/>
              </a:spcAft>
            </a:pPr>
            <a:r>
              <a:rPr sz="1200" b="0">
                <a:solidFill>
                  <a:srgbClr val="1A1F24"/>
                </a:solidFill>
                <a:latin typeface="Calibri"/>
              </a:rPr>
              <a:t>•  Every controller runs on the SAME environment — required for a fair comparison.</a:t>
            </a:r>
          </a:p>
          <a:p>
            <a:pPr>
              <a:lnSpc>
                <a:spcPct val="108000"/>
              </a:lnSpc>
              <a:spcAft>
                <a:spcPts val="900"/>
              </a:spcAft>
            </a:pPr>
            <a:r>
              <a:rPr sz="1200" b="0">
                <a:solidFill>
                  <a:srgbClr val="1A1F24"/>
                </a:solidFill>
                <a:latin typeface="Calibri"/>
              </a:rPr>
              <a:t>•  The safety shield sits between every controller and the physics, always.</a:t>
            </a:r>
          </a:p>
          <a:p>
            <a:pPr>
              <a:lnSpc>
                <a:spcPct val="108000"/>
              </a:lnSpc>
              <a:spcAft>
                <a:spcPts val="900"/>
              </a:spcAft>
            </a:pPr>
            <a:r>
              <a:rPr sz="1200" b="0">
                <a:solidFill>
                  <a:srgbClr val="1A1F24"/>
                </a:solidFill>
                <a:latin typeface="Calibri"/>
              </a:rPr>
              <a:t>•  Orange boxes are the machine-learned components (GRU, power model, PPO, MAPPO).</a:t>
            </a:r>
          </a:p>
        </p:txBody>
      </p:sp>
      <p:sp>
        <p:nvSpPr>
          <p:cNvPr id="34" name="Rounded Rectangle 33"/>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Workload Preprocessing, Step by Step</a:t>
            </a:r>
          </a:p>
        </p:txBody>
      </p:sp>
      <p:sp>
        <p:nvSpPr>
          <p:cNvPr id="3" name="TextBox 2"/>
          <p:cNvSpPr txBox="1"/>
          <p:nvPr/>
        </p:nvSpPr>
        <p:spPr>
          <a:xfrm>
            <a:off x="548640" y="1417320"/>
            <a:ext cx="6035040" cy="4846320"/>
          </a:xfrm>
          <a:prstGeom prst="rect">
            <a:avLst/>
          </a:prstGeom>
          <a:noFill/>
        </p:spPr>
        <p:txBody>
          <a:bodyPr wrap="square" lIns="0" rIns="0">
            <a:spAutoFit/>
          </a:bodyPr>
          <a:lstStyle/>
          <a:p>
            <a:pPr>
              <a:lnSpc>
                <a:spcPct val="108000"/>
              </a:lnSpc>
              <a:spcAft>
                <a:spcPts val="1400"/>
              </a:spcAft>
            </a:pPr>
            <a:r>
              <a:rPr sz="1450" b="0">
                <a:solidFill>
                  <a:srgbClr val="1A1F24"/>
                </a:solidFill>
                <a:latin typeface="Calibri"/>
              </a:rPr>
              <a:t>•  1. Extract workload data (BigQuery, column-pruned, cost-estimated query)</a:t>
            </a:r>
          </a:p>
          <a:p>
            <a:pPr>
              <a:lnSpc>
                <a:spcPct val="108000"/>
              </a:lnSpc>
              <a:spcAft>
                <a:spcPts val="1400"/>
              </a:spcAft>
            </a:pPr>
            <a:r>
              <a:rPr sz="1450" b="0">
                <a:solidFill>
                  <a:srgbClr val="1A1F24"/>
                </a:solidFill>
                <a:latin typeface="Calibri"/>
              </a:rPr>
              <a:t>•  2. Identify relevant resource features (average_usage.cpus, average_usage.memory)</a:t>
            </a:r>
          </a:p>
          <a:p>
            <a:pPr>
              <a:lnSpc>
                <a:spcPct val="108000"/>
              </a:lnSpc>
              <a:spcAft>
                <a:spcPts val="1400"/>
              </a:spcAft>
            </a:pPr>
            <a:r>
              <a:rPr sz="1450" b="0">
                <a:solidFill>
                  <a:srgbClr val="1A1F24"/>
                </a:solidFill>
                <a:latin typeface="Calibri"/>
              </a:rPr>
              <a:t>•  3. Aggregate at Borg-cell level (sum across all active machines per cell, per bucket)</a:t>
            </a:r>
          </a:p>
          <a:p>
            <a:pPr>
              <a:lnSpc>
                <a:spcPct val="108000"/>
              </a:lnSpc>
              <a:spcAft>
                <a:spcPts val="1400"/>
              </a:spcAft>
            </a:pPr>
            <a:r>
              <a:rPr sz="1450" b="0">
                <a:solidFill>
                  <a:srgbClr val="1A1F24"/>
                </a:solidFill>
                <a:latin typeface="Calibri"/>
              </a:rPr>
              <a:t>•  4. Construct the temporal sequence (5-minute buckets, one row per cell per bucket)</a:t>
            </a:r>
          </a:p>
          <a:p>
            <a:pPr>
              <a:lnSpc>
                <a:spcPct val="108000"/>
              </a:lnSpc>
              <a:spcAft>
                <a:spcPts val="1400"/>
              </a:spcAft>
            </a:pPr>
            <a:r>
              <a:rPr sz="1450" b="0">
                <a:solidFill>
                  <a:srgbClr val="1A1F24"/>
                </a:solidFill>
                <a:latin typeface="Calibri"/>
              </a:rPr>
              <a:t>•  5. Handle missing values correctly (join-coverage assertion ≥ 95%, no silent fill)</a:t>
            </a:r>
          </a:p>
          <a:p>
            <a:pPr>
              <a:lnSpc>
                <a:spcPct val="108000"/>
              </a:lnSpc>
              <a:spcAft>
                <a:spcPts val="1400"/>
              </a:spcAft>
            </a:pPr>
            <a:r>
              <a:rPr sz="1450" b="0">
                <a:solidFill>
                  <a:srgbClr val="1A1F24"/>
                </a:solidFill>
                <a:latin typeface="Calibri"/>
              </a:rPr>
              <a:t>•  6. Normalize features (min-max fit on TRAIN split only, applied unchanged to val/test)</a:t>
            </a:r>
          </a:p>
          <a:p>
            <a:pPr>
              <a:lnSpc>
                <a:spcPct val="108000"/>
              </a:lnSpc>
              <a:spcAft>
                <a:spcPts val="1400"/>
              </a:spcAft>
            </a:pPr>
            <a:r>
              <a:rPr sz="1450" b="0">
                <a:solidFill>
                  <a:srgbClr val="1A1F24"/>
                </a:solidFill>
                <a:latin typeface="Calibri"/>
              </a:rPr>
              <a:t>•  7. Chronological train/validation/test split (60% / 20% / 20%, never shuffled)</a:t>
            </a:r>
          </a:p>
        </p:txBody>
      </p:sp>
      <p:sp>
        <p:nvSpPr>
          <p:cNvPr id="4" name="Rounded Rectangle 3"/>
          <p:cNvSpPr/>
          <p:nvPr/>
        </p:nvSpPr>
        <p:spPr>
          <a:xfrm>
            <a:off x="6858000" y="1417320"/>
            <a:ext cx="4754880" cy="192024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5" name="TextBox 4"/>
          <p:cNvSpPr txBox="1"/>
          <p:nvPr/>
        </p:nvSpPr>
        <p:spPr>
          <a:xfrm>
            <a:off x="7086600" y="1554480"/>
            <a:ext cx="4297680" cy="365760"/>
          </a:xfrm>
          <a:prstGeom prst="rect">
            <a:avLst/>
          </a:prstGeom>
          <a:noFill/>
        </p:spPr>
        <p:txBody>
          <a:bodyPr wrap="square" anchor="t" lIns="0" rIns="0" tIns="0" bIns="0">
            <a:spAutoFit/>
          </a:bodyPr>
          <a:lstStyle/>
          <a:p>
            <a:pPr algn="l">
              <a:lnSpc>
                <a:spcPct val="100000"/>
              </a:lnSpc>
            </a:pPr>
            <a:r>
              <a:rPr sz="1350" b="1" i="0">
                <a:solidFill>
                  <a:srgbClr val="0B3D59"/>
                </a:solidFill>
                <a:latin typeface="Calibri"/>
              </a:rPr>
              <a:t>Why NOT a random split?</a:t>
            </a:r>
          </a:p>
        </p:txBody>
      </p:sp>
      <p:sp>
        <p:nvSpPr>
          <p:cNvPr id="6" name="TextBox 5"/>
          <p:cNvSpPr txBox="1"/>
          <p:nvPr/>
        </p:nvSpPr>
        <p:spPr>
          <a:xfrm>
            <a:off x="7086600" y="1965960"/>
            <a:ext cx="4297680" cy="1280160"/>
          </a:xfrm>
          <a:prstGeom prst="rect">
            <a:avLst/>
          </a:prstGeom>
          <a:noFill/>
        </p:spPr>
        <p:txBody>
          <a:bodyPr wrap="square" anchor="t" lIns="0" rIns="0" tIns="0" bIns="0">
            <a:spAutoFit/>
          </a:bodyPr>
          <a:lstStyle/>
          <a:p>
            <a:pPr algn="l">
              <a:lnSpc>
                <a:spcPct val="120000"/>
              </a:lnSpc>
            </a:pPr>
            <a:r>
              <a:rPr sz="1250" b="0" i="0">
                <a:solidFill>
                  <a:srgbClr val="1A1F24"/>
                </a:solidFill>
                <a:latin typeface="Calibri"/>
              </a:rPr>
              <a:t>A random split lets the model see data from AFTER a test timestamp during training — information leakage. For a temporal forecasting problem, only a chronological split guarantees the model never learns from its own future.</a:t>
            </a:r>
          </a:p>
        </p:txBody>
      </p:sp>
      <p:sp>
        <p:nvSpPr>
          <p:cNvPr id="7" name="Rounded Rectangle 6"/>
          <p:cNvSpPr/>
          <p:nvPr/>
        </p:nvSpPr>
        <p:spPr>
          <a:xfrm>
            <a:off x="6858000" y="3657600"/>
            <a:ext cx="1051560" cy="6858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Raw workload
records</a:t>
            </a:r>
          </a:p>
        </p:txBody>
      </p:sp>
      <p:cxnSp>
        <p:nvCxnSpPr>
          <p:cNvPr id="8" name="Connector 7"/>
          <p:cNvCxnSpPr/>
          <p:nvPr/>
        </p:nvCxnSpPr>
        <p:spPr>
          <a:xfrm>
            <a:off x="7909560" y="4000500"/>
            <a:ext cx="118872"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3657600"/>
            <a:ext cx="1051560" cy="6858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Cell-level
feature table</a:t>
            </a:r>
          </a:p>
        </p:txBody>
      </p:sp>
      <p:cxnSp>
        <p:nvCxnSpPr>
          <p:cNvPr id="10" name="Connector 9"/>
          <p:cNvCxnSpPr/>
          <p:nvPr/>
        </p:nvCxnSpPr>
        <p:spPr>
          <a:xfrm>
            <a:off x="9098280" y="4000500"/>
            <a:ext cx="118872"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35440" y="3657600"/>
            <a:ext cx="1051560" cy="6858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Time-series
matrix</a:t>
            </a:r>
          </a:p>
        </p:txBody>
      </p:sp>
      <p:cxnSp>
        <p:nvCxnSpPr>
          <p:cNvPr id="12" name="Connector 11"/>
          <p:cNvCxnSpPr/>
          <p:nvPr/>
        </p:nvCxnSpPr>
        <p:spPr>
          <a:xfrm>
            <a:off x="10287000" y="4000500"/>
            <a:ext cx="118872"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424160" y="3657600"/>
            <a:ext cx="1051560" cy="68580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Model
sequences</a:t>
            </a:r>
          </a:p>
        </p:txBody>
      </p:sp>
      <p:sp>
        <p:nvSpPr>
          <p:cNvPr id="14" name="TextBox 13"/>
          <p:cNvSpPr txBox="1"/>
          <p:nvPr/>
        </p:nvSpPr>
        <p:spPr>
          <a:xfrm>
            <a:off x="6858000" y="4526280"/>
            <a:ext cx="4754880" cy="365760"/>
          </a:xfrm>
          <a:prstGeom prst="rect">
            <a:avLst/>
          </a:prstGeom>
          <a:noFill/>
        </p:spPr>
        <p:txBody>
          <a:bodyPr wrap="square" anchor="t" lIns="0" rIns="0" tIns="0" bIns="0">
            <a:spAutoFit/>
          </a:bodyPr>
          <a:lstStyle/>
          <a:p>
            <a:pPr algn="l">
              <a:lnSpc>
                <a:spcPct val="100000"/>
              </a:lnSpc>
            </a:pPr>
            <a:r>
              <a:rPr sz="1100" b="0" i="1">
                <a:solidFill>
                  <a:srgbClr val="5B666E"/>
                </a:solidFill>
                <a:latin typeface="Calibri"/>
              </a:rPr>
              <a:t>raw records → features → sequences → model input</a:t>
            </a:r>
          </a:p>
        </p:txBody>
      </p:sp>
      <p:sp>
        <p:nvSpPr>
          <p:cNvPr id="15" name="Rounded Rectangle 1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 Temporal Forecasting Problem</a:t>
            </a:r>
          </a:p>
        </p:txBody>
      </p:sp>
      <p:sp>
        <p:nvSpPr>
          <p:cNvPr id="3" name="Rounded Rectangle 2"/>
          <p:cNvSpPr/>
          <p:nvPr/>
        </p:nvSpPr>
        <p:spPr>
          <a:xfrm>
            <a:off x="822960" y="1554480"/>
            <a:ext cx="4206240" cy="5486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Past workload window
(48 steps = 4 hours of history)</a:t>
            </a:r>
          </a:p>
        </p:txBody>
      </p:sp>
      <p:cxnSp>
        <p:nvCxnSpPr>
          <p:cNvPr id="4" name="Connector 3"/>
          <p:cNvCxnSpPr/>
          <p:nvPr/>
        </p:nvCxnSpPr>
        <p:spPr>
          <a:xfrm>
            <a:off x="2926080" y="2103120"/>
            <a:ext cx="0" cy="27432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828800" y="2377440"/>
            <a:ext cx="2194560" cy="54864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Calibri"/>
              </a:rPr>
              <a:t>GRU</a:t>
            </a:r>
          </a:p>
        </p:txBody>
      </p:sp>
      <p:cxnSp>
        <p:nvCxnSpPr>
          <p:cNvPr id="6" name="Connector 5"/>
          <p:cNvCxnSpPr/>
          <p:nvPr/>
        </p:nvCxnSpPr>
        <p:spPr>
          <a:xfrm>
            <a:off x="2926080" y="2926080"/>
            <a:ext cx="0" cy="27432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22960" y="3200400"/>
            <a:ext cx="4206240" cy="5486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Future workload
(6 steps = 30 minutes ahead)</a:t>
            </a:r>
          </a:p>
        </p:txBody>
      </p:sp>
      <p:sp>
        <p:nvSpPr>
          <p:cNvPr id="8" name="Rounded Rectangle 7"/>
          <p:cNvSpPr/>
          <p:nvPr/>
        </p:nvSpPr>
        <p:spPr>
          <a:xfrm>
            <a:off x="5577840" y="1554480"/>
            <a:ext cx="6035040" cy="448056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9" name="TextBox 8"/>
          <p:cNvSpPr txBox="1"/>
          <p:nvPr/>
        </p:nvSpPr>
        <p:spPr>
          <a:xfrm>
            <a:off x="5852160" y="1737360"/>
            <a:ext cx="548640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Exact pilot configuration</a:t>
            </a:r>
          </a:p>
        </p:txBody>
      </p:sp>
      <p:graphicFrame>
        <p:nvGraphicFramePr>
          <p:cNvPr id="10" name="Table 9"/>
          <p:cNvGraphicFramePr>
            <a:graphicFrameLocks noGrp="1"/>
          </p:cNvGraphicFramePr>
          <p:nvPr/>
        </p:nvGraphicFramePr>
        <p:xfrm>
          <a:off x="5852160" y="2148840"/>
          <a:ext cx="5486400" cy="2651760"/>
        </p:xfrm>
        <a:graphic>
          <a:graphicData uri="http://schemas.openxmlformats.org/drawingml/2006/table">
            <a:tbl>
              <a:tblPr firstRow="1" bandRow="1">
                <a:tableStyleId>{5C22544A-7EE6-4342-B048-85BDC9FD1C3A}</a:tableStyleId>
              </a:tblPr>
              <a:tblGrid>
                <a:gridCol w="2011680"/>
                <a:gridCol w="3474720"/>
              </a:tblGrid>
              <a:tr h="378822">
                <a:tc>
                  <a:txBody>
                    <a:bodyPr/>
                    <a:lstStyle/>
                    <a:p>
                      <a:r>
                        <a:rPr sz="1300" b="1">
                          <a:solidFill>
                            <a:srgbClr val="FFFFFF"/>
                          </a:solidFill>
                          <a:latin typeface="Calibri"/>
                        </a:rPr>
                        <a:t>Setting</a:t>
                      </a:r>
                    </a:p>
                  </a:txBody>
                  <a:tcPr marT="50800" marB="50800">
                    <a:solidFill>
                      <a:srgbClr val="0B3D59"/>
                    </a:solidFill>
                  </a:tcPr>
                </a:tc>
                <a:tc>
                  <a:txBody>
                    <a:bodyPr/>
                    <a:lstStyle/>
                    <a:p>
                      <a:r>
                        <a:rPr sz="1300" b="1">
                          <a:solidFill>
                            <a:srgbClr val="FFFFFF"/>
                          </a:solidFill>
                          <a:latin typeface="Calibri"/>
                        </a:rPr>
                        <a:t>Value</a:t>
                      </a:r>
                    </a:p>
                  </a:txBody>
                  <a:tcPr marT="50800" marB="50800">
                    <a:solidFill>
                      <a:srgbClr val="0B3D59"/>
                    </a:solidFill>
                  </a:tcPr>
                </a:tc>
              </a:tr>
              <a:tr h="378822">
                <a:tc>
                  <a:txBody>
                    <a:bodyPr/>
                    <a:lstStyle/>
                    <a:p>
                      <a:r>
                        <a:rPr sz="1250" b="0">
                          <a:solidFill>
                            <a:srgbClr val="1A1F24"/>
                          </a:solidFill>
                          <a:latin typeface="Calibri"/>
                        </a:rPr>
                        <a:t>Input history (lookback)</a:t>
                      </a:r>
                    </a:p>
                  </a:txBody>
                  <a:tcPr marT="38100" marB="38100" anchor="ctr">
                    <a:solidFill>
                      <a:srgbClr val="FFFFFF"/>
                    </a:solidFill>
                  </a:tcPr>
                </a:tc>
                <a:tc>
                  <a:txBody>
                    <a:bodyPr/>
                    <a:lstStyle/>
                    <a:p>
                      <a:r>
                        <a:rPr sz="1250" b="0">
                          <a:solidFill>
                            <a:srgbClr val="1A1F24"/>
                          </a:solidFill>
                          <a:latin typeface="Calibri"/>
                        </a:rPr>
                        <a:t>48 steps × 5 min = 4 hours</a:t>
                      </a:r>
                    </a:p>
                  </a:txBody>
                  <a:tcPr marT="38100" marB="38100" anchor="ctr">
                    <a:solidFill>
                      <a:srgbClr val="FFFFFF"/>
                    </a:solidFill>
                  </a:tcPr>
                </a:tc>
              </a:tr>
              <a:tr h="378822">
                <a:tc>
                  <a:txBody>
                    <a:bodyPr/>
                    <a:lstStyle/>
                    <a:p>
                      <a:r>
                        <a:rPr sz="1250" b="0">
                          <a:solidFill>
                            <a:srgbClr val="1A1F24"/>
                          </a:solidFill>
                          <a:latin typeface="Calibri"/>
                        </a:rPr>
                        <a:t>Forecast horizon</a:t>
                      </a:r>
                    </a:p>
                  </a:txBody>
                  <a:tcPr marT="38100" marB="38100" anchor="ctr">
                    <a:solidFill>
                      <a:srgbClr val="F1F4F6"/>
                    </a:solidFill>
                  </a:tcPr>
                </a:tc>
                <a:tc>
                  <a:txBody>
                    <a:bodyPr/>
                    <a:lstStyle/>
                    <a:p>
                      <a:r>
                        <a:rPr sz="1250" b="0">
                          <a:solidFill>
                            <a:srgbClr val="1A1F24"/>
                          </a:solidFill>
                          <a:latin typeface="Calibri"/>
                        </a:rPr>
                        <a:t>6 steps × 5 min = 30 minutes</a:t>
                      </a:r>
                    </a:p>
                  </a:txBody>
                  <a:tcPr marT="38100" marB="38100" anchor="ctr">
                    <a:solidFill>
                      <a:srgbClr val="F1F4F6"/>
                    </a:solidFill>
                  </a:tcPr>
                </a:tc>
              </a:tr>
              <a:tr h="378822">
                <a:tc>
                  <a:txBody>
                    <a:bodyPr/>
                    <a:lstStyle/>
                    <a:p>
                      <a:r>
                        <a:rPr sz="1250" b="0">
                          <a:solidFill>
                            <a:srgbClr val="1A1F24"/>
                          </a:solidFill>
                          <a:latin typeface="Calibri"/>
                        </a:rPr>
                        <a:t>Temporal resolution</a:t>
                      </a:r>
                    </a:p>
                  </a:txBody>
                  <a:tcPr marT="38100" marB="38100" anchor="ctr">
                    <a:solidFill>
                      <a:srgbClr val="FFFFFF"/>
                    </a:solidFill>
                  </a:tcPr>
                </a:tc>
                <a:tc>
                  <a:txBody>
                    <a:bodyPr/>
                    <a:lstStyle/>
                    <a:p>
                      <a:r>
                        <a:rPr sz="1250" b="0">
                          <a:solidFill>
                            <a:srgbClr val="1A1F24"/>
                          </a:solidFill>
                          <a:latin typeface="Calibri"/>
                        </a:rPr>
                        <a:t>5 minutes (native BigQuery extraction)</a:t>
                      </a:r>
                    </a:p>
                  </a:txBody>
                  <a:tcPr marT="38100" marB="38100" anchor="ctr">
                    <a:solidFill>
                      <a:srgbClr val="FFFFFF"/>
                    </a:solidFill>
                  </a:tcPr>
                </a:tc>
              </a:tr>
              <a:tr h="378822">
                <a:tc>
                  <a:txBody>
                    <a:bodyPr/>
                    <a:lstStyle/>
                    <a:p>
                      <a:r>
                        <a:rPr sz="1250" b="0">
                          <a:solidFill>
                            <a:srgbClr val="1A1F24"/>
                          </a:solidFill>
                          <a:latin typeface="Calibri"/>
                        </a:rPr>
                        <a:t>Target / feature</a:t>
                      </a:r>
                    </a:p>
                  </a:txBody>
                  <a:tcPr marT="38100" marB="38100" anchor="ctr">
                    <a:solidFill>
                      <a:srgbClr val="F1F4F6"/>
                    </a:solidFill>
                  </a:tcPr>
                </a:tc>
                <a:tc>
                  <a:txBody>
                    <a:bodyPr/>
                    <a:lstStyle/>
                    <a:p>
                      <a:r>
                        <a:rPr sz="1250" b="0">
                          <a:solidFill>
                            <a:srgbClr val="1A1F24"/>
                          </a:solidFill>
                          <a:latin typeface="Calibri"/>
                        </a:rPr>
                        <a:t>sum_cpu (summed CPU demand, per cell)</a:t>
                      </a:r>
                    </a:p>
                  </a:txBody>
                  <a:tcPr marT="38100" marB="38100" anchor="ctr">
                    <a:solidFill>
                      <a:srgbClr val="F1F4F6"/>
                    </a:solidFill>
                  </a:tcPr>
                </a:tc>
              </a:tr>
              <a:tr h="378822">
                <a:tc>
                  <a:txBody>
                    <a:bodyPr/>
                    <a:lstStyle/>
                    <a:p>
                      <a:r>
                        <a:rPr sz="1250" b="0">
                          <a:solidFill>
                            <a:srgbClr val="1A1F24"/>
                          </a:solidFill>
                          <a:latin typeface="Calibri"/>
                        </a:rPr>
                        <a:t>Hidden size / layers</a:t>
                      </a:r>
                    </a:p>
                  </a:txBody>
                  <a:tcPr marT="38100" marB="38100" anchor="ctr">
                    <a:solidFill>
                      <a:srgbClr val="FFFFFF"/>
                    </a:solidFill>
                  </a:tcPr>
                </a:tc>
                <a:tc>
                  <a:txBody>
                    <a:bodyPr/>
                    <a:lstStyle/>
                    <a:p>
                      <a:r>
                        <a:rPr sz="1250" b="0">
                          <a:solidFill>
                            <a:srgbClr val="1A1F24"/>
                          </a:solidFill>
                          <a:latin typeface="Calibri"/>
                        </a:rPr>
                        <a:t>32 / 1 (GRUForecaster)</a:t>
                      </a:r>
                    </a:p>
                  </a:txBody>
                  <a:tcPr marT="38100" marB="38100" anchor="ctr">
                    <a:solidFill>
                      <a:srgbClr val="FFFFFF"/>
                    </a:solidFill>
                  </a:tcPr>
                </a:tc>
              </a:tr>
              <a:tr h="378828">
                <a:tc>
                  <a:txBody>
                    <a:bodyPr/>
                    <a:lstStyle/>
                    <a:p>
                      <a:r>
                        <a:rPr sz="1250" b="0">
                          <a:solidFill>
                            <a:srgbClr val="1A1F24"/>
                          </a:solidFill>
                          <a:latin typeface="Calibri"/>
                        </a:rPr>
                        <a:t>Normalization</a:t>
                      </a:r>
                    </a:p>
                  </a:txBody>
                  <a:tcPr marT="38100" marB="38100" anchor="ctr">
                    <a:solidFill>
                      <a:srgbClr val="F1F4F6"/>
                    </a:solidFill>
                  </a:tcPr>
                </a:tc>
                <a:tc>
                  <a:txBody>
                    <a:bodyPr/>
                    <a:lstStyle/>
                    <a:p>
                      <a:r>
                        <a:rPr sz="1250" b="0">
                          <a:solidFill>
                            <a:srgbClr val="1A1F24"/>
                          </a:solidFill>
                          <a:latin typeface="Calibri"/>
                        </a:rPr>
                        <a:t>min-max, fit on TRAIN only</a:t>
                      </a:r>
                    </a:p>
                  </a:txBody>
                  <a:tcPr marT="38100" marB="38100" anchor="ctr">
                    <a:solidFill>
                      <a:srgbClr val="F1F4F6"/>
                    </a:solidFill>
                  </a:tcPr>
                </a:tc>
              </a:tr>
            </a:tbl>
          </a:graphicData>
        </a:graphic>
      </p:graphicFrame>
      <p:sp>
        <p:nvSpPr>
          <p:cNvPr id="11" name="TextBox 10"/>
          <p:cNvSpPr txBox="1"/>
          <p:nvPr/>
        </p:nvSpPr>
        <p:spPr>
          <a:xfrm>
            <a:off x="5852160" y="5029200"/>
            <a:ext cx="5486400" cy="822960"/>
          </a:xfrm>
          <a:prstGeom prst="rect">
            <a:avLst/>
          </a:prstGeom>
          <a:noFill/>
        </p:spPr>
        <p:txBody>
          <a:bodyPr wrap="square" anchor="t" lIns="0" rIns="0" tIns="0" bIns="0">
            <a:spAutoFit/>
          </a:bodyPr>
          <a:lstStyle/>
          <a:p>
            <a:pPr algn="l">
              <a:lnSpc>
                <a:spcPct val="115000"/>
              </a:lnSpc>
            </a:pPr>
            <a:r>
              <a:rPr sz="1200" b="0" i="1">
                <a:solidFill>
                  <a:srgbClr val="5B666E"/>
                </a:solidFill>
                <a:latin typeface="Calibri"/>
              </a:rPr>
              <a:t>Why forecast at all? A controller with a 30-minute early warning of rising workload can start cooling proactively instead of reacting after temperature has already climbed (slide 3).</a:t>
            </a:r>
          </a:p>
        </p:txBody>
      </p:sp>
      <p:sp>
        <p:nvSpPr>
          <p:cNvPr id="12" name="Rounded Rectangle 11"/>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Why a GRU?</a:t>
            </a:r>
          </a:p>
        </p:txBody>
      </p:sp>
      <p:sp>
        <p:nvSpPr>
          <p:cNvPr id="3" name="Rounded Rectangle 2"/>
          <p:cNvSpPr/>
          <p:nvPr/>
        </p:nvSpPr>
        <p:spPr>
          <a:xfrm>
            <a:off x="822960" y="1554480"/>
            <a:ext cx="4023360" cy="594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Input sequence
(workload history)</a:t>
            </a:r>
          </a:p>
        </p:txBody>
      </p:sp>
      <p:cxnSp>
        <p:nvCxnSpPr>
          <p:cNvPr id="4" name="Connector 3"/>
          <p:cNvCxnSpPr/>
          <p:nvPr/>
        </p:nvCxnSpPr>
        <p:spPr>
          <a:xfrm>
            <a:off x="2834640.0" y="2148840"/>
            <a:ext cx="0.0" cy="22860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2377440"/>
            <a:ext cx="4023360" cy="594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Update / reset gating</a:t>
            </a:r>
          </a:p>
        </p:txBody>
      </p:sp>
      <p:cxnSp>
        <p:nvCxnSpPr>
          <p:cNvPr id="6" name="Connector 5"/>
          <p:cNvCxnSpPr/>
          <p:nvPr/>
        </p:nvCxnSpPr>
        <p:spPr>
          <a:xfrm>
            <a:off x="2834640.0" y="2971800"/>
            <a:ext cx="0.0" cy="22860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22960" y="3200400"/>
            <a:ext cx="4023360" cy="594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Hidden state
(compressed memory)</a:t>
            </a:r>
          </a:p>
        </p:txBody>
      </p:sp>
      <p:cxnSp>
        <p:nvCxnSpPr>
          <p:cNvPr id="8" name="Connector 7"/>
          <p:cNvCxnSpPr/>
          <p:nvPr/>
        </p:nvCxnSpPr>
        <p:spPr>
          <a:xfrm>
            <a:off x="2834640.0" y="3794760"/>
            <a:ext cx="0.0" cy="22860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4023360"/>
            <a:ext cx="4023360" cy="5943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Future workload prediction</a:t>
            </a:r>
          </a:p>
        </p:txBody>
      </p:sp>
      <p:sp>
        <p:nvSpPr>
          <p:cNvPr id="10" name="Rounded Rectangle 9"/>
          <p:cNvSpPr/>
          <p:nvPr/>
        </p:nvSpPr>
        <p:spPr>
          <a:xfrm>
            <a:off x="5486400" y="1554480"/>
            <a:ext cx="6126480" cy="448056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1" name="TextBox 10"/>
          <p:cNvSpPr txBox="1"/>
          <p:nvPr/>
        </p:nvSpPr>
        <p:spPr>
          <a:xfrm>
            <a:off x="5760720" y="1737360"/>
            <a:ext cx="557784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What a GRU actually gives us</a:t>
            </a:r>
          </a:p>
        </p:txBody>
      </p:sp>
      <p:sp>
        <p:nvSpPr>
          <p:cNvPr id="12" name="TextBox 11"/>
          <p:cNvSpPr txBox="1"/>
          <p:nvPr/>
        </p:nvSpPr>
        <p:spPr>
          <a:xfrm>
            <a:off x="5760720" y="2194560"/>
            <a:ext cx="5577840" cy="3566160"/>
          </a:xfrm>
          <a:prstGeom prst="rect">
            <a:avLst/>
          </a:prstGeom>
          <a:noFill/>
        </p:spPr>
        <p:txBody>
          <a:bodyPr wrap="square" lIns="0" rIns="0">
            <a:spAutoFit/>
          </a:bodyPr>
          <a:lstStyle/>
          <a:p>
            <a:pPr>
              <a:lnSpc>
                <a:spcPct val="108000"/>
              </a:lnSpc>
              <a:spcAft>
                <a:spcPts val="1100"/>
              </a:spcAft>
            </a:pPr>
            <a:r>
              <a:rPr sz="1300" b="0">
                <a:solidFill>
                  <a:srgbClr val="1A1F24"/>
                </a:solidFill>
                <a:latin typeface="Calibri"/>
              </a:rPr>
              <a:t>•  Handles sequential dependence: today's prediction can depend on a pattern seen several hours back, not just the last data point.</a:t>
            </a:r>
          </a:p>
          <a:p>
            <a:pPr>
              <a:lnSpc>
                <a:spcPct val="108000"/>
              </a:lnSpc>
              <a:spcAft>
                <a:spcPts val="1100"/>
              </a:spcAft>
            </a:pPr>
            <a:r>
              <a:rPr sz="1300" b="0">
                <a:solidFill>
                  <a:srgbClr val="1A1F24"/>
                </a:solidFill>
                <a:latin typeface="Calibri"/>
              </a:rPr>
              <a:t>•  Gating (“update/reset”) lets it keep relevant history and discard noise, instead of treating every past step equally.</a:t>
            </a:r>
          </a:p>
          <a:p>
            <a:pPr>
              <a:lnSpc>
                <a:spcPct val="108000"/>
              </a:lnSpc>
              <a:spcAft>
                <a:spcPts val="1100"/>
              </a:spcAft>
            </a:pPr>
            <a:r>
              <a:rPr sz="1300" b="0">
                <a:solidFill>
                  <a:srgbClr val="1A1F24"/>
                </a:solidFill>
                <a:latin typeface="Calibri"/>
              </a:rPr>
              <a:t>•  Fewer parameters than an LSTM (no separate cell state) — a reasonable, well-understood choice for a pilot-scale forecasting problem.</a:t>
            </a:r>
          </a:p>
          <a:p>
            <a:pPr>
              <a:lnSpc>
                <a:spcPct val="108000"/>
              </a:lnSpc>
              <a:spcAft>
                <a:spcPts val="1100"/>
              </a:spcAft>
            </a:pPr>
            <a:r>
              <a:rPr sz="1300" b="0">
                <a:solidFill>
                  <a:srgbClr val="1A1F24"/>
                </a:solidFill>
                <a:latin typeface="Calibri"/>
              </a:rPr>
              <a:t>•  NOT claimed to be universally optimal — it is compared against two simple, transparent baselines on the very next slide, and has to beat them to be worth using at all.</a:t>
            </a:r>
          </a:p>
        </p:txBody>
      </p:sp>
      <p:sp>
        <p:nvSpPr>
          <p:cNvPr id="13" name="Rounded Rectangle 12"/>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Forecasting Baselines — Does the GRU Add Value?</a:t>
            </a:r>
          </a:p>
        </p:txBody>
      </p:sp>
      <p:pic>
        <p:nvPicPr>
          <p:cNvPr id="3" name="Picture 2" descr="forecast_comparison.png"/>
          <p:cNvPicPr>
            <a:picLocks noChangeAspect="1"/>
          </p:cNvPicPr>
          <p:nvPr/>
        </p:nvPicPr>
        <p:blipFill>
          <a:blip r:embed="rId2"/>
          <a:stretch>
            <a:fillRect/>
          </a:stretch>
        </p:blipFill>
        <p:spPr>
          <a:xfrm>
            <a:off x="887125" y="1417320"/>
            <a:ext cx="10417444" cy="3383280"/>
          </a:xfrm>
          <a:prstGeom prst="rect">
            <a:avLst/>
          </a:prstGeom>
        </p:spPr>
      </p:pic>
      <p:sp>
        <p:nvSpPr>
          <p:cNvPr id="4" name="TextBox 3"/>
          <p:cNvSpPr txBox="1"/>
          <p:nvPr/>
        </p:nvSpPr>
        <p:spPr>
          <a:xfrm>
            <a:off x="548640" y="4983480"/>
            <a:ext cx="11064240" cy="685800"/>
          </a:xfrm>
          <a:prstGeom prst="rect">
            <a:avLst/>
          </a:prstGeom>
          <a:noFill/>
        </p:spPr>
        <p:txBody>
          <a:bodyPr wrap="square" anchor="t" lIns="0" rIns="0" tIns="0" bIns="0">
            <a:spAutoFit/>
          </a:bodyPr>
          <a:lstStyle/>
          <a:p>
            <a:pPr algn="l">
              <a:lnSpc>
                <a:spcPct val="120000"/>
              </a:lnSpc>
            </a:pPr>
            <a:r>
              <a:rPr sz="1350" b="0" i="1">
                <a:solidFill>
                  <a:srgbClr val="1A1F24"/>
                </a:solidFill>
                <a:latin typeface="Calibri"/>
              </a:rPr>
              <a:t>The real question isn't ‘is R² high?’ — it's whether the GRU adds predictive value over simple strategies. Here it does: lower MAE/RMSE and higher R² than both persistence and moving-average, on the untouched test split.</a:t>
            </a:r>
          </a:p>
        </p:txBody>
      </p:sp>
      <p:sp>
        <p:nvSpPr>
          <p:cNvPr id="5" name="Rounded Rectangle 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What the Pilot GRU Result Actually Means</a:t>
            </a:r>
          </a:p>
        </p:txBody>
      </p:sp>
      <p:pic>
        <p:nvPicPr>
          <p:cNvPr id="3" name="Picture 2" descr="forecast_by_regime.png"/>
          <p:cNvPicPr>
            <a:picLocks noChangeAspect="1"/>
          </p:cNvPicPr>
          <p:nvPr/>
        </p:nvPicPr>
        <p:blipFill>
          <a:blip r:embed="rId2"/>
          <a:stretch>
            <a:fillRect/>
          </a:stretch>
        </p:blipFill>
        <p:spPr>
          <a:xfrm>
            <a:off x="548640" y="1417320"/>
            <a:ext cx="6495122" cy="3063240"/>
          </a:xfrm>
          <a:prstGeom prst="rect">
            <a:avLst/>
          </a:prstGeom>
        </p:spPr>
      </p:pic>
      <p:sp>
        <p:nvSpPr>
          <p:cNvPr id="4" name="TextBox 3"/>
          <p:cNvSpPr txBox="1"/>
          <p:nvPr/>
        </p:nvSpPr>
        <p:spPr>
          <a:xfrm>
            <a:off x="6858000" y="1417320"/>
            <a:ext cx="4846320" cy="3200400"/>
          </a:xfrm>
          <a:prstGeom prst="rect">
            <a:avLst/>
          </a:prstGeom>
          <a:noFill/>
        </p:spPr>
        <p:txBody>
          <a:bodyPr wrap="square" lIns="0" rIns="0">
            <a:spAutoFit/>
          </a:bodyPr>
          <a:lstStyle/>
          <a:p>
            <a:pPr>
              <a:lnSpc>
                <a:spcPct val="108000"/>
              </a:lnSpc>
              <a:spcAft>
                <a:spcPts val="900"/>
              </a:spcAft>
            </a:pPr>
            <a:r>
              <a:rPr sz="1300" b="0">
                <a:solidFill>
                  <a:srgbClr val="1A1F24"/>
                </a:solidFill>
                <a:latin typeface="Calibri"/>
              </a:rPr>
              <a:t>•  The workload contains real, learnable temporal structure — it is not noise.</a:t>
            </a:r>
          </a:p>
          <a:p>
            <a:pPr>
              <a:lnSpc>
                <a:spcPct val="108000"/>
              </a:lnSpc>
              <a:spcAft>
                <a:spcPts val="900"/>
              </a:spcAft>
            </a:pPr>
            <a:r>
              <a:rPr sz="1300" b="0">
                <a:solidFill>
                  <a:srgbClr val="1A1F24"/>
                </a:solidFill>
                <a:latin typeface="Calibri"/>
              </a:rPr>
              <a:t>•  GRU currently outperforms both pilot baselines on every metric on the held-out test split.</a:t>
            </a:r>
          </a:p>
          <a:p>
            <a:pPr>
              <a:lnSpc>
                <a:spcPct val="108000"/>
              </a:lnSpc>
              <a:spcAft>
                <a:spcPts val="900"/>
              </a:spcAft>
            </a:pPr>
            <a:r>
              <a:rPr sz="1300" b="0">
                <a:solidFill>
                  <a:srgbClr val="1A1F24"/>
                </a:solidFill>
                <a:latin typeface="Calibri"/>
              </a:rPr>
              <a:t>•  This is substantially stronger than V1's forecasting result (R² near zero on the sparse Kaggle signal).</a:t>
            </a:r>
          </a:p>
          <a:p>
            <a:pPr>
              <a:lnSpc>
                <a:spcPct val="108000"/>
              </a:lnSpc>
              <a:spcAft>
                <a:spcPts val="900"/>
              </a:spcAft>
            </a:pPr>
            <a:r>
              <a:rPr sz="1300" b="0">
                <a:solidFill>
                  <a:srgbClr val="1A1F24"/>
                </a:solidFill>
                <a:latin typeface="Calibri"/>
              </a:rPr>
              <a:t>•  Forecast quality degrades at burst load (top decile) — GRU R² drops to 0.18 there, still ahead of persistence's -0.62.</a:t>
            </a:r>
          </a:p>
          <a:p>
            <a:pPr>
              <a:lnSpc>
                <a:spcPct val="108000"/>
              </a:lnSpc>
              <a:spcAft>
                <a:spcPts val="900"/>
              </a:spcAft>
            </a:pPr>
            <a:r>
              <a:rPr sz="1300" b="0">
                <a:solidFill>
                  <a:srgbClr val="1A1F24"/>
                </a:solidFill>
                <a:latin typeface="Calibri"/>
              </a:rPr>
              <a:t>•  A–D is not the final 8-cell population — this is evidence of FEASIBILITY, not the final research claim.</a:t>
            </a:r>
          </a:p>
        </p:txBody>
      </p:sp>
      <p:sp>
        <p:nvSpPr>
          <p:cNvPr id="5" name="Rounded Rectangle 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Empirical Power Model</a:t>
            </a:r>
          </a:p>
        </p:txBody>
      </p:sp>
      <p:sp>
        <p:nvSpPr>
          <p:cNvPr id="3" name="Rounded Rectangle 2"/>
          <p:cNvSpPr/>
          <p:nvPr/>
        </p:nvSpPr>
        <p:spPr>
          <a:xfrm>
            <a:off x="640080" y="1417320"/>
            <a:ext cx="3566160"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Workload (sum_cpu, sum_mem, per cell)</a:t>
            </a:r>
          </a:p>
        </p:txBody>
      </p:sp>
      <p:cxnSp>
        <p:nvCxnSpPr>
          <p:cNvPr id="4" name="Connector 3"/>
          <p:cNvCxnSpPr/>
          <p:nvPr/>
        </p:nvCxnSpPr>
        <p:spPr>
          <a:xfrm>
            <a:off x="2423160.0" y="1984248"/>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2167128"/>
            <a:ext cx="3566160"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Empirical model
(fitted on TRAIN)</a:t>
            </a:r>
          </a:p>
        </p:txBody>
      </p:sp>
      <p:cxnSp>
        <p:nvCxnSpPr>
          <p:cNvPr id="6" name="Connector 5"/>
          <p:cNvCxnSpPr/>
          <p:nvPr/>
        </p:nvCxnSpPr>
        <p:spPr>
          <a:xfrm>
            <a:off x="2423160.0" y="2734056"/>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2916936"/>
            <a:ext cx="3566160"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Estimated power utilization</a:t>
            </a:r>
          </a:p>
        </p:txBody>
      </p:sp>
      <p:cxnSp>
        <p:nvCxnSpPr>
          <p:cNvPr id="8" name="Connector 7"/>
          <p:cNvCxnSpPr/>
          <p:nvPr/>
        </p:nvCxnSpPr>
        <p:spPr>
          <a:xfrm>
            <a:off x="2423160.0" y="3483864"/>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 y="3666744"/>
            <a:ext cx="3566160" cy="56692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Heat generation (× heat_scale_kw)</a:t>
            </a:r>
          </a:p>
        </p:txBody>
      </p:sp>
      <p:pic>
        <p:nvPicPr>
          <p:cNvPr id="10" name="Picture 9" descr="power_model_comparison.png"/>
          <p:cNvPicPr>
            <a:picLocks noChangeAspect="1"/>
          </p:cNvPicPr>
          <p:nvPr/>
        </p:nvPicPr>
        <p:blipFill>
          <a:blip r:embed="rId2"/>
          <a:stretch>
            <a:fillRect/>
          </a:stretch>
        </p:blipFill>
        <p:spPr>
          <a:xfrm>
            <a:off x="4663440" y="1417320"/>
            <a:ext cx="6318386" cy="3200400"/>
          </a:xfrm>
          <a:prstGeom prst="rect">
            <a:avLst/>
          </a:prstGeom>
        </p:spPr>
      </p:pic>
      <p:sp>
        <p:nvSpPr>
          <p:cNvPr id="11" name="TextBox 10"/>
          <p:cNvSpPr txBox="1"/>
          <p:nvPr/>
        </p:nvSpPr>
        <p:spPr>
          <a:xfrm>
            <a:off x="640080" y="4846320"/>
            <a:ext cx="10881360" cy="1554480"/>
          </a:xfrm>
          <a:prstGeom prst="rect">
            <a:avLst/>
          </a:prstGeom>
          <a:noFill/>
        </p:spPr>
        <p:txBody>
          <a:bodyPr wrap="square" anchor="t" lIns="0" rIns="0" tIns="0" bIns="0">
            <a:spAutoFit/>
          </a:bodyPr>
          <a:lstStyle/>
          <a:p>
            <a:pPr algn="l">
              <a:lnSpc>
                <a:spcPct val="125000"/>
              </a:lnSpc>
            </a:pPr>
            <a:r>
              <a:rPr sz="1350" b="0" i="0">
                <a:solidFill>
                  <a:srgbClr val="1A1F24"/>
                </a:solidFill>
                <a:latin typeface="Calibri"/>
              </a:rPr>
              <a:t>V2 anchors this model to OFFICIAL MEASURED Google power data (PowerData2019) — V1 had none and used a pure assumption. Four candidates were compared, selected on VALIDATION only: a Random Forest (sum_cpu, sum_mem, cell) wins with R² ≈ 0.780, MAE ≈ 0.014, RMSE ≈ 0.018 (fraction of PDU capacity). Residuals show a modest positive bias at high load (mean +0.015) — disclosed, not hidden.</a:t>
            </a:r>
          </a:p>
        </p:txBody>
      </p:sp>
      <p:sp>
        <p:nvSpPr>
          <p:cNvPr id="12" name="Rounded Rectangle 11"/>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Why Real Power Data Matters</a:t>
            </a:r>
          </a:p>
        </p:txBody>
      </p:sp>
      <p:sp>
        <p:nvSpPr>
          <p:cNvPr id="3" name="Rounded Rectangle 2"/>
          <p:cNvSpPr/>
          <p:nvPr/>
        </p:nvSpPr>
        <p:spPr>
          <a:xfrm>
            <a:off x="640080" y="1554480"/>
            <a:ext cx="5212080" cy="457200"/>
          </a:xfrm>
          <a:prstGeom prst="roundRect">
            <a:avLst/>
          </a:prstGeom>
          <a:solidFill>
            <a:srgbClr val="5B6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VERSION 1</a:t>
            </a:r>
          </a:p>
        </p:txBody>
      </p:sp>
      <p:sp>
        <p:nvSpPr>
          <p:cNvPr id="4" name="Rounded Rectangle 3"/>
          <p:cNvSpPr/>
          <p:nvPr/>
        </p:nvSpPr>
        <p:spPr>
          <a:xfrm>
            <a:off x="640080" y="2148840"/>
            <a:ext cx="521208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CPU / workload utilization</a:t>
            </a:r>
          </a:p>
        </p:txBody>
      </p:sp>
      <p:cxnSp>
        <p:nvCxnSpPr>
          <p:cNvPr id="5" name="Connector 4"/>
          <p:cNvCxnSpPr/>
          <p:nvPr/>
        </p:nvCxnSpPr>
        <p:spPr>
          <a:xfrm>
            <a:off x="3246120.0" y="2651760"/>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2834640"/>
            <a:ext cx="521208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ASSUMED linear formula
(never measured)</a:t>
            </a:r>
          </a:p>
        </p:txBody>
      </p:sp>
      <p:cxnSp>
        <p:nvCxnSpPr>
          <p:cNvPr id="7" name="Connector 6"/>
          <p:cNvCxnSpPr/>
          <p:nvPr/>
        </p:nvCxnSpPr>
        <p:spPr>
          <a:xfrm>
            <a:off x="3246120.0" y="3337560"/>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40080" y="3520440"/>
            <a:ext cx="521208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Simulated power</a:t>
            </a:r>
          </a:p>
        </p:txBody>
      </p:sp>
      <p:sp>
        <p:nvSpPr>
          <p:cNvPr id="9" name="Rounded Rectangle 8"/>
          <p:cNvSpPr/>
          <p:nvPr/>
        </p:nvSpPr>
        <p:spPr>
          <a:xfrm>
            <a:off x="6309360" y="1554480"/>
            <a:ext cx="5212080" cy="45720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Calibri"/>
              </a:rPr>
              <a:t>VERSION 2</a:t>
            </a:r>
          </a:p>
        </p:txBody>
      </p:sp>
      <p:sp>
        <p:nvSpPr>
          <p:cNvPr id="10" name="Rounded Rectangle 9"/>
          <p:cNvSpPr/>
          <p:nvPr/>
        </p:nvSpPr>
        <p:spPr>
          <a:xfrm>
            <a:off x="6309360" y="2148840"/>
            <a:ext cx="521208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Official Google workload</a:t>
            </a:r>
          </a:p>
        </p:txBody>
      </p:sp>
      <p:cxnSp>
        <p:nvCxnSpPr>
          <p:cNvPr id="11" name="Connector 10"/>
          <p:cNvCxnSpPr/>
          <p:nvPr/>
        </p:nvCxnSpPr>
        <p:spPr>
          <a:xfrm>
            <a:off x="8915400.0" y="2651760"/>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09360" y="2834640"/>
            <a:ext cx="5212080" cy="50292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Empirical model
(fitted, R²≈0.780)</a:t>
            </a:r>
          </a:p>
        </p:txBody>
      </p:sp>
      <p:cxnSp>
        <p:nvCxnSpPr>
          <p:cNvPr id="13" name="Connector 12"/>
          <p:cNvCxnSpPr/>
          <p:nvPr/>
        </p:nvCxnSpPr>
        <p:spPr>
          <a:xfrm>
            <a:off x="8915400.0" y="3337560"/>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309360" y="3520440"/>
            <a:ext cx="521208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Official MEASURED power
reference (PowerData2019)</a:t>
            </a:r>
          </a:p>
        </p:txBody>
      </p:sp>
      <p:sp>
        <p:nvSpPr>
          <p:cNvPr id="15" name="Rounded Rectangle 14"/>
          <p:cNvSpPr/>
          <p:nvPr/>
        </p:nvSpPr>
        <p:spPr>
          <a:xfrm>
            <a:off x="640080" y="4297680"/>
            <a:ext cx="10881360" cy="141732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6" name="TextBox 15"/>
          <p:cNvSpPr txBox="1"/>
          <p:nvPr/>
        </p:nvSpPr>
        <p:spPr>
          <a:xfrm>
            <a:off x="914400" y="4480560"/>
            <a:ext cx="10424160" cy="1188720"/>
          </a:xfrm>
          <a:prstGeom prst="rect">
            <a:avLst/>
          </a:prstGeom>
          <a:noFill/>
        </p:spPr>
        <p:txBody>
          <a:bodyPr wrap="square" lIns="0" rIns="0">
            <a:spAutoFit/>
          </a:bodyPr>
          <a:lstStyle/>
          <a:p>
            <a:pPr>
              <a:lnSpc>
                <a:spcPct val="108000"/>
              </a:lnSpc>
              <a:spcAft>
                <a:spcPts val="800"/>
              </a:spcAft>
            </a:pPr>
            <a:r>
              <a:rPr sz="1300" b="0">
                <a:solidFill>
                  <a:srgbClr val="1A1F24"/>
                </a:solidFill>
                <a:latin typeface="Calibri"/>
              </a:rPr>
              <a:t>•  The power model is now anchored to measured Google power data, not an assumption.</a:t>
            </a:r>
          </a:p>
          <a:p>
            <a:pPr>
              <a:lnSpc>
                <a:spcPct val="108000"/>
              </a:lnSpc>
              <a:spcAft>
                <a:spcPts val="800"/>
              </a:spcAft>
            </a:pPr>
            <a:r>
              <a:rPr sz="1300" b="0">
                <a:solidFill>
                  <a:srgbClr val="1A1F24"/>
                </a:solidFill>
                <a:latin typeface="Calibri"/>
              </a:rPr>
              <a:t>•  This does NOT automatically make the thermal model physically measured — model quality still has to be evaluated on its own (previous slide's residuals).</a:t>
            </a:r>
          </a:p>
        </p:txBody>
      </p:sp>
      <p:sp>
        <p:nvSpPr>
          <p:cNvPr id="17" name="Rounded Rectangle 16"/>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Three-Zone Thermal Model</a:t>
            </a:r>
          </a:p>
        </p:txBody>
      </p:sp>
      <p:sp>
        <p:nvSpPr>
          <p:cNvPr id="3" name="Oval 2"/>
          <p:cNvSpPr/>
          <p:nvPr/>
        </p:nvSpPr>
        <p:spPr>
          <a:xfrm>
            <a:off x="1188720" y="2468880"/>
            <a:ext cx="1554480" cy="7772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Zone 1
(cell a)</a:t>
            </a:r>
          </a:p>
        </p:txBody>
      </p:sp>
      <p:sp>
        <p:nvSpPr>
          <p:cNvPr id="4" name="Oval 3"/>
          <p:cNvSpPr/>
          <p:nvPr/>
        </p:nvSpPr>
        <p:spPr>
          <a:xfrm>
            <a:off x="3291840" y="1920240"/>
            <a:ext cx="1554480" cy="7772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Zone 2
(cell b)</a:t>
            </a:r>
          </a:p>
        </p:txBody>
      </p:sp>
      <p:sp>
        <p:nvSpPr>
          <p:cNvPr id="5" name="Oval 4"/>
          <p:cNvSpPr/>
          <p:nvPr/>
        </p:nvSpPr>
        <p:spPr>
          <a:xfrm>
            <a:off x="3291840" y="3474720"/>
            <a:ext cx="1554480" cy="77724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Zone 3
(cell c)</a:t>
            </a:r>
          </a:p>
        </p:txBody>
      </p:sp>
      <p:cxnSp>
        <p:nvCxnSpPr>
          <p:cNvPr id="6" name="Connector 5"/>
          <p:cNvCxnSpPr/>
          <p:nvPr/>
        </p:nvCxnSpPr>
        <p:spPr>
          <a:xfrm flipV="1">
            <a:off x="2743200" y="2304288"/>
            <a:ext cx="548640" cy="54864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743200" y="2377440"/>
            <a:ext cx="548640" cy="54864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3291840" y="2304288"/>
            <a:ext cx="1554480" cy="15544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291840" y="2377440"/>
            <a:ext cx="1554480" cy="15544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97280" y="4389120"/>
            <a:ext cx="3931920" cy="365760"/>
          </a:xfrm>
          <a:prstGeom prst="rect">
            <a:avLst/>
          </a:prstGeom>
          <a:noFill/>
        </p:spPr>
        <p:txBody>
          <a:bodyPr wrap="square" anchor="t" lIns="0" rIns="0" tIns="0" bIns="0">
            <a:spAutoFit/>
          </a:bodyPr>
          <a:lstStyle/>
          <a:p>
            <a:pPr algn="l">
              <a:lnSpc>
                <a:spcPct val="100000"/>
              </a:lnSpc>
            </a:pPr>
            <a:r>
              <a:rPr sz="1050" b="0" i="1">
                <a:solidFill>
                  <a:srgbClr val="5B666E"/>
                </a:solidFill>
                <a:latin typeface="Calibri"/>
              </a:rPr>
              <a:t>(4th zone, cell d, omitted here for clarity)</a:t>
            </a:r>
          </a:p>
        </p:txBody>
      </p:sp>
      <p:sp>
        <p:nvSpPr>
          <p:cNvPr id="11" name="Rounded Rectangle 10"/>
          <p:cNvSpPr/>
          <p:nvPr/>
        </p:nvSpPr>
        <p:spPr>
          <a:xfrm>
            <a:off x="6309360" y="1371600"/>
            <a:ext cx="5349240" cy="324612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2" name="TextBox 11"/>
          <p:cNvSpPr txBox="1"/>
          <p:nvPr/>
        </p:nvSpPr>
        <p:spPr>
          <a:xfrm>
            <a:off x="6583680" y="1554480"/>
            <a:ext cx="4846320" cy="365760"/>
          </a:xfrm>
          <a:prstGeom prst="rect">
            <a:avLst/>
          </a:prstGeom>
          <a:noFill/>
        </p:spPr>
        <p:txBody>
          <a:bodyPr wrap="square" anchor="t" lIns="0" rIns="0" tIns="0" bIns="0">
            <a:spAutoFit/>
          </a:bodyPr>
          <a:lstStyle/>
          <a:p>
            <a:pPr algn="l">
              <a:lnSpc>
                <a:spcPct val="100000"/>
              </a:lnSpc>
            </a:pPr>
            <a:r>
              <a:rPr sz="1350" b="1" i="0">
                <a:solidFill>
                  <a:srgbClr val="0B3D59"/>
                </a:solidFill>
                <a:latin typeface="Calibri"/>
              </a:rPr>
              <a:t>Per zone, every step:</a:t>
            </a:r>
          </a:p>
        </p:txBody>
      </p:sp>
      <p:sp>
        <p:nvSpPr>
          <p:cNvPr id="13" name="TextBox 12"/>
          <p:cNvSpPr txBox="1"/>
          <p:nvPr/>
        </p:nvSpPr>
        <p:spPr>
          <a:xfrm>
            <a:off x="6583680" y="1965960"/>
            <a:ext cx="4846320" cy="2468880"/>
          </a:xfrm>
          <a:prstGeom prst="rect">
            <a:avLst/>
          </a:prstGeom>
          <a:noFill/>
        </p:spPr>
        <p:txBody>
          <a:bodyPr wrap="square" lIns="0" rIns="0">
            <a:spAutoFit/>
          </a:bodyPr>
          <a:lstStyle/>
          <a:p>
            <a:pPr>
              <a:lnSpc>
                <a:spcPct val="108000"/>
              </a:lnSpc>
              <a:spcAft>
                <a:spcPts val="800"/>
              </a:spcAft>
            </a:pPr>
            <a:r>
              <a:rPr sz="1300" b="0">
                <a:solidFill>
                  <a:srgbClr val="1A1F24"/>
                </a:solidFill>
                <a:latin typeface="Calibri"/>
              </a:rPr>
              <a:t>•  workload → power/heat (from the fitted model)</a:t>
            </a:r>
          </a:p>
          <a:p>
            <a:pPr>
              <a:lnSpc>
                <a:spcPct val="108000"/>
              </a:lnSpc>
              <a:spcAft>
                <a:spcPts val="800"/>
              </a:spcAft>
            </a:pPr>
            <a:r>
              <a:rPr sz="1300" b="0">
                <a:solidFill>
                  <a:srgbClr val="1A1F24"/>
                </a:solidFill>
                <a:latin typeface="Calibri"/>
              </a:rPr>
              <a:t>•  heat + cooling action → temperature update</a:t>
            </a:r>
          </a:p>
          <a:p>
            <a:pPr>
              <a:lnSpc>
                <a:spcPct val="108000"/>
              </a:lnSpc>
              <a:spcAft>
                <a:spcPts val="800"/>
              </a:spcAft>
            </a:pPr>
            <a:r>
              <a:rPr sz="1300" b="0">
                <a:solidFill>
                  <a:srgbClr val="1A1F24"/>
                </a:solidFill>
                <a:latin typeface="Calibri"/>
              </a:rPr>
              <a:t>•  coupling with neighboring zones (heat can move between them)</a:t>
            </a:r>
          </a:p>
          <a:p>
            <a:pPr>
              <a:lnSpc>
                <a:spcPct val="108000"/>
              </a:lnSpc>
              <a:spcAft>
                <a:spcPts val="800"/>
              </a:spcAft>
            </a:pPr>
            <a:r>
              <a:rPr sz="1300" b="0">
                <a:solidFill>
                  <a:srgbClr val="1A1F24"/>
                </a:solidFill>
                <a:latin typeface="Calibri"/>
              </a:rPr>
              <a:t>•  cooling action reduces temperature, at an assumed max rate</a:t>
            </a:r>
          </a:p>
        </p:txBody>
      </p:sp>
      <p:sp>
        <p:nvSpPr>
          <p:cNvPr id="14" name="Rounded Rectangle 13"/>
          <p:cNvSpPr/>
          <p:nvPr/>
        </p:nvSpPr>
        <p:spPr>
          <a:xfrm>
            <a:off x="640080" y="4846320"/>
            <a:ext cx="10972800" cy="50292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Why zones, why 4 (not a fixed 3)?</a:t>
            </a:r>
          </a:p>
        </p:txBody>
      </p:sp>
      <p:sp>
        <p:nvSpPr>
          <p:cNvPr id="15" name="TextBox 14"/>
          <p:cNvSpPr txBox="1"/>
          <p:nvPr/>
        </p:nvSpPr>
        <p:spPr>
          <a:xfrm>
            <a:off x="640080" y="5440680"/>
            <a:ext cx="10972800" cy="822960"/>
          </a:xfrm>
          <a:prstGeom prst="rect">
            <a:avLst/>
          </a:prstGeom>
          <a:noFill/>
        </p:spPr>
        <p:txBody>
          <a:bodyPr wrap="square" anchor="t" lIns="0" rIns="0" tIns="0" bIns="0">
            <a:spAutoFit/>
          </a:bodyPr>
          <a:lstStyle/>
          <a:p>
            <a:pPr algn="l">
              <a:lnSpc>
                <a:spcPct val="120000"/>
              </a:lnSpc>
            </a:pPr>
            <a:r>
              <a:rPr sz="1250" b="0" i="0">
                <a:solidFill>
                  <a:srgbClr val="1A1F24"/>
                </a:solidFill>
                <a:latin typeface="Calibri"/>
              </a:rPr>
              <a:t>Zones enable spatially distributed control and a genuine multi-agent formulation. V2 sets zones = Borg cells directly (4 in the pilot, 8 in the final run) instead of V1's fixed, synthetic 3-zone split — because cells are a real partition, not an invented one.</a:t>
            </a:r>
          </a:p>
        </p:txBody>
      </p:sp>
      <p:sp>
        <p:nvSpPr>
          <p:cNvPr id="16" name="Rounded Rectangle 15"/>
          <p:cNvSpPr/>
          <p:nvPr/>
        </p:nvSpPr>
        <p:spPr>
          <a:xfrm>
            <a:off x="640080" y="6309360"/>
            <a:ext cx="10972800" cy="45720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The zones are LOGICAL SIMULATION zones — NOT claimed to represent three (or four) known physical Google rooms or racks.</a:t>
            </a:r>
          </a:p>
        </p:txBody>
      </p:sp>
      <p:sp>
        <p:nvSpPr>
          <p:cNvPr id="17" name="Rounded Rectangle 16"/>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Thermal Calibration</a:t>
            </a:r>
          </a:p>
        </p:txBody>
      </p:sp>
      <p:pic>
        <p:nvPicPr>
          <p:cNvPr id="3" name="Picture 2" descr="thermal_sweep.png"/>
          <p:cNvPicPr>
            <a:picLocks noChangeAspect="1"/>
          </p:cNvPicPr>
          <p:nvPr/>
        </p:nvPicPr>
        <p:blipFill>
          <a:blip r:embed="rId2"/>
          <a:stretch>
            <a:fillRect/>
          </a:stretch>
        </p:blipFill>
        <p:spPr>
          <a:xfrm>
            <a:off x="548640" y="1463040"/>
            <a:ext cx="6309360" cy="3193573"/>
          </a:xfrm>
          <a:prstGeom prst="rect">
            <a:avLst/>
          </a:prstGeom>
        </p:spPr>
      </p:pic>
      <p:sp>
        <p:nvSpPr>
          <p:cNvPr id="4" name="TextBox 3"/>
          <p:cNvSpPr txBox="1"/>
          <p:nvPr/>
        </p:nvSpPr>
        <p:spPr>
          <a:xfrm>
            <a:off x="7178040" y="1371600"/>
            <a:ext cx="4480560" cy="3931920"/>
          </a:xfrm>
          <a:prstGeom prst="rect">
            <a:avLst/>
          </a:prstGeom>
          <a:noFill/>
        </p:spPr>
        <p:txBody>
          <a:bodyPr wrap="square" lIns="0" rIns="0">
            <a:spAutoFit/>
          </a:bodyPr>
          <a:lstStyle/>
          <a:p>
            <a:pPr>
              <a:lnSpc>
                <a:spcPct val="108000"/>
              </a:lnSpc>
              <a:spcAft>
                <a:spcPts val="1000"/>
              </a:spcAft>
            </a:pPr>
            <a:r>
              <a:rPr sz="1250" b="0">
                <a:solidFill>
                  <a:srgbClr val="1A1F24"/>
                </a:solidFill>
                <a:latin typeface="Calibri"/>
              </a:rPr>
              <a:t>•  Selected value: heat_scale_kw = 0.85 — the smallest tested value where cooling OFF already violates the safety limit, while cooling FULL stays comfortably safe (a genuinely non-trivial control problem).</a:t>
            </a:r>
          </a:p>
          <a:p>
            <a:pPr>
              <a:lnSpc>
                <a:spcPct val="108000"/>
              </a:lnSpc>
              <a:spcAft>
                <a:spcPts val="1000"/>
              </a:spcAft>
            </a:pPr>
            <a:r>
              <a:rPr sz="1250" b="0">
                <a:solidFill>
                  <a:srgbClr val="1A1F24"/>
                </a:solidFill>
                <a:latin typeface="Calibri"/>
              </a:rPr>
              <a:t>•  A real bug was found and fixed during calibration: the first attempt measured “cooling off” with the safety shield still silently active, which secretly corrected the “off” action.</a:t>
            </a:r>
          </a:p>
          <a:p>
            <a:pPr>
              <a:lnSpc>
                <a:spcPct val="108000"/>
              </a:lnSpc>
              <a:spcAft>
                <a:spcPts val="1000"/>
              </a:spcAft>
            </a:pPr>
            <a:r>
              <a:rPr sz="1250" b="0">
                <a:solidFill>
                  <a:srgbClr val="1A1F24"/>
                </a:solidFill>
                <a:latin typeface="Calibri"/>
              </a:rPr>
              <a:t>•  After disabling the shield explicitly, the sweep was repeated on a dense, 251-window scan (vs. the original 14 points) — same conclusion, on much stronger evidence.</a:t>
            </a:r>
          </a:p>
          <a:p>
            <a:pPr>
              <a:lnSpc>
                <a:spcPct val="108000"/>
              </a:lnSpc>
              <a:spcAft>
                <a:spcPts val="1000"/>
              </a:spcAft>
            </a:pPr>
            <a:r>
              <a:rPr sz="1250" b="0">
                <a:solidFill>
                  <a:srgbClr val="1A1F24"/>
                </a:solidFill>
                <a:latin typeface="Calibri"/>
              </a:rPr>
              <a:t>•  A regression test now locks this in (test_open_loop_cooling_off_is_invariant_to_cooling_max_kw).</a:t>
            </a:r>
          </a:p>
        </p:txBody>
      </p:sp>
      <p:sp>
        <p:nvSpPr>
          <p:cNvPr id="5" name="Rounded Rectangle 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Important Thermal Finding: PID Still Violates 34% of Steps</a:t>
            </a:r>
          </a:p>
        </p:txBody>
      </p:sp>
      <p:pic>
        <p:nvPicPr>
          <p:cNvPr id="3" name="Picture 2" descr="pid_trajectory.png"/>
          <p:cNvPicPr>
            <a:picLocks noChangeAspect="1"/>
          </p:cNvPicPr>
          <p:nvPr/>
        </p:nvPicPr>
        <p:blipFill>
          <a:blip r:embed="rId2"/>
          <a:stretch>
            <a:fillRect/>
          </a:stretch>
        </p:blipFill>
        <p:spPr>
          <a:xfrm>
            <a:off x="2260182" y="1371600"/>
            <a:ext cx="7671331" cy="2880360"/>
          </a:xfrm>
          <a:prstGeom prst="rect">
            <a:avLst/>
          </a:prstGeom>
        </p:spPr>
      </p:pic>
      <p:sp>
        <p:nvSpPr>
          <p:cNvPr id="4" name="TextBox 3"/>
          <p:cNvSpPr txBox="1"/>
          <p:nvPr/>
        </p:nvSpPr>
        <p:spPr>
          <a:xfrm>
            <a:off x="640080" y="4434840"/>
            <a:ext cx="10972800" cy="2011680"/>
          </a:xfrm>
          <a:prstGeom prst="rect">
            <a:avLst/>
          </a:prstGeom>
          <a:noFill/>
        </p:spPr>
        <p:txBody>
          <a:bodyPr wrap="square" lIns="0" rIns="0">
            <a:spAutoFit/>
          </a:bodyPr>
          <a:lstStyle/>
          <a:p>
            <a:pPr>
              <a:lnSpc>
                <a:spcPct val="108000"/>
              </a:lnSpc>
              <a:spcAft>
                <a:spcPts val="1000"/>
              </a:spcAft>
            </a:pPr>
            <a:r>
              <a:rPr sz="1350" b="0">
                <a:solidFill>
                  <a:srgbClr val="1A1F24"/>
                </a:solidFill>
                <a:latin typeface="Calibri"/>
              </a:rPr>
              <a:t>•  With the safety shield ON, a well-tuned PID controller still spends 33.9% of test-split steps above the 27°C safety limit (results/pilot/controllers/classical_controller_comparison.json).</a:t>
            </a:r>
          </a:p>
          <a:p>
            <a:pPr>
              <a:lnSpc>
                <a:spcPct val="108000"/>
              </a:lnSpc>
              <a:spcAft>
                <a:spcPts val="1000"/>
              </a:spcAft>
            </a:pPr>
            <a:r>
              <a:rPr sz="1350" b="0">
                <a:solidFill>
                  <a:srgbClr val="1A1F24"/>
                </a:solidFill>
                <a:latin typeface="Calibri"/>
              </a:rPr>
              <a:t>•  Why: thermal dynamics have lag, the actuator is rate-limited (max change per step), PID only responds once temperature error is already large (reactive, not proactive), and the safety shield is a ONE-STEP-AHEAD correction — it cannot undo several steps of prior lag in a single move.</a:t>
            </a:r>
          </a:p>
          <a:p>
            <a:pPr>
              <a:lnSpc>
                <a:spcPct val="108000"/>
              </a:lnSpc>
              <a:spcAft>
                <a:spcPts val="1000"/>
              </a:spcAft>
            </a:pPr>
            <a:r>
              <a:rPr sz="1350" b="0">
                <a:solidFill>
                  <a:srgbClr val="1A1F24"/>
                </a:solidFill>
                <a:latin typeface="Calibri"/>
              </a:rPr>
              <a:t>•  This result was KEPT, not tuned away. Re-calibrating the thermal parameters until PID showed zero violations would have altered the evidence to fit a preferred story.</a:t>
            </a:r>
          </a:p>
        </p:txBody>
      </p:sp>
      <p:sp>
        <p:nvSpPr>
          <p:cNvPr id="5" name="Rounded Rectangle 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 Control Problem, Formally</a:t>
            </a:r>
          </a:p>
        </p:txBody>
      </p:sp>
      <p:sp>
        <p:nvSpPr>
          <p:cNvPr id="3" name="Rounded Rectangle 2"/>
          <p:cNvSpPr/>
          <p:nvPr/>
        </p:nvSpPr>
        <p:spPr>
          <a:xfrm>
            <a:off x="1097280" y="1417320"/>
            <a:ext cx="6217920" cy="6583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OBSERVATION
(temps, workload, forecast, margin to limit, prev action, time-of-day)</a:t>
            </a:r>
          </a:p>
        </p:txBody>
      </p:sp>
      <p:cxnSp>
        <p:nvCxnSpPr>
          <p:cNvPr id="4" name="Connector 3"/>
          <p:cNvCxnSpPr/>
          <p:nvPr/>
        </p:nvCxnSpPr>
        <p:spPr>
          <a:xfrm>
            <a:off x="4206240.0" y="2075688"/>
            <a:ext cx="0.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097280" y="2276856"/>
            <a:ext cx="6217920" cy="6583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CONTROLLER</a:t>
            </a:r>
          </a:p>
        </p:txBody>
      </p:sp>
      <p:cxnSp>
        <p:nvCxnSpPr>
          <p:cNvPr id="6" name="Connector 5"/>
          <p:cNvCxnSpPr/>
          <p:nvPr/>
        </p:nvCxnSpPr>
        <p:spPr>
          <a:xfrm>
            <a:off x="4206240.0" y="2935224"/>
            <a:ext cx="0.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097280" y="3136392"/>
            <a:ext cx="6217920" cy="6583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ACTION
(cooling level per zone, in [0, 1])</a:t>
            </a:r>
          </a:p>
        </p:txBody>
      </p:sp>
      <p:cxnSp>
        <p:nvCxnSpPr>
          <p:cNvPr id="8" name="Connector 7"/>
          <p:cNvCxnSpPr/>
          <p:nvPr/>
        </p:nvCxnSpPr>
        <p:spPr>
          <a:xfrm>
            <a:off x="4206240.0" y="3794760"/>
            <a:ext cx="0.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097280" y="3995928"/>
            <a:ext cx="6217920" cy="65836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ENVIRONMENT TRANSITION
(heat + cooling → next temperature)</a:t>
            </a:r>
          </a:p>
        </p:txBody>
      </p:sp>
      <p:sp>
        <p:nvSpPr>
          <p:cNvPr id="10" name="Rounded Rectangle 9"/>
          <p:cNvSpPr/>
          <p:nvPr/>
        </p:nvSpPr>
        <p:spPr>
          <a:xfrm>
            <a:off x="7772400" y="1417320"/>
            <a:ext cx="3840480" cy="475488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1" name="TextBox 10"/>
          <p:cNvSpPr txBox="1"/>
          <p:nvPr/>
        </p:nvSpPr>
        <p:spPr>
          <a:xfrm>
            <a:off x="8001000" y="1600200"/>
            <a:ext cx="338328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Constraints</a:t>
            </a:r>
          </a:p>
        </p:txBody>
      </p:sp>
      <p:sp>
        <p:nvSpPr>
          <p:cNvPr id="12" name="TextBox 11"/>
          <p:cNvSpPr txBox="1"/>
          <p:nvPr/>
        </p:nvSpPr>
        <p:spPr>
          <a:xfrm>
            <a:off x="8001000" y="2011680"/>
            <a:ext cx="3383280" cy="1737360"/>
          </a:xfrm>
          <a:prstGeom prst="rect">
            <a:avLst/>
          </a:prstGeom>
          <a:noFill/>
        </p:spPr>
        <p:txBody>
          <a:bodyPr wrap="square" lIns="0" rIns="0">
            <a:spAutoFit/>
          </a:bodyPr>
          <a:lstStyle/>
          <a:p>
            <a:pPr>
              <a:lnSpc>
                <a:spcPct val="108000"/>
              </a:lnSpc>
              <a:spcAft>
                <a:spcPts val="800"/>
              </a:spcAft>
            </a:pPr>
            <a:r>
              <a:rPr sz="1200" b="0">
                <a:solidFill>
                  <a:srgbClr val="1A1F24"/>
                </a:solidFill>
                <a:latin typeface="Calibri"/>
              </a:rPr>
              <a:t>•  Action bounds: cooling ∈ [0, 1] per zone</a:t>
            </a:r>
          </a:p>
          <a:p>
            <a:pPr>
              <a:lnSpc>
                <a:spcPct val="108000"/>
              </a:lnSpc>
              <a:spcAft>
                <a:spcPts val="800"/>
              </a:spcAft>
            </a:pPr>
            <a:r>
              <a:rPr sz="1200" b="0">
                <a:solidFill>
                  <a:srgbClr val="1A1F24"/>
                </a:solidFill>
                <a:latin typeface="Calibri"/>
              </a:rPr>
              <a:t>•  Rate limit: |a_t − a_{t-1}| ≤ 0.3 per step</a:t>
            </a:r>
          </a:p>
          <a:p>
            <a:pPr>
              <a:lnSpc>
                <a:spcPct val="108000"/>
              </a:lnSpc>
              <a:spcAft>
                <a:spcPts val="800"/>
              </a:spcAft>
            </a:pPr>
            <a:r>
              <a:rPr sz="1200" b="0">
                <a:solidFill>
                  <a:srgbClr val="1A1F24"/>
                </a:solidFill>
                <a:latin typeface="Calibri"/>
              </a:rPr>
              <a:t>•  Thermal safety limit: 27°C (soft penalty from 4°C below; safety shield near the limit)</a:t>
            </a:r>
          </a:p>
        </p:txBody>
      </p:sp>
      <p:sp>
        <p:nvSpPr>
          <p:cNvPr id="13" name="TextBox 12"/>
          <p:cNvSpPr txBox="1"/>
          <p:nvPr/>
        </p:nvSpPr>
        <p:spPr>
          <a:xfrm>
            <a:off x="8001000" y="3931920"/>
            <a:ext cx="3383280" cy="365760"/>
          </a:xfrm>
          <a:prstGeom prst="rect">
            <a:avLst/>
          </a:prstGeom>
          <a:noFill/>
        </p:spPr>
        <p:txBody>
          <a:bodyPr wrap="square" anchor="t" lIns="0" rIns="0" tIns="0" bIns="0">
            <a:spAutoFit/>
          </a:bodyPr>
          <a:lstStyle/>
          <a:p>
            <a:pPr algn="l">
              <a:lnSpc>
                <a:spcPct val="100000"/>
              </a:lnSpc>
            </a:pPr>
            <a:r>
              <a:rPr sz="1400" b="1" i="0">
                <a:solidFill>
                  <a:srgbClr val="0B3D59"/>
                </a:solidFill>
                <a:latin typeface="Calibri"/>
              </a:rPr>
              <a:t>The trade-off</a:t>
            </a:r>
          </a:p>
        </p:txBody>
      </p:sp>
      <p:sp>
        <p:nvSpPr>
          <p:cNvPr id="14" name="TextBox 13"/>
          <p:cNvSpPr txBox="1"/>
          <p:nvPr/>
        </p:nvSpPr>
        <p:spPr>
          <a:xfrm>
            <a:off x="8001000" y="4343400"/>
            <a:ext cx="3383280" cy="1737360"/>
          </a:xfrm>
          <a:prstGeom prst="rect">
            <a:avLst/>
          </a:prstGeom>
          <a:noFill/>
        </p:spPr>
        <p:txBody>
          <a:bodyPr wrap="square" lIns="0" rIns="0">
            <a:spAutoFit/>
          </a:bodyPr>
          <a:lstStyle/>
          <a:p>
            <a:pPr>
              <a:lnSpc>
                <a:spcPct val="108000"/>
              </a:lnSpc>
              <a:spcAft>
                <a:spcPts val="800"/>
              </a:spcAft>
            </a:pPr>
            <a:r>
              <a:rPr sz="1200" b="0">
                <a:solidFill>
                  <a:srgbClr val="1A1F24"/>
                </a:solidFill>
                <a:latin typeface="Calibri"/>
              </a:rPr>
              <a:t>•  energy (minimize)</a:t>
            </a:r>
          </a:p>
          <a:p>
            <a:pPr>
              <a:lnSpc>
                <a:spcPct val="108000"/>
              </a:lnSpc>
              <a:spcAft>
                <a:spcPts val="800"/>
              </a:spcAft>
            </a:pPr>
            <a:r>
              <a:rPr sz="1200" b="0">
                <a:solidFill>
                  <a:srgbClr val="1A1F24"/>
                </a:solidFill>
                <a:latin typeface="Calibri"/>
              </a:rPr>
              <a:t>•  thermal safety (respect the limit)</a:t>
            </a:r>
          </a:p>
          <a:p>
            <a:pPr>
              <a:lnSpc>
                <a:spcPct val="108000"/>
              </a:lnSpc>
              <a:spcAft>
                <a:spcPts val="800"/>
              </a:spcAft>
            </a:pPr>
            <a:r>
              <a:rPr sz="1200" b="0">
                <a:solidFill>
                  <a:srgbClr val="1A1F24"/>
                </a:solidFill>
                <a:latin typeface="Calibri"/>
              </a:rPr>
              <a:t>•  smoothness (avoid chattering actions)</a:t>
            </a:r>
          </a:p>
        </p:txBody>
      </p:sp>
      <p:sp>
        <p:nvSpPr>
          <p:cNvPr id="15" name="Rounded Rectangle 14"/>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Classical Controllers</a:t>
            </a:r>
          </a:p>
        </p:txBody>
      </p:sp>
      <p:sp>
        <p:nvSpPr>
          <p:cNvPr id="3" name="Rounded Rectangle 2"/>
          <p:cNvSpPr/>
          <p:nvPr/>
        </p:nvSpPr>
        <p:spPr>
          <a:xfrm>
            <a:off x="548640" y="1417320"/>
            <a:ext cx="274320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Fixed</a:t>
            </a:r>
          </a:p>
        </p:txBody>
      </p:sp>
      <p:sp>
        <p:nvSpPr>
          <p:cNvPr id="4" name="TextBox 3"/>
          <p:cNvSpPr txBox="1"/>
          <p:nvPr/>
        </p:nvSpPr>
        <p:spPr>
          <a:xfrm>
            <a:off x="548640" y="2011680"/>
            <a:ext cx="2743200" cy="1371600"/>
          </a:xfrm>
          <a:prstGeom prst="rect">
            <a:avLst/>
          </a:prstGeom>
          <a:noFill/>
        </p:spPr>
        <p:txBody>
          <a:bodyPr wrap="square" anchor="t" lIns="0" rIns="0" tIns="0" bIns="0">
            <a:spAutoFit/>
          </a:bodyPr>
          <a:lstStyle/>
          <a:p>
            <a:pPr algn="l">
              <a:lnSpc>
                <a:spcPct val="120000"/>
              </a:lnSpc>
            </a:pPr>
            <a:r>
              <a:rPr sz="1200" b="0" i="0">
                <a:solidFill>
                  <a:srgbClr val="1A1F24"/>
                </a:solidFill>
                <a:latin typeface="Calibri"/>
              </a:rPr>
              <a:t>Constant cooling level, regardless of state.</a:t>
            </a:r>
          </a:p>
        </p:txBody>
      </p:sp>
      <p:sp>
        <p:nvSpPr>
          <p:cNvPr id="5" name="Rounded Rectangle 4"/>
          <p:cNvSpPr/>
          <p:nvPr/>
        </p:nvSpPr>
        <p:spPr>
          <a:xfrm>
            <a:off x="3410712" y="1417320"/>
            <a:ext cx="274320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Threshold</a:t>
            </a:r>
          </a:p>
        </p:txBody>
      </p:sp>
      <p:sp>
        <p:nvSpPr>
          <p:cNvPr id="6" name="TextBox 5"/>
          <p:cNvSpPr txBox="1"/>
          <p:nvPr/>
        </p:nvSpPr>
        <p:spPr>
          <a:xfrm>
            <a:off x="3410712" y="2011680"/>
            <a:ext cx="2743200" cy="1371600"/>
          </a:xfrm>
          <a:prstGeom prst="rect">
            <a:avLst/>
          </a:prstGeom>
          <a:noFill/>
        </p:spPr>
        <p:txBody>
          <a:bodyPr wrap="square" anchor="t" lIns="0" rIns="0" tIns="0" bIns="0">
            <a:spAutoFit/>
          </a:bodyPr>
          <a:lstStyle/>
          <a:p>
            <a:pPr algn="l">
              <a:lnSpc>
                <a:spcPct val="120000"/>
              </a:lnSpc>
            </a:pPr>
            <a:r>
              <a:rPr sz="1200" b="0" i="0">
                <a:solidFill>
                  <a:srgbClr val="1A1F24"/>
                </a:solidFill>
                <a:latin typeface="Calibri"/>
              </a:rPr>
              <a:t>Switches cooling on/off when temperature crosses fixed points.</a:t>
            </a:r>
          </a:p>
        </p:txBody>
      </p:sp>
      <p:sp>
        <p:nvSpPr>
          <p:cNvPr id="7" name="Rounded Rectangle 6"/>
          <p:cNvSpPr/>
          <p:nvPr/>
        </p:nvSpPr>
        <p:spPr>
          <a:xfrm>
            <a:off x="6272784" y="1417320"/>
            <a:ext cx="2743200" cy="50292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PID</a:t>
            </a:r>
          </a:p>
        </p:txBody>
      </p:sp>
      <p:sp>
        <p:nvSpPr>
          <p:cNvPr id="8" name="TextBox 7"/>
          <p:cNvSpPr txBox="1"/>
          <p:nvPr/>
        </p:nvSpPr>
        <p:spPr>
          <a:xfrm>
            <a:off x="6272784" y="2011680"/>
            <a:ext cx="2743200" cy="1371600"/>
          </a:xfrm>
          <a:prstGeom prst="rect">
            <a:avLst/>
          </a:prstGeom>
          <a:noFill/>
        </p:spPr>
        <p:txBody>
          <a:bodyPr wrap="square" anchor="t" lIns="0" rIns="0" tIns="0" bIns="0">
            <a:spAutoFit/>
          </a:bodyPr>
          <a:lstStyle/>
          <a:p>
            <a:pPr algn="l">
              <a:lnSpc>
                <a:spcPct val="120000"/>
              </a:lnSpc>
            </a:pPr>
            <a:r>
              <a:rPr sz="1200" b="0" i="0">
                <a:solidFill>
                  <a:srgbClr val="1A1F24"/>
                </a:solidFill>
                <a:latin typeface="Calibri"/>
              </a:rPr>
              <a:t>Cools proportional to error, its accumulated history, and its rate of change.</a:t>
            </a:r>
          </a:p>
        </p:txBody>
      </p:sp>
      <p:sp>
        <p:nvSpPr>
          <p:cNvPr id="9" name="Rounded Rectangle 8"/>
          <p:cNvSpPr/>
          <p:nvPr/>
        </p:nvSpPr>
        <p:spPr>
          <a:xfrm>
            <a:off x="9134856" y="1417320"/>
            <a:ext cx="274320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MPC</a:t>
            </a:r>
          </a:p>
        </p:txBody>
      </p:sp>
      <p:sp>
        <p:nvSpPr>
          <p:cNvPr id="10" name="TextBox 9"/>
          <p:cNvSpPr txBox="1"/>
          <p:nvPr/>
        </p:nvSpPr>
        <p:spPr>
          <a:xfrm>
            <a:off x="9134856" y="2011680"/>
            <a:ext cx="2743200" cy="1371600"/>
          </a:xfrm>
          <a:prstGeom prst="rect">
            <a:avLst/>
          </a:prstGeom>
          <a:noFill/>
        </p:spPr>
        <p:txBody>
          <a:bodyPr wrap="square" anchor="t" lIns="0" rIns="0" tIns="0" bIns="0">
            <a:spAutoFit/>
          </a:bodyPr>
          <a:lstStyle/>
          <a:p>
            <a:pPr algn="l">
              <a:lnSpc>
                <a:spcPct val="120000"/>
              </a:lnSpc>
            </a:pPr>
            <a:r>
              <a:rPr sz="1200" b="0" i="0">
                <a:solidFill>
                  <a:srgbClr val="1A1F24"/>
                </a:solidFill>
                <a:latin typeface="Calibri"/>
              </a:rPr>
              <a:t>Simulates several candidate action sequences ahead and picks the best.</a:t>
            </a:r>
          </a:p>
        </p:txBody>
      </p:sp>
      <p:pic>
        <p:nvPicPr>
          <p:cNvPr id="11" name="Picture 10" descr="controller_comparison.png"/>
          <p:cNvPicPr>
            <a:picLocks noChangeAspect="1"/>
          </p:cNvPicPr>
          <p:nvPr/>
        </p:nvPicPr>
        <p:blipFill>
          <a:blip r:embed="rId2"/>
          <a:stretch>
            <a:fillRect/>
          </a:stretch>
        </p:blipFill>
        <p:spPr>
          <a:xfrm>
            <a:off x="548640" y="3520440"/>
            <a:ext cx="8033165" cy="2880360"/>
          </a:xfrm>
          <a:prstGeom prst="rect">
            <a:avLst/>
          </a:prstGeom>
        </p:spPr>
      </p:pic>
      <p:sp>
        <p:nvSpPr>
          <p:cNvPr id="12" name="Rounded Rectangle 11"/>
          <p:cNvSpPr/>
          <p:nvPr/>
        </p:nvSpPr>
        <p:spPr>
          <a:xfrm>
            <a:off x="8488375" y="987552"/>
            <a:ext cx="3246120" cy="310896"/>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PILOT RESULT — CELLS A–D — NOT FINAL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PPO — Proximal Policy Optimization</a:t>
            </a:r>
          </a:p>
        </p:txBody>
      </p:sp>
      <p:sp>
        <p:nvSpPr>
          <p:cNvPr id="3" name="Rounded Rectangle 2"/>
          <p:cNvSpPr/>
          <p:nvPr/>
        </p:nvSpPr>
        <p:spPr>
          <a:xfrm>
            <a:off x="640080" y="1371600"/>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State</a:t>
            </a:r>
          </a:p>
        </p:txBody>
      </p:sp>
      <p:cxnSp>
        <p:nvCxnSpPr>
          <p:cNvPr id="4" name="Connector 3"/>
          <p:cNvCxnSpPr/>
          <p:nvPr/>
        </p:nvCxnSpPr>
        <p:spPr>
          <a:xfrm>
            <a:off x="2423160.0" y="1810512"/>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929384"/>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Policy</a:t>
            </a:r>
          </a:p>
        </p:txBody>
      </p:sp>
      <p:cxnSp>
        <p:nvCxnSpPr>
          <p:cNvPr id="6" name="Connector 5"/>
          <p:cNvCxnSpPr/>
          <p:nvPr/>
        </p:nvCxnSpPr>
        <p:spPr>
          <a:xfrm>
            <a:off x="2423160.0" y="2368296"/>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2487168"/>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Action</a:t>
            </a:r>
          </a:p>
        </p:txBody>
      </p:sp>
      <p:cxnSp>
        <p:nvCxnSpPr>
          <p:cNvPr id="8" name="Connector 7"/>
          <p:cNvCxnSpPr/>
          <p:nvPr/>
        </p:nvCxnSpPr>
        <p:spPr>
          <a:xfrm>
            <a:off x="2423160.0" y="2926080"/>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 y="3044952"/>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Environment</a:t>
            </a:r>
          </a:p>
        </p:txBody>
      </p:sp>
      <p:cxnSp>
        <p:nvCxnSpPr>
          <p:cNvPr id="10" name="Connector 9"/>
          <p:cNvCxnSpPr/>
          <p:nvPr/>
        </p:nvCxnSpPr>
        <p:spPr>
          <a:xfrm>
            <a:off x="2423160.0" y="3483864"/>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40080" y="3602736"/>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Reward</a:t>
            </a:r>
          </a:p>
        </p:txBody>
      </p:sp>
      <p:cxnSp>
        <p:nvCxnSpPr>
          <p:cNvPr id="12" name="Connector 11"/>
          <p:cNvCxnSpPr/>
          <p:nvPr/>
        </p:nvCxnSpPr>
        <p:spPr>
          <a:xfrm>
            <a:off x="2423160.0" y="4041648"/>
            <a:ext cx="0.0" cy="118872"/>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 y="4160520"/>
            <a:ext cx="3566160" cy="438912"/>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FFFFFF"/>
                </a:solidFill>
                <a:latin typeface="Calibri"/>
              </a:rPr>
              <a:t>Policy update (clipped)</a:t>
            </a:r>
          </a:p>
        </p:txBody>
      </p:sp>
      <p:sp>
        <p:nvSpPr>
          <p:cNvPr id="14" name="Rounded Rectangle 13"/>
          <p:cNvSpPr/>
          <p:nvPr/>
        </p:nvSpPr>
        <p:spPr>
          <a:xfrm>
            <a:off x="4663440" y="1371600"/>
            <a:ext cx="2743200" cy="324612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5" name="TextBox 14"/>
          <p:cNvSpPr txBox="1"/>
          <p:nvPr/>
        </p:nvSpPr>
        <p:spPr>
          <a:xfrm>
            <a:off x="4846320" y="1508760"/>
            <a:ext cx="2377440" cy="1737360"/>
          </a:xfrm>
          <a:prstGeom prst="rect">
            <a:avLst/>
          </a:prstGeom>
          <a:noFill/>
        </p:spPr>
        <p:txBody>
          <a:bodyPr wrap="square" anchor="t" lIns="0" rIns="0" tIns="0" bIns="0">
            <a:spAutoFit/>
          </a:bodyPr>
          <a:lstStyle/>
          <a:p>
            <a:pPr algn="l">
              <a:lnSpc>
                <a:spcPct val="125000"/>
              </a:lnSpc>
            </a:pPr>
            <a:r>
              <a:rPr sz="1150" b="0" i="0">
                <a:solidFill>
                  <a:srgbClr val="1A1F24"/>
                </a:solidFill>
                <a:latin typeface="Calibri"/>
              </a:rPr>
              <a:t>Core idea:</a:t>
            </a:r>
          </a:p>
          <a:p>
            <a:pPr algn="l">
              <a:lnSpc>
                <a:spcPct val="125000"/>
              </a:lnSpc>
            </a:pPr>
            <a:r>
              <a:rPr sz="1150" b="0" i="0">
                <a:solidFill>
                  <a:srgbClr val="1A1F24"/>
                </a:solidFill>
                <a:latin typeface="Calibri"/>
              </a:rPr>
              <a:t/>
            </a:r>
          </a:p>
          <a:p>
            <a:pPr algn="l">
              <a:lnSpc>
                <a:spcPct val="125000"/>
              </a:lnSpc>
            </a:pPr>
            <a:r>
              <a:rPr sz="1150" b="0" i="0">
                <a:solidFill>
                  <a:srgbClr val="1A1F24"/>
                </a:solidFill>
                <a:latin typeface="Calibri"/>
              </a:rPr>
              <a:t>Update the policy toward actions with higher-than-expected return (the ‘advantage’), but CLIP how far a single update can move it — keeps training stable.</a:t>
            </a:r>
          </a:p>
        </p:txBody>
      </p:sp>
      <p:pic>
        <p:nvPicPr>
          <p:cNvPr id="16" name="Picture 15" descr="ppo_training.png"/>
          <p:cNvPicPr>
            <a:picLocks noChangeAspect="1"/>
          </p:cNvPicPr>
          <p:nvPr/>
        </p:nvPicPr>
        <p:blipFill>
          <a:blip r:embed="rId2"/>
          <a:stretch>
            <a:fillRect/>
          </a:stretch>
        </p:blipFill>
        <p:spPr>
          <a:xfrm>
            <a:off x="7635240" y="1371600"/>
            <a:ext cx="3977639" cy="2013297"/>
          </a:xfrm>
          <a:prstGeom prst="rect">
            <a:avLst/>
          </a:prstGeom>
        </p:spPr>
      </p:pic>
      <p:sp>
        <p:nvSpPr>
          <p:cNvPr id="17" name="Rounded Rectangle 16"/>
          <p:cNvSpPr/>
          <p:nvPr/>
        </p:nvSpPr>
        <p:spPr>
          <a:xfrm>
            <a:off x="640080" y="4892040"/>
            <a:ext cx="10881360" cy="68580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SMOKE TEST ONLY — 8,640 timesteps (V1 used 100,000). This validates the code path executes correctly on real data; it is NOT a final PPO result.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MAPPO — Multi-Agent PPO with CTDE</a:t>
            </a:r>
          </a:p>
        </p:txBody>
      </p:sp>
      <p:sp>
        <p:nvSpPr>
          <p:cNvPr id="3" name="Rounded Rectangle 2"/>
          <p:cNvSpPr/>
          <p:nvPr/>
        </p:nvSpPr>
        <p:spPr>
          <a:xfrm>
            <a:off x="4480560" y="1417320"/>
            <a:ext cx="3200400" cy="50292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GLOBAL STATE (training only)</a:t>
            </a:r>
          </a:p>
        </p:txBody>
      </p:sp>
      <p:cxnSp>
        <p:nvCxnSpPr>
          <p:cNvPr id="4" name="Connector 3"/>
          <p:cNvCxnSpPr/>
          <p:nvPr/>
        </p:nvCxnSpPr>
        <p:spPr>
          <a:xfrm>
            <a:off x="6080760" y="1920240"/>
            <a:ext cx="0" cy="201168"/>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480560" y="2121408"/>
            <a:ext cx="3200400" cy="50292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CENTRALIZED CRITIC</a:t>
            </a:r>
          </a:p>
        </p:txBody>
      </p:sp>
      <p:cxnSp>
        <p:nvCxnSpPr>
          <p:cNvPr id="6" name="Connector 5"/>
          <p:cNvCxnSpPr/>
          <p:nvPr/>
        </p:nvCxnSpPr>
        <p:spPr>
          <a:xfrm flipH="1">
            <a:off x="2423160.0" y="2624328"/>
            <a:ext cx="3657600.0" cy="320040"/>
          </a:xfrm>
          <a:prstGeom prst="line">
            <a:avLst/>
          </a:prstGeom>
          <a:ln w="16510">
            <a:solidFill>
              <a:srgbClr val="5B666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188720" y="2944368"/>
            <a:ext cx="246888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Agent 1
(actor, shared weights)</a:t>
            </a:r>
          </a:p>
        </p:txBody>
      </p:sp>
      <p:cxnSp>
        <p:nvCxnSpPr>
          <p:cNvPr id="8" name="Connector 7"/>
          <p:cNvCxnSpPr/>
          <p:nvPr/>
        </p:nvCxnSpPr>
        <p:spPr>
          <a:xfrm>
            <a:off x="2423160.0" y="3401568"/>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188720" y="3584448"/>
            <a:ext cx="2468880"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Action 1</a:t>
            </a:r>
          </a:p>
        </p:txBody>
      </p:sp>
      <p:cxnSp>
        <p:nvCxnSpPr>
          <p:cNvPr id="10" name="Connector 9"/>
          <p:cNvCxnSpPr/>
          <p:nvPr/>
        </p:nvCxnSpPr>
        <p:spPr>
          <a:xfrm>
            <a:off x="2423160.0" y="3968496"/>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88720" y="4151376"/>
            <a:ext cx="2468880" cy="384048"/>
          </a:xfrm>
          <a:prstGeom prst="roundRect">
            <a:avLst/>
          </a:prstGeom>
          <a:solidFill>
            <a:srgbClr val="5B6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Zone 1 (cell a)</a:t>
            </a:r>
          </a:p>
        </p:txBody>
      </p:sp>
      <p:cxnSp>
        <p:nvCxnSpPr>
          <p:cNvPr id="12" name="Connector 11"/>
          <p:cNvCxnSpPr/>
          <p:nvPr/>
        </p:nvCxnSpPr>
        <p:spPr>
          <a:xfrm flipH="1">
            <a:off x="5212080.0" y="2624328"/>
            <a:ext cx="868680.0" cy="320040"/>
          </a:xfrm>
          <a:prstGeom prst="line">
            <a:avLst/>
          </a:prstGeom>
          <a:ln w="16510">
            <a:solidFill>
              <a:srgbClr val="5B666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77640" y="2944368"/>
            <a:ext cx="246888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Agent 2
(actor, shared weights)</a:t>
            </a:r>
          </a:p>
        </p:txBody>
      </p:sp>
      <p:cxnSp>
        <p:nvCxnSpPr>
          <p:cNvPr id="14" name="Connector 13"/>
          <p:cNvCxnSpPr/>
          <p:nvPr/>
        </p:nvCxnSpPr>
        <p:spPr>
          <a:xfrm>
            <a:off x="5212080.0" y="3401568"/>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40" y="3584448"/>
            <a:ext cx="2468880"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Action 2</a:t>
            </a:r>
          </a:p>
        </p:txBody>
      </p:sp>
      <p:cxnSp>
        <p:nvCxnSpPr>
          <p:cNvPr id="16" name="Connector 15"/>
          <p:cNvCxnSpPr/>
          <p:nvPr/>
        </p:nvCxnSpPr>
        <p:spPr>
          <a:xfrm>
            <a:off x="5212080.0" y="3968496"/>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977640" y="4151376"/>
            <a:ext cx="2468880" cy="384048"/>
          </a:xfrm>
          <a:prstGeom prst="roundRect">
            <a:avLst/>
          </a:prstGeom>
          <a:solidFill>
            <a:srgbClr val="5B6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Zone 2 (cell b)</a:t>
            </a:r>
          </a:p>
        </p:txBody>
      </p:sp>
      <p:cxnSp>
        <p:nvCxnSpPr>
          <p:cNvPr id="18" name="Connector 17"/>
          <p:cNvCxnSpPr/>
          <p:nvPr/>
        </p:nvCxnSpPr>
        <p:spPr>
          <a:xfrm>
            <a:off x="6080760" y="2624328"/>
            <a:ext cx="1920240.0" cy="320040"/>
          </a:xfrm>
          <a:prstGeom prst="line">
            <a:avLst/>
          </a:prstGeom>
          <a:ln w="16510">
            <a:solidFill>
              <a:srgbClr val="5B666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66560" y="2944368"/>
            <a:ext cx="246888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Agent 3
(actor, shared weights)</a:t>
            </a:r>
          </a:p>
        </p:txBody>
      </p:sp>
      <p:cxnSp>
        <p:nvCxnSpPr>
          <p:cNvPr id="20" name="Connector 19"/>
          <p:cNvCxnSpPr/>
          <p:nvPr/>
        </p:nvCxnSpPr>
        <p:spPr>
          <a:xfrm>
            <a:off x="8001000.0" y="3401568"/>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766560" y="3584448"/>
            <a:ext cx="2468880"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Action 3</a:t>
            </a:r>
          </a:p>
        </p:txBody>
      </p:sp>
      <p:cxnSp>
        <p:nvCxnSpPr>
          <p:cNvPr id="22" name="Connector 21"/>
          <p:cNvCxnSpPr/>
          <p:nvPr/>
        </p:nvCxnSpPr>
        <p:spPr>
          <a:xfrm>
            <a:off x="8001000.0" y="3968496"/>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766560" y="4151376"/>
            <a:ext cx="2468880" cy="384048"/>
          </a:xfrm>
          <a:prstGeom prst="roundRect">
            <a:avLst/>
          </a:prstGeom>
          <a:solidFill>
            <a:srgbClr val="5B6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Zone 3 (cell c)</a:t>
            </a:r>
          </a:p>
        </p:txBody>
      </p:sp>
      <p:cxnSp>
        <p:nvCxnSpPr>
          <p:cNvPr id="24" name="Connector 23"/>
          <p:cNvCxnSpPr/>
          <p:nvPr/>
        </p:nvCxnSpPr>
        <p:spPr>
          <a:xfrm>
            <a:off x="6080760" y="2624328"/>
            <a:ext cx="4709160.0" cy="320040"/>
          </a:xfrm>
          <a:prstGeom prst="line">
            <a:avLst/>
          </a:prstGeom>
          <a:ln w="16510">
            <a:solidFill>
              <a:srgbClr val="5B666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55480" y="2944368"/>
            <a:ext cx="2468880" cy="45720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Agent 4
(actor, shared weights)</a:t>
            </a:r>
          </a:p>
        </p:txBody>
      </p:sp>
      <p:cxnSp>
        <p:nvCxnSpPr>
          <p:cNvPr id="26" name="Connector 25"/>
          <p:cNvCxnSpPr/>
          <p:nvPr/>
        </p:nvCxnSpPr>
        <p:spPr>
          <a:xfrm>
            <a:off x="10789920.0" y="3401568"/>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55480" y="3584448"/>
            <a:ext cx="2468880" cy="384048"/>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Action 4</a:t>
            </a:r>
          </a:p>
        </p:txBody>
      </p:sp>
      <p:cxnSp>
        <p:nvCxnSpPr>
          <p:cNvPr id="28" name="Connector 27"/>
          <p:cNvCxnSpPr/>
          <p:nvPr/>
        </p:nvCxnSpPr>
        <p:spPr>
          <a:xfrm>
            <a:off x="10789920.0" y="3968496"/>
            <a:ext cx="0.0" cy="18288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555480" y="4151376"/>
            <a:ext cx="2468880" cy="384048"/>
          </a:xfrm>
          <a:prstGeom prst="roundRect">
            <a:avLst/>
          </a:prstGeom>
          <a:solidFill>
            <a:srgbClr val="5B6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0">
                <a:solidFill>
                  <a:srgbClr val="FFFFFF"/>
                </a:solidFill>
                <a:latin typeface="Calibri"/>
              </a:rPr>
              <a:t>Zone 4 (cell d)</a:t>
            </a:r>
          </a:p>
        </p:txBody>
      </p:sp>
      <p:sp>
        <p:nvSpPr>
          <p:cNvPr id="30" name="Rounded Rectangle 29"/>
          <p:cNvSpPr/>
          <p:nvPr/>
        </p:nvSpPr>
        <p:spPr>
          <a:xfrm>
            <a:off x="640080" y="4764024"/>
            <a:ext cx="5394960" cy="822960"/>
          </a:xfrm>
          <a:prstGeom prst="roundRect">
            <a:avLst/>
          </a:prstGeom>
          <a:solidFill>
            <a:srgbClr val="0B3D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TRAINING:</a:t>
            </a:r>
          </a:p>
          <a:p>
            <a:pPr algn="ctr"/>
            <a:r>
              <a:rPr sz="1150" b="0">
                <a:solidFill>
                  <a:srgbClr val="FFFFFF"/>
                </a:solidFill>
                <a:latin typeface="Calibri"/>
              </a:rPr>
              <a:t>centralized critic sees the concatenated</a:t>
            </a:r>
          </a:p>
          <a:p>
            <a:pPr algn="ctr"/>
            <a:r>
              <a:rPr sz="1150" b="0">
                <a:solidFill>
                  <a:srgbClr val="FFFFFF"/>
                </a:solidFill>
                <a:latin typeface="Calibri"/>
              </a:rPr>
              <a:t>global state of all 4 zones</a:t>
            </a:r>
          </a:p>
        </p:txBody>
      </p:sp>
      <p:sp>
        <p:nvSpPr>
          <p:cNvPr id="31" name="Rounded Rectangle 30"/>
          <p:cNvSpPr/>
          <p:nvPr/>
        </p:nvSpPr>
        <p:spPr>
          <a:xfrm>
            <a:off x="6172200" y="4764024"/>
            <a:ext cx="5394960" cy="8229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EXECUTION:</a:t>
            </a:r>
          </a:p>
          <a:p>
            <a:pPr algn="ctr"/>
            <a:r>
              <a:rPr sz="1150" b="0">
                <a:solidFill>
                  <a:srgbClr val="FFFFFF"/>
                </a:solidFill>
                <a:latin typeface="Calibri"/>
              </a:rPr>
              <a:t>each agent acts from its OWN local</a:t>
            </a:r>
          </a:p>
          <a:p>
            <a:pPr algn="ctr"/>
            <a:r>
              <a:rPr sz="1150" b="0">
                <a:solidFill>
                  <a:srgbClr val="FFFFFF"/>
                </a:solidFill>
                <a:latin typeface="Calibri"/>
              </a:rPr>
              <a:t>observation only — no global info</a:t>
            </a:r>
          </a:p>
        </p:txBody>
      </p:sp>
      <p:sp>
        <p:nvSpPr>
          <p:cNvPr id="32" name="TextBox 31"/>
          <p:cNvSpPr txBox="1"/>
          <p:nvPr/>
        </p:nvSpPr>
        <p:spPr>
          <a:xfrm>
            <a:off x="640080" y="5678424"/>
            <a:ext cx="10881360" cy="365760"/>
          </a:xfrm>
          <a:prstGeom prst="rect">
            <a:avLst/>
          </a:prstGeom>
          <a:noFill/>
        </p:spPr>
        <p:txBody>
          <a:bodyPr wrap="square" anchor="t" lIns="0" rIns="0" tIns="0" bIns="0">
            <a:spAutoFit/>
          </a:bodyPr>
          <a:lstStyle/>
          <a:p>
            <a:pPr algn="l">
              <a:lnSpc>
                <a:spcPct val="100000"/>
              </a:lnSpc>
            </a:pPr>
            <a:r>
              <a:rPr sz="1300" b="1" i="0">
                <a:solidFill>
                  <a:srgbClr val="0B3D59"/>
                </a:solidFill>
                <a:latin typeface="Calibri"/>
              </a:rPr>
              <a:t>CTDE = Centralized Training, Decentralized Execution. This is genuine multi-agent MAPPO — NOT one PPO policy with four output values.</a:t>
            </a:r>
          </a:p>
        </p:txBody>
      </p:sp>
      <p:sp>
        <p:nvSpPr>
          <p:cNvPr id="33" name="Rounded Rectangle 32"/>
          <p:cNvSpPr/>
          <p:nvPr/>
        </p:nvSpPr>
        <p:spPr>
          <a:xfrm>
            <a:off x="640080" y="6135624"/>
            <a:ext cx="10881360" cy="50292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SMOKE TEST ONLY — 30 updates (V1 used 300). NOT a final result.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The Safety Shield</a:t>
            </a:r>
          </a:p>
        </p:txBody>
      </p:sp>
      <p:sp>
        <p:nvSpPr>
          <p:cNvPr id="3" name="Rounded Rectangle 2"/>
          <p:cNvSpPr/>
          <p:nvPr/>
        </p:nvSpPr>
        <p:spPr>
          <a:xfrm>
            <a:off x="731520" y="1417320"/>
            <a:ext cx="393192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RL / controller
proposed action</a:t>
            </a:r>
          </a:p>
        </p:txBody>
      </p:sp>
      <p:cxnSp>
        <p:nvCxnSpPr>
          <p:cNvPr id="4" name="Connector 3"/>
          <p:cNvCxnSpPr/>
          <p:nvPr/>
        </p:nvCxnSpPr>
        <p:spPr>
          <a:xfrm>
            <a:off x="2697480.0" y="1920240"/>
            <a:ext cx="0.0" cy="146304"/>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2066544"/>
            <a:ext cx="393192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SAFETY CHECK
(predicted next temp vs. limit)</a:t>
            </a:r>
          </a:p>
        </p:txBody>
      </p:sp>
      <p:cxnSp>
        <p:nvCxnSpPr>
          <p:cNvPr id="6" name="Connector 5"/>
          <p:cNvCxnSpPr/>
          <p:nvPr/>
        </p:nvCxnSpPr>
        <p:spPr>
          <a:xfrm>
            <a:off x="2697480.0" y="2569464"/>
            <a:ext cx="0.0" cy="146304"/>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715768"/>
            <a:ext cx="393192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Safe action
(possibly corrected)</a:t>
            </a:r>
          </a:p>
        </p:txBody>
      </p:sp>
      <p:cxnSp>
        <p:nvCxnSpPr>
          <p:cNvPr id="8" name="Connector 7"/>
          <p:cNvCxnSpPr/>
          <p:nvPr/>
        </p:nvCxnSpPr>
        <p:spPr>
          <a:xfrm>
            <a:off x="2697480.0" y="3218688"/>
            <a:ext cx="0.0" cy="146304"/>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3364992"/>
            <a:ext cx="3931920" cy="50292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0">
                <a:solidFill>
                  <a:srgbClr val="FFFFFF"/>
                </a:solidFill>
                <a:latin typeface="Calibri"/>
              </a:rPr>
              <a:t>Thermal environment</a:t>
            </a:r>
          </a:p>
        </p:txBody>
      </p:sp>
      <p:sp>
        <p:nvSpPr>
          <p:cNvPr id="10" name="Rounded Rectangle 9"/>
          <p:cNvSpPr/>
          <p:nvPr/>
        </p:nvSpPr>
        <p:spPr>
          <a:xfrm>
            <a:off x="5212080" y="1417320"/>
            <a:ext cx="6446520" cy="251460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11" name="TextBox 10"/>
          <p:cNvSpPr txBox="1"/>
          <p:nvPr/>
        </p:nvSpPr>
        <p:spPr>
          <a:xfrm>
            <a:off x="5486400" y="1600200"/>
            <a:ext cx="5852160" cy="365760"/>
          </a:xfrm>
          <a:prstGeom prst="rect">
            <a:avLst/>
          </a:prstGeom>
          <a:noFill/>
        </p:spPr>
        <p:txBody>
          <a:bodyPr wrap="square" anchor="t" lIns="0" rIns="0" tIns="0" bIns="0">
            <a:spAutoFit/>
          </a:bodyPr>
          <a:lstStyle/>
          <a:p>
            <a:pPr algn="l">
              <a:lnSpc>
                <a:spcPct val="100000"/>
              </a:lnSpc>
            </a:pPr>
            <a:r>
              <a:rPr sz="1350" b="1" i="0">
                <a:solidFill>
                  <a:srgbClr val="0B3D59"/>
                </a:solidFill>
                <a:latin typeface="Calibri"/>
              </a:rPr>
              <a:t>What it does</a:t>
            </a:r>
          </a:p>
        </p:txBody>
      </p:sp>
      <p:sp>
        <p:nvSpPr>
          <p:cNvPr id="12" name="TextBox 11"/>
          <p:cNvSpPr txBox="1"/>
          <p:nvPr/>
        </p:nvSpPr>
        <p:spPr>
          <a:xfrm>
            <a:off x="5486400" y="2011680"/>
            <a:ext cx="5852160" cy="1828800"/>
          </a:xfrm>
          <a:prstGeom prst="rect">
            <a:avLst/>
          </a:prstGeom>
          <a:noFill/>
        </p:spPr>
        <p:txBody>
          <a:bodyPr wrap="square" lIns="0" rIns="0">
            <a:spAutoFit/>
          </a:bodyPr>
          <a:lstStyle/>
          <a:p>
            <a:pPr>
              <a:lnSpc>
                <a:spcPct val="108000"/>
              </a:lnSpc>
              <a:spcAft>
                <a:spcPts val="800"/>
              </a:spcAft>
            </a:pPr>
            <a:r>
              <a:rPr sz="1250" b="0">
                <a:solidFill>
                  <a:srgbClr val="1A1F24"/>
                </a:solidFill>
                <a:latin typeface="Calibri"/>
              </a:rPr>
              <a:t>•  One-step-ahead, closed-form check: would the proposed action leave a zone above (limit − margin)?</a:t>
            </a:r>
          </a:p>
          <a:p>
            <a:pPr>
              <a:lnSpc>
                <a:spcPct val="108000"/>
              </a:lnSpc>
              <a:spcAft>
                <a:spcPts val="800"/>
              </a:spcAft>
            </a:pPr>
            <a:r>
              <a:rPr sz="1250" b="0">
                <a:solidFill>
                  <a:srgbClr val="1A1F24"/>
                </a:solidFill>
                <a:latin typeface="Calibri"/>
              </a:rPr>
              <a:t>•  If so, raises cooling to the minimum needed to reach that threshold (bounded by actuator limits) — not a general MPC solver.</a:t>
            </a:r>
          </a:p>
          <a:p>
            <a:pPr>
              <a:lnSpc>
                <a:spcPct val="108000"/>
              </a:lnSpc>
              <a:spcAft>
                <a:spcPts val="800"/>
              </a:spcAft>
            </a:pPr>
            <a:r>
              <a:rPr sz="1250" b="0">
                <a:solidFill>
                  <a:srgbClr val="1A1F24"/>
                </a:solidFill>
                <a:latin typeface="Calibri"/>
              </a:rPr>
              <a:t>•  Every intervention is logged: which zone, how much correction, resulting temperature.</a:t>
            </a:r>
          </a:p>
        </p:txBody>
      </p:sp>
      <p:pic>
        <p:nvPicPr>
          <p:cNvPr id="13" name="Picture 12" descr="shield_ablation.png"/>
          <p:cNvPicPr>
            <a:picLocks noChangeAspect="1"/>
          </p:cNvPicPr>
          <p:nvPr/>
        </p:nvPicPr>
        <p:blipFill>
          <a:blip r:embed="rId2"/>
          <a:stretch>
            <a:fillRect/>
          </a:stretch>
        </p:blipFill>
        <p:spPr>
          <a:xfrm>
            <a:off x="640080" y="4069080"/>
            <a:ext cx="3931920" cy="2046260"/>
          </a:xfrm>
          <a:prstGeom prst="rect">
            <a:avLst/>
          </a:prstGeom>
        </p:spPr>
      </p:pic>
      <p:sp>
        <p:nvSpPr>
          <p:cNvPr id="14" name="Rounded Rectangle 13"/>
          <p:cNvSpPr/>
          <p:nvPr/>
        </p:nvSpPr>
        <p:spPr>
          <a:xfrm>
            <a:off x="7498079" y="4480560"/>
            <a:ext cx="4114800" cy="182880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1A1F24"/>
                </a:solidFill>
                <a:latin typeface="Calibri"/>
              </a:rPr>
              <a:t>“Shield intervention” ≠ “intrinsically safe policy”</a:t>
            </a:r>
          </a:p>
          <a:p>
            <a:pPr algn="ctr"/>
            <a:r>
              <a:rPr sz="1150" b="0">
                <a:solidFill>
                  <a:srgbClr val="1A1F24"/>
                </a:solidFill>
                <a:latin typeface="Calibri"/>
              </a:rPr>
              <a:t/>
            </a:r>
          </a:p>
          <a:p>
            <a:pPr algn="ctr"/>
            <a:r>
              <a:rPr sz="1150" b="0">
                <a:solidFill>
                  <a:srgbClr val="1A1F24"/>
                </a:solidFill>
                <a:latin typeface="Calibri"/>
              </a:rPr>
              <a:t>Fixed/Threshold need the shield heavily.</a:t>
            </a:r>
          </a:p>
          <a:p>
            <a:pPr algn="ctr"/>
            <a:r>
              <a:rPr sz="1150" b="0">
                <a:solidFill>
                  <a:srgbClr val="1A1F24"/>
                </a:solidFill>
                <a:latin typeface="Calibri"/>
              </a:rPr>
              <a:t>PID's shield-on/off results are IDENTICAL —</a:t>
            </a:r>
          </a:p>
          <a:p>
            <a:pPr algn="ctr"/>
            <a:r>
              <a:rPr sz="1150" b="0">
                <a:solidFill>
                  <a:srgbClr val="1A1F24"/>
                </a:solidFill>
                <a:latin typeface="Calibri"/>
              </a:rPr>
              <a:t>not because PID is proactively safe, but</a:t>
            </a:r>
          </a:p>
          <a:p>
            <a:pPr algn="ctr"/>
            <a:r>
              <a:rPr sz="1150" b="0">
                <a:solidFill>
                  <a:srgbClr val="1A1F24"/>
                </a:solidFill>
                <a:latin typeface="Calibri"/>
              </a:rPr>
              <a:t>because cooling is already saturated (slide 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Software / Research Validation</a:t>
            </a:r>
          </a:p>
        </p:txBody>
      </p:sp>
      <p:sp>
        <p:nvSpPr>
          <p:cNvPr id="3" name="Rounded Rectangle 2"/>
          <p:cNvSpPr/>
          <p:nvPr/>
        </p:nvSpPr>
        <p:spPr>
          <a:xfrm>
            <a:off x="640080" y="1417320"/>
            <a:ext cx="3291840" cy="13716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3000" b="1">
                <a:solidFill>
                  <a:srgbClr val="FFFFFF"/>
                </a:solidFill>
                <a:latin typeface="Calibri"/>
              </a:rPr>
              <a:t>62 / 62</a:t>
            </a:r>
          </a:p>
          <a:p>
            <a:pPr algn="ctr"/>
            <a:r>
              <a:rPr sz="3000" b="0">
                <a:solidFill>
                  <a:srgbClr val="FFFFFF"/>
                </a:solidFill>
                <a:latin typeface="Calibri"/>
              </a:rPr>
              <a:t>tests passing</a:t>
            </a:r>
          </a:p>
        </p:txBody>
      </p:sp>
      <p:graphicFrame>
        <p:nvGraphicFramePr>
          <p:cNvPr id="4" name="Table 3"/>
          <p:cNvGraphicFramePr>
            <a:graphicFrameLocks noGrp="1"/>
          </p:cNvGraphicFramePr>
          <p:nvPr/>
        </p:nvGraphicFramePr>
        <p:xfrm>
          <a:off x="4206240" y="1417320"/>
          <a:ext cx="7498078" cy="3383280"/>
        </p:xfrm>
        <a:graphic>
          <a:graphicData uri="http://schemas.openxmlformats.org/drawingml/2006/table">
            <a:tbl>
              <a:tblPr firstRow="1" bandRow="1">
                <a:tableStyleId>{5C22544A-7EE6-4342-B048-85BDC9FD1C3A}</a:tableStyleId>
              </a:tblPr>
              <a:tblGrid>
                <a:gridCol w="2743199"/>
                <a:gridCol w="4754879"/>
              </a:tblGrid>
              <a:tr h="375920">
                <a:tc>
                  <a:txBody>
                    <a:bodyPr/>
                    <a:lstStyle/>
                    <a:p>
                      <a:r>
                        <a:rPr sz="1200" b="1">
                          <a:solidFill>
                            <a:srgbClr val="FFFFFF"/>
                          </a:solidFill>
                          <a:latin typeface="Calibri"/>
                        </a:rPr>
                        <a:t>Category</a:t>
                      </a:r>
                    </a:p>
                  </a:txBody>
                  <a:tcPr marT="50800" marB="50800">
                    <a:solidFill>
                      <a:srgbClr val="0B3D59"/>
                    </a:solidFill>
                  </a:tcPr>
                </a:tc>
                <a:tc>
                  <a:txBody>
                    <a:bodyPr/>
                    <a:lstStyle/>
                    <a:p>
                      <a:r>
                        <a:rPr sz="1200" b="1">
                          <a:solidFill>
                            <a:srgbClr val="FFFFFF"/>
                          </a:solidFill>
                          <a:latin typeface="Calibri"/>
                        </a:rPr>
                        <a:t>What's checked</a:t>
                      </a:r>
                    </a:p>
                  </a:txBody>
                  <a:tcPr marT="50800" marB="50800">
                    <a:solidFill>
                      <a:srgbClr val="0B3D59"/>
                    </a:solidFill>
                  </a:tcPr>
                </a:tc>
              </a:tr>
              <a:tr h="375920">
                <a:tc>
                  <a:txBody>
                    <a:bodyPr/>
                    <a:lstStyle/>
                    <a:p>
                      <a:r>
                        <a:rPr sz="1150" b="0">
                          <a:solidFill>
                            <a:srgbClr val="1A1F24"/>
                          </a:solidFill>
                          <a:latin typeface="Calibri"/>
                        </a:rPr>
                        <a:t>Join integrity</a:t>
                      </a:r>
                    </a:p>
                  </a:txBody>
                  <a:tcPr marT="38100" marB="38100" anchor="ctr">
                    <a:solidFill>
                      <a:srgbClr val="FFFFFF"/>
                    </a:solidFill>
                  </a:tcPr>
                </a:tc>
                <a:tc>
                  <a:txBody>
                    <a:bodyPr/>
                    <a:lstStyle/>
                    <a:p>
                      <a:r>
                        <a:rPr sz="1150" b="0">
                          <a:solidFill>
                            <a:srgbClr val="1A1F24"/>
                          </a:solidFill>
                          <a:latin typeface="Calibri"/>
                        </a:rPr>
                        <a:t>no duplicate (cell, bucket) rows; ≥ 95% workload/power match</a:t>
                      </a:r>
                    </a:p>
                  </a:txBody>
                  <a:tcPr marT="38100" marB="38100" anchor="ctr">
                    <a:solidFill>
                      <a:srgbClr val="FFFFFF"/>
                    </a:solidFill>
                  </a:tcPr>
                </a:tc>
              </a:tr>
              <a:tr h="375920">
                <a:tc>
                  <a:txBody>
                    <a:bodyPr/>
                    <a:lstStyle/>
                    <a:p>
                      <a:r>
                        <a:rPr sz="1150" b="0">
                          <a:solidFill>
                            <a:srgbClr val="1A1F24"/>
                          </a:solidFill>
                          <a:latin typeface="Calibri"/>
                        </a:rPr>
                        <a:t>Chronological split</a:t>
                      </a:r>
                    </a:p>
                  </a:txBody>
                  <a:tcPr marT="38100" marB="38100" anchor="ctr">
                    <a:solidFill>
                      <a:srgbClr val="F1F4F6"/>
                    </a:solidFill>
                  </a:tcPr>
                </a:tc>
                <a:tc>
                  <a:txBody>
                    <a:bodyPr/>
                    <a:lstStyle/>
                    <a:p>
                      <a:r>
                        <a:rPr sz="1150" b="0">
                          <a:solidFill>
                            <a:srgbClr val="1A1F24"/>
                          </a:solidFill>
                          <a:latin typeface="Calibri"/>
                        </a:rPr>
                        <a:t>train &lt; val &lt; test bucket ranges, verified disjoint</a:t>
                      </a:r>
                    </a:p>
                  </a:txBody>
                  <a:tcPr marT="38100" marB="38100" anchor="ctr">
                    <a:solidFill>
                      <a:srgbClr val="F1F4F6"/>
                    </a:solidFill>
                  </a:tcPr>
                </a:tc>
              </a:tr>
              <a:tr h="375920">
                <a:tc>
                  <a:txBody>
                    <a:bodyPr/>
                    <a:lstStyle/>
                    <a:p>
                      <a:r>
                        <a:rPr sz="1150" b="0">
                          <a:solidFill>
                            <a:srgbClr val="1A1F24"/>
                          </a:solidFill>
                          <a:latin typeface="Calibri"/>
                        </a:rPr>
                        <a:t>Causality / leakage</a:t>
                      </a:r>
                    </a:p>
                  </a:txBody>
                  <a:tcPr marT="38100" marB="38100" anchor="ctr">
                    <a:solidFill>
                      <a:srgbClr val="FFFFFF"/>
                    </a:solidFill>
                  </a:tcPr>
                </a:tc>
                <a:tc>
                  <a:txBody>
                    <a:bodyPr/>
                    <a:lstStyle/>
                    <a:p>
                      <a:r>
                        <a:rPr sz="1150" b="0">
                          <a:solidFill>
                            <a:srgbClr val="1A1F24"/>
                          </a:solidFill>
                          <a:latin typeface="Calibri"/>
                        </a:rPr>
                        <a:t>forecast windows never cross a split; degenerate bins zeroed</a:t>
                      </a:r>
                    </a:p>
                  </a:txBody>
                  <a:tcPr marT="38100" marB="38100" anchor="ctr">
                    <a:solidFill>
                      <a:srgbClr val="FFFFFF"/>
                    </a:solidFill>
                  </a:tcPr>
                </a:tc>
              </a:tr>
              <a:tr h="375920">
                <a:tc>
                  <a:txBody>
                    <a:bodyPr/>
                    <a:lstStyle/>
                    <a:p>
                      <a:r>
                        <a:rPr sz="1150" b="0">
                          <a:solidFill>
                            <a:srgbClr val="1A1F24"/>
                          </a:solidFill>
                          <a:latin typeface="Calibri"/>
                        </a:rPr>
                        <a:t>Heat-generation correctness</a:t>
                      </a:r>
                    </a:p>
                  </a:txBody>
                  <a:tcPr marT="38100" marB="38100" anchor="ctr">
                    <a:solidFill>
                      <a:srgbClr val="F1F4F6"/>
                    </a:solidFill>
                  </a:tcPr>
                </a:tc>
                <a:tc>
                  <a:txBody>
                    <a:bodyPr/>
                    <a:lstStyle/>
                    <a:p>
                      <a:r>
                        <a:rPr sz="1150" b="0">
                          <a:solidFill>
                            <a:srgbClr val="1A1F24"/>
                          </a:solidFill>
                          <a:latin typeface="Calibri"/>
                        </a:rPr>
                        <a:t>heat = predicted_power_util × heat_scale_kw, asserted exactly</a:t>
                      </a:r>
                    </a:p>
                  </a:txBody>
                  <a:tcPr marT="38100" marB="38100" anchor="ctr">
                    <a:solidFill>
                      <a:srgbClr val="F1F4F6"/>
                    </a:solidFill>
                  </a:tcPr>
                </a:tc>
              </a:tr>
              <a:tr h="375920">
                <a:tc>
                  <a:txBody>
                    <a:bodyPr/>
                    <a:lstStyle/>
                    <a:p>
                      <a:r>
                        <a:rPr sz="1150" b="0">
                          <a:solidFill>
                            <a:srgbClr val="1A1F24"/>
                          </a:solidFill>
                          <a:latin typeface="Calibri"/>
                        </a:rPr>
                        <a:t>Configuration consistency</a:t>
                      </a:r>
                    </a:p>
                  </a:txBody>
                  <a:tcPr marT="38100" marB="38100" anchor="ctr">
                    <a:solidFill>
                      <a:srgbClr val="FFFFFF"/>
                    </a:solidFill>
                  </a:tcPr>
                </a:tc>
                <a:tc>
                  <a:txBody>
                    <a:bodyPr/>
                    <a:lstStyle/>
                    <a:p>
                      <a:r>
                        <a:rPr sz="1150" b="0">
                          <a:solidFill>
                            <a:srgbClr val="1A1F24"/>
                          </a:solidFill>
                          <a:latin typeface="Calibri"/>
                        </a:rPr>
                        <a:t>single source of truth for active cell set (new, see below)</a:t>
                      </a:r>
                    </a:p>
                  </a:txBody>
                  <a:tcPr marT="38100" marB="38100" anchor="ctr">
                    <a:solidFill>
                      <a:srgbClr val="FFFFFF"/>
                    </a:solidFill>
                  </a:tcPr>
                </a:tc>
              </a:tr>
              <a:tr h="375920">
                <a:tc>
                  <a:txBody>
                    <a:bodyPr/>
                    <a:lstStyle/>
                    <a:p>
                      <a:r>
                        <a:rPr sz="1150" b="0">
                          <a:solidFill>
                            <a:srgbClr val="1A1F24"/>
                          </a:solidFill>
                          <a:latin typeface="Calibri"/>
                        </a:rPr>
                        <a:t>Active-cell / n_zones consistency</a:t>
                      </a:r>
                    </a:p>
                  </a:txBody>
                  <a:tcPr marT="38100" marB="38100" anchor="ctr">
                    <a:solidFill>
                      <a:srgbClr val="F1F4F6"/>
                    </a:solidFill>
                  </a:tcPr>
                </a:tc>
                <a:tc>
                  <a:txBody>
                    <a:bodyPr/>
                    <a:lstStyle/>
                    <a:p>
                      <a:r>
                        <a:rPr sz="1150" b="0">
                          <a:solidFill>
                            <a:srgbClr val="1A1F24"/>
                          </a:solidFill>
                          <a:latin typeface="Calibri"/>
                        </a:rPr>
                        <a:t>n_zones DERIVED from loaded data, not configured</a:t>
                      </a:r>
                    </a:p>
                  </a:txBody>
                  <a:tcPr marT="38100" marB="38100" anchor="ctr">
                    <a:solidFill>
                      <a:srgbClr val="F1F4F6"/>
                    </a:solidFill>
                  </a:tcPr>
                </a:tc>
              </a:tr>
              <a:tr h="375920">
                <a:tc>
                  <a:txBody>
                    <a:bodyPr/>
                    <a:lstStyle/>
                    <a:p>
                      <a:r>
                        <a:rPr sz="1150" b="0">
                          <a:solidFill>
                            <a:srgbClr val="1A1F24"/>
                          </a:solidFill>
                          <a:latin typeface="Calibri"/>
                        </a:rPr>
                        <a:t>Pilot/final artifact separation</a:t>
                      </a:r>
                    </a:p>
                  </a:txBody>
                  <a:tcPr marT="38100" marB="38100" anchor="ctr">
                    <a:solidFill>
                      <a:srgbClr val="FFFFFF"/>
                    </a:solidFill>
                  </a:tcPr>
                </a:tc>
                <a:tc>
                  <a:txBody>
                    <a:bodyPr/>
                    <a:lstStyle/>
                    <a:p>
                      <a:r>
                        <a:rPr sz="1150" b="0">
                          <a:solidFill>
                            <a:srgbClr val="1A1F24"/>
                          </a:solidFill>
                          <a:latin typeface="Calibri"/>
                        </a:rPr>
                        <a:t>results/&lt;cell_set&gt;/... and models/v2/&lt;cell_set&gt;/...</a:t>
                      </a:r>
                    </a:p>
                  </a:txBody>
                  <a:tcPr marT="38100" marB="38100" anchor="ctr">
                    <a:solidFill>
                      <a:srgbClr val="FFFFFF"/>
                    </a:solidFill>
                  </a:tcPr>
                </a:tc>
              </a:tr>
              <a:tr h="375920">
                <a:tc>
                  <a:txBody>
                    <a:bodyPr/>
                    <a:lstStyle/>
                    <a:p>
                      <a:r>
                        <a:rPr sz="1150" b="0">
                          <a:solidFill>
                            <a:srgbClr val="1A1F24"/>
                          </a:solidFill>
                          <a:latin typeface="Calibri"/>
                        </a:rPr>
                        <a:t>Extraction readiness</a:t>
                      </a:r>
                    </a:p>
                  </a:txBody>
                  <a:tcPr marT="38100" marB="38100" anchor="ctr">
                    <a:solidFill>
                      <a:srgbClr val="F1F4F6"/>
                    </a:solidFill>
                  </a:tcPr>
                </a:tc>
                <a:tc>
                  <a:txBody>
                    <a:bodyPr/>
                    <a:lstStyle/>
                    <a:p>
                      <a:r>
                        <a:rPr sz="1150" b="0">
                          <a:solidFill>
                            <a:srgbClr val="1A1F24"/>
                          </a:solidFill>
                          <a:latin typeface="Calibri"/>
                        </a:rPr>
                        <a:t>8-cell extraction script verified live, no code changes needed</a:t>
                      </a:r>
                    </a:p>
                  </a:txBody>
                  <a:tcPr marT="38100" marB="38100" anchor="ctr">
                    <a:solidFill>
                      <a:srgbClr val="F1F4F6"/>
                    </a:solidFill>
                  </a:tcPr>
                </a:tc>
              </a:tr>
            </a:tbl>
          </a:graphicData>
        </a:graphic>
      </p:graphicFrame>
      <p:sp>
        <p:nvSpPr>
          <p:cNvPr id="5" name="Rounded Rectangle 4"/>
          <p:cNvSpPr/>
          <p:nvPr/>
        </p:nvSpPr>
        <p:spPr>
          <a:xfrm>
            <a:off x="640080" y="3063240"/>
            <a:ext cx="3291840" cy="338328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6" name="TextBox 5"/>
          <p:cNvSpPr txBox="1"/>
          <p:nvPr/>
        </p:nvSpPr>
        <p:spPr>
          <a:xfrm>
            <a:off x="822960" y="3246120"/>
            <a:ext cx="2926080" cy="640080"/>
          </a:xfrm>
          <a:prstGeom prst="rect">
            <a:avLst/>
          </a:prstGeom>
          <a:noFill/>
        </p:spPr>
        <p:txBody>
          <a:bodyPr wrap="square" anchor="t" lIns="0" rIns="0" tIns="0" bIns="0">
            <a:spAutoFit/>
          </a:bodyPr>
          <a:lstStyle/>
          <a:p>
            <a:pPr algn="l">
              <a:lnSpc>
                <a:spcPct val="110000"/>
              </a:lnSpc>
            </a:pPr>
            <a:r>
              <a:rPr sz="1300" b="1" i="0">
                <a:solidFill>
                  <a:srgbClr val="0B3D59"/>
                </a:solidFill>
                <a:latin typeface="Calibri"/>
              </a:rPr>
              <a:t>A real bug this caught:</a:t>
            </a:r>
          </a:p>
        </p:txBody>
      </p:sp>
      <p:sp>
        <p:nvSpPr>
          <p:cNvPr id="7" name="TextBox 6"/>
          <p:cNvSpPr txBox="1"/>
          <p:nvPr/>
        </p:nvSpPr>
        <p:spPr>
          <a:xfrm>
            <a:off x="822960" y="3886200"/>
            <a:ext cx="2926080" cy="2377440"/>
          </a:xfrm>
          <a:prstGeom prst="rect">
            <a:avLst/>
          </a:prstGeom>
          <a:noFill/>
        </p:spPr>
        <p:txBody>
          <a:bodyPr wrap="square" anchor="t" lIns="0" rIns="0" tIns="0" bIns="0">
            <a:spAutoFit/>
          </a:bodyPr>
          <a:lstStyle/>
          <a:p>
            <a:pPr algn="l">
              <a:lnSpc>
                <a:spcPct val="125000"/>
              </a:lnSpc>
            </a:pPr>
            <a:r>
              <a:rPr sz="1150" b="0" i="0">
                <a:solidFill>
                  <a:srgbClr val="1A1F24"/>
                </a:solidFill>
                <a:latin typeface="Calibri"/>
              </a:rPr>
              <a:t>configs/v2_config.yaml independently duplicated the active-cell-set setting and manually set n_zones=4. Fixed: one source of truth, n_zones derived from data, pilot/final paths isolated — all locked in by new regression tests.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Current Results: What Has Actually Been Proven</a:t>
            </a:r>
          </a:p>
        </p:txBody>
      </p:sp>
      <p:graphicFrame>
        <p:nvGraphicFramePr>
          <p:cNvPr id="3" name="Table 2"/>
          <p:cNvGraphicFramePr>
            <a:graphicFrameLocks noGrp="1"/>
          </p:cNvGraphicFramePr>
          <p:nvPr/>
        </p:nvGraphicFramePr>
        <p:xfrm>
          <a:off x="548640" y="1417320"/>
          <a:ext cx="11064240" cy="4937760"/>
        </p:xfrm>
        <a:graphic>
          <a:graphicData uri="http://schemas.openxmlformats.org/drawingml/2006/table">
            <a:tbl>
              <a:tblPr firstRow="1" bandRow="1">
                <a:tableStyleId>{5C22544A-7EE6-4342-B048-85BDC9FD1C3A}</a:tableStyleId>
              </a:tblPr>
              <a:tblGrid>
                <a:gridCol w="2377440"/>
                <a:gridCol w="5486400"/>
                <a:gridCol w="3200400"/>
              </a:tblGrid>
              <a:tr h="448887">
                <a:tc>
                  <a:txBody>
                    <a:bodyPr/>
                    <a:lstStyle/>
                    <a:p>
                      <a:r>
                        <a:rPr sz="1300" b="1">
                          <a:solidFill>
                            <a:srgbClr val="FFFFFF"/>
                          </a:solidFill>
                          <a:latin typeface="Calibri"/>
                        </a:rPr>
                        <a:t>Component</a:t>
                      </a:r>
                    </a:p>
                  </a:txBody>
                  <a:tcPr marT="50800" marB="50800">
                    <a:solidFill>
                      <a:srgbClr val="0B3D59"/>
                    </a:solidFill>
                  </a:tcPr>
                </a:tc>
                <a:tc>
                  <a:txBody>
                    <a:bodyPr/>
                    <a:lstStyle/>
                    <a:p>
                      <a:r>
                        <a:rPr sz="1300" b="1">
                          <a:solidFill>
                            <a:srgbClr val="FFFFFF"/>
                          </a:solidFill>
                          <a:latin typeface="Calibri"/>
                        </a:rPr>
                        <a:t>Current evidence</a:t>
                      </a:r>
                    </a:p>
                  </a:txBody>
                  <a:tcPr marT="50800" marB="50800">
                    <a:solidFill>
                      <a:srgbClr val="0B3D59"/>
                    </a:solidFill>
                  </a:tcPr>
                </a:tc>
                <a:tc>
                  <a:txBody>
                    <a:bodyPr/>
                    <a:lstStyle/>
                    <a:p>
                      <a:r>
                        <a:rPr sz="1300" b="1">
                          <a:solidFill>
                            <a:srgbClr val="FFFFFF"/>
                          </a:solidFill>
                          <a:latin typeface="Calibri"/>
                        </a:rPr>
                        <a:t>Status</a:t>
                      </a:r>
                    </a:p>
                  </a:txBody>
                  <a:tcPr marT="50800" marB="50800">
                    <a:solidFill>
                      <a:srgbClr val="0B3D59"/>
                    </a:solidFill>
                  </a:tcPr>
                </a:tc>
              </a:tr>
              <a:tr h="448887">
                <a:tc>
                  <a:txBody>
                    <a:bodyPr/>
                    <a:lstStyle/>
                    <a:p>
                      <a:r>
                        <a:rPr sz="1250" b="0">
                          <a:solidFill>
                            <a:srgbClr val="1A1F24"/>
                          </a:solidFill>
                          <a:latin typeface="Calibri"/>
                        </a:rPr>
                        <a:t>Data alignment</a:t>
                      </a:r>
                    </a:p>
                  </a:txBody>
                  <a:tcPr marT="38100" marB="38100" anchor="ctr">
                    <a:solidFill>
                      <a:srgbClr val="FFFFFF"/>
                    </a:solidFill>
                  </a:tcPr>
                </a:tc>
                <a:tc>
                  <a:txBody>
                    <a:bodyPr/>
                    <a:lstStyle/>
                    <a:p>
                      <a:r>
                        <a:rPr sz="1250" b="0">
                          <a:solidFill>
                            <a:srgbClr val="1A1F24"/>
                          </a:solidFill>
                          <a:latin typeface="Calibri"/>
                        </a:rPr>
                        <a:t>Borg-cell join validated, ≥ 95% coverage per cell</a:t>
                      </a:r>
                    </a:p>
                  </a:txBody>
                  <a:tcPr marT="38100" marB="38100" anchor="ctr">
                    <a:solidFill>
                      <a:srgbClr val="FFFFFF"/>
                    </a:solidFill>
                  </a:tcPr>
                </a:tc>
                <a:tc>
                  <a:txBody>
                    <a:bodyPr/>
                    <a:lstStyle/>
                    <a:p>
                      <a:r>
                        <a:rPr sz="1250" b="0">
                          <a:solidFill>
                            <a:srgbClr val="1A1F24"/>
                          </a:solidFill>
                          <a:latin typeface="Calibri"/>
                        </a:rPr>
                        <a:t>PILOT PIPELINE</a:t>
                      </a:r>
                    </a:p>
                  </a:txBody>
                  <a:tcPr marT="38100" marB="38100" anchor="ctr">
                    <a:solidFill>
                      <a:srgbClr val="FFFFFF"/>
                    </a:solidFill>
                  </a:tcPr>
                </a:tc>
              </a:tr>
              <a:tr h="448887">
                <a:tc>
                  <a:txBody>
                    <a:bodyPr/>
                    <a:lstStyle/>
                    <a:p>
                      <a:r>
                        <a:rPr sz="1250" b="0">
                          <a:solidFill>
                            <a:srgbClr val="1A1F24"/>
                          </a:solidFill>
                          <a:latin typeface="Calibri"/>
                        </a:rPr>
                        <a:t>GRU forecasting</a:t>
                      </a:r>
                    </a:p>
                  </a:txBody>
                  <a:tcPr marT="38100" marB="38100" anchor="ctr">
                    <a:solidFill>
                      <a:srgbClr val="F1F4F6"/>
                    </a:solidFill>
                  </a:tcPr>
                </a:tc>
                <a:tc>
                  <a:txBody>
                    <a:bodyPr/>
                    <a:lstStyle/>
                    <a:p>
                      <a:r>
                        <a:rPr sz="1250" b="0">
                          <a:solidFill>
                            <a:srgbClr val="1A1F24"/>
                          </a:solidFill>
                          <a:latin typeface="Calibri"/>
                        </a:rPr>
                        <a:t>test R² ≈ 0.824 (vs. 0.772 / 0.787 baselines)</a:t>
                      </a:r>
                    </a:p>
                  </a:txBody>
                  <a:tcPr marT="38100" marB="38100" anchor="ctr">
                    <a:solidFill>
                      <a:srgbClr val="F1F4F6"/>
                    </a:solidFill>
                  </a:tcPr>
                </a:tc>
                <a:tc>
                  <a:txBody>
                    <a:bodyPr/>
                    <a:lstStyle/>
                    <a:p>
                      <a:r>
                        <a:rPr sz="1250" b="0">
                          <a:solidFill>
                            <a:srgbClr val="1A1F24"/>
                          </a:solidFill>
                          <a:latin typeface="Calibri"/>
                        </a:rPr>
                        <a:t>PILOT</a:t>
                      </a:r>
                    </a:p>
                  </a:txBody>
                  <a:tcPr marT="38100" marB="38100" anchor="ctr">
                    <a:solidFill>
                      <a:srgbClr val="F1F4F6"/>
                    </a:solidFill>
                  </a:tcPr>
                </a:tc>
              </a:tr>
              <a:tr h="448887">
                <a:tc>
                  <a:txBody>
                    <a:bodyPr/>
                    <a:lstStyle/>
                    <a:p>
                      <a:r>
                        <a:rPr sz="1250" b="0">
                          <a:solidFill>
                            <a:srgbClr val="1A1F24"/>
                          </a:solidFill>
                          <a:latin typeface="Calibri"/>
                        </a:rPr>
                        <a:t>Empirical power model</a:t>
                      </a:r>
                    </a:p>
                  </a:txBody>
                  <a:tcPr marT="38100" marB="38100" anchor="ctr">
                    <a:solidFill>
                      <a:srgbClr val="FFFFFF"/>
                    </a:solidFill>
                  </a:tcPr>
                </a:tc>
                <a:tc>
                  <a:txBody>
                    <a:bodyPr/>
                    <a:lstStyle/>
                    <a:p>
                      <a:r>
                        <a:rPr sz="1250" b="0">
                          <a:solidFill>
                            <a:srgbClr val="1A1F24"/>
                          </a:solidFill>
                          <a:latin typeface="Calibri"/>
                        </a:rPr>
                        <a:t>validation R² ≈ 0.780 (Random Forest)</a:t>
                      </a:r>
                    </a:p>
                  </a:txBody>
                  <a:tcPr marT="38100" marB="38100" anchor="ctr">
                    <a:solidFill>
                      <a:srgbClr val="FFFFFF"/>
                    </a:solidFill>
                  </a:tcPr>
                </a:tc>
                <a:tc>
                  <a:txBody>
                    <a:bodyPr/>
                    <a:lstStyle/>
                    <a:p>
                      <a:r>
                        <a:rPr sz="1250" b="0">
                          <a:solidFill>
                            <a:srgbClr val="1A1F24"/>
                          </a:solidFill>
                          <a:latin typeface="Calibri"/>
                        </a:rPr>
                        <a:t>PILOT</a:t>
                      </a:r>
                    </a:p>
                  </a:txBody>
                  <a:tcPr marT="38100" marB="38100" anchor="ctr">
                    <a:solidFill>
                      <a:srgbClr val="FFFFFF"/>
                    </a:solidFill>
                  </a:tcPr>
                </a:tc>
              </a:tr>
              <a:tr h="448887">
                <a:tc>
                  <a:txBody>
                    <a:bodyPr/>
                    <a:lstStyle/>
                    <a:p>
                      <a:r>
                        <a:rPr sz="1250" b="0">
                          <a:solidFill>
                            <a:srgbClr val="1A1F24"/>
                          </a:solidFill>
                          <a:latin typeface="Calibri"/>
                        </a:rPr>
                        <a:t>Thermal model</a:t>
                      </a:r>
                    </a:p>
                  </a:txBody>
                  <a:tcPr marT="38100" marB="38100" anchor="ctr">
                    <a:solidFill>
                      <a:srgbClr val="F1F4F6"/>
                    </a:solidFill>
                  </a:tcPr>
                </a:tc>
                <a:tc>
                  <a:txBody>
                    <a:bodyPr/>
                    <a:lstStyle/>
                    <a:p>
                      <a:r>
                        <a:rPr sz="1250" b="0">
                          <a:solidFill>
                            <a:srgbClr val="1A1F24"/>
                          </a:solidFill>
                          <a:latin typeface="Calibri"/>
                        </a:rPr>
                        <a:t>calibrated + validated, with a disclosed limitation</a:t>
                      </a:r>
                    </a:p>
                  </a:txBody>
                  <a:tcPr marT="38100" marB="38100" anchor="ctr">
                    <a:solidFill>
                      <a:srgbClr val="F1F4F6"/>
                    </a:solidFill>
                  </a:tcPr>
                </a:tc>
                <a:tc>
                  <a:txBody>
                    <a:bodyPr/>
                    <a:lstStyle/>
                    <a:p>
                      <a:r>
                        <a:rPr sz="1250" b="0">
                          <a:solidFill>
                            <a:srgbClr val="1A1F24"/>
                          </a:solidFill>
                          <a:latin typeface="Calibri"/>
                        </a:rPr>
                        <a:t>PILOT</a:t>
                      </a:r>
                    </a:p>
                  </a:txBody>
                  <a:tcPr marT="38100" marB="38100" anchor="ctr">
                    <a:solidFill>
                      <a:srgbClr val="F1F4F6"/>
                    </a:solidFill>
                  </a:tcPr>
                </a:tc>
              </a:tr>
              <a:tr h="448887">
                <a:tc>
                  <a:txBody>
                    <a:bodyPr/>
                    <a:lstStyle/>
                    <a:p>
                      <a:r>
                        <a:rPr sz="1250" b="0">
                          <a:solidFill>
                            <a:srgbClr val="1A1F24"/>
                          </a:solidFill>
                          <a:latin typeface="Calibri"/>
                        </a:rPr>
                        <a:t>Classical control</a:t>
                      </a:r>
                    </a:p>
                  </a:txBody>
                  <a:tcPr marT="38100" marB="38100" anchor="ctr">
                    <a:solidFill>
                      <a:srgbClr val="FFFFFF"/>
                    </a:solidFill>
                  </a:tcPr>
                </a:tc>
                <a:tc>
                  <a:txBody>
                    <a:bodyPr/>
                    <a:lstStyle/>
                    <a:p>
                      <a:r>
                        <a:rPr sz="1250" b="0">
                          <a:solidFill>
                            <a:srgbClr val="1A1F24"/>
                          </a:solidFill>
                          <a:latin typeface="Calibri"/>
                        </a:rPr>
                        <a:t>Fixed/Threshold/PID evaluated, 20 test episodes</a:t>
                      </a:r>
                    </a:p>
                  </a:txBody>
                  <a:tcPr marT="38100" marB="38100" anchor="ctr">
                    <a:solidFill>
                      <a:srgbClr val="FFFFFF"/>
                    </a:solidFill>
                  </a:tcPr>
                </a:tc>
                <a:tc>
                  <a:txBody>
                    <a:bodyPr/>
                    <a:lstStyle/>
                    <a:p>
                      <a:r>
                        <a:rPr sz="1250" b="0">
                          <a:solidFill>
                            <a:srgbClr val="1A1F24"/>
                          </a:solidFill>
                          <a:latin typeface="Calibri"/>
                        </a:rPr>
                        <a:t>PILOT</a:t>
                      </a:r>
                    </a:p>
                  </a:txBody>
                  <a:tcPr marT="38100" marB="38100" anchor="ctr">
                    <a:solidFill>
                      <a:srgbClr val="FFFFFF"/>
                    </a:solidFill>
                  </a:tcPr>
                </a:tc>
              </a:tr>
              <a:tr h="448887">
                <a:tc>
                  <a:txBody>
                    <a:bodyPr/>
                    <a:lstStyle/>
                    <a:p>
                      <a:r>
                        <a:rPr sz="1250" b="0">
                          <a:solidFill>
                            <a:srgbClr val="1A1F24"/>
                          </a:solidFill>
                          <a:latin typeface="Calibri"/>
                        </a:rPr>
                        <a:t>MPC</a:t>
                      </a:r>
                    </a:p>
                  </a:txBody>
                  <a:tcPr marT="38100" marB="38100" anchor="ctr">
                    <a:solidFill>
                      <a:srgbClr val="F1F4F6"/>
                    </a:solidFill>
                  </a:tcPr>
                </a:tc>
                <a:tc>
                  <a:txBody>
                    <a:bodyPr/>
                    <a:lstStyle/>
                    <a:p>
                      <a:r>
                        <a:rPr sz="1250" b="0">
                          <a:solidFill>
                            <a:srgbClr val="1A1F24"/>
                          </a:solidFill>
                          <a:latin typeface="Calibri"/>
                        </a:rPr>
                        <a:t>implemented, evaluated (documented simplification)</a:t>
                      </a:r>
                    </a:p>
                  </a:txBody>
                  <a:tcPr marT="38100" marB="38100" anchor="ctr">
                    <a:solidFill>
                      <a:srgbClr val="F1F4F6"/>
                    </a:solidFill>
                  </a:tcPr>
                </a:tc>
                <a:tc>
                  <a:txBody>
                    <a:bodyPr/>
                    <a:lstStyle/>
                    <a:p>
                      <a:r>
                        <a:rPr sz="1250" b="0">
                          <a:solidFill>
                            <a:srgbClr val="1A1F24"/>
                          </a:solidFill>
                          <a:latin typeface="Calibri"/>
                        </a:rPr>
                        <a:t>PILOT</a:t>
                      </a:r>
                    </a:p>
                  </a:txBody>
                  <a:tcPr marT="38100" marB="38100" anchor="ctr">
                    <a:solidFill>
                      <a:srgbClr val="F1F4F6"/>
                    </a:solidFill>
                  </a:tcPr>
                </a:tc>
              </a:tr>
              <a:tr h="448887">
                <a:tc>
                  <a:txBody>
                    <a:bodyPr/>
                    <a:lstStyle/>
                    <a:p>
                      <a:r>
                        <a:rPr sz="1250" b="0">
                          <a:solidFill>
                            <a:srgbClr val="1A1F24"/>
                          </a:solidFill>
                          <a:latin typeface="Calibri"/>
                        </a:rPr>
                        <a:t>PPO</a:t>
                      </a:r>
                    </a:p>
                  </a:txBody>
                  <a:tcPr marT="38100" marB="38100" anchor="ctr">
                    <a:solidFill>
                      <a:srgbClr val="FFFFFF"/>
                    </a:solidFill>
                  </a:tcPr>
                </a:tc>
                <a:tc>
                  <a:txBody>
                    <a:bodyPr/>
                    <a:lstStyle/>
                    <a:p>
                      <a:r>
                        <a:rPr sz="1250" b="0">
                          <a:solidFill>
                            <a:srgbClr val="1A1F24"/>
                          </a:solidFill>
                          <a:latin typeface="Calibri"/>
                        </a:rPr>
                        <a:t>runs correctly end-to-end</a:t>
                      </a:r>
                    </a:p>
                  </a:txBody>
                  <a:tcPr marT="38100" marB="38100" anchor="ctr">
                    <a:solidFill>
                      <a:srgbClr val="FFFFFF"/>
                    </a:solidFill>
                  </a:tcPr>
                </a:tc>
                <a:tc>
                  <a:txBody>
                    <a:bodyPr/>
                    <a:lstStyle/>
                    <a:p>
                      <a:r>
                        <a:rPr sz="1250" b="0">
                          <a:solidFill>
                            <a:srgbClr val="1A1F24"/>
                          </a:solidFill>
                          <a:latin typeface="Calibri"/>
                        </a:rPr>
                        <a:t>SMOKE TEST — NOT FINAL</a:t>
                      </a:r>
                    </a:p>
                  </a:txBody>
                  <a:tcPr marT="38100" marB="38100" anchor="ctr">
                    <a:solidFill>
                      <a:srgbClr val="FFFFFF"/>
                    </a:solidFill>
                  </a:tcPr>
                </a:tc>
              </a:tr>
              <a:tr h="448887">
                <a:tc>
                  <a:txBody>
                    <a:bodyPr/>
                    <a:lstStyle/>
                    <a:p>
                      <a:r>
                        <a:rPr sz="1250" b="0">
                          <a:solidFill>
                            <a:srgbClr val="1A1F24"/>
                          </a:solidFill>
                          <a:latin typeface="Calibri"/>
                        </a:rPr>
                        <a:t>MAPPO (CTDE)</a:t>
                      </a:r>
                    </a:p>
                  </a:txBody>
                  <a:tcPr marT="38100" marB="38100" anchor="ctr">
                    <a:solidFill>
                      <a:srgbClr val="F1F4F6"/>
                    </a:solidFill>
                  </a:tcPr>
                </a:tc>
                <a:tc>
                  <a:txBody>
                    <a:bodyPr/>
                    <a:lstStyle/>
                    <a:p>
                      <a:r>
                        <a:rPr sz="1250" b="0">
                          <a:solidFill>
                            <a:srgbClr val="1A1F24"/>
                          </a:solidFill>
                          <a:latin typeface="Calibri"/>
                        </a:rPr>
                        <a:t>runs correctly end-to-end, structurally verified</a:t>
                      </a:r>
                    </a:p>
                  </a:txBody>
                  <a:tcPr marT="38100" marB="38100" anchor="ctr">
                    <a:solidFill>
                      <a:srgbClr val="F1F4F6"/>
                    </a:solidFill>
                  </a:tcPr>
                </a:tc>
                <a:tc>
                  <a:txBody>
                    <a:bodyPr/>
                    <a:lstStyle/>
                    <a:p>
                      <a:r>
                        <a:rPr sz="1250" b="0">
                          <a:solidFill>
                            <a:srgbClr val="1A1F24"/>
                          </a:solidFill>
                          <a:latin typeface="Calibri"/>
                        </a:rPr>
                        <a:t>SMOKE TEST — NOT FINAL</a:t>
                      </a:r>
                    </a:p>
                  </a:txBody>
                  <a:tcPr marT="38100" marB="38100" anchor="ctr">
                    <a:solidFill>
                      <a:srgbClr val="F1F4F6"/>
                    </a:solidFill>
                  </a:tcPr>
                </a:tc>
              </a:tr>
              <a:tr h="448887">
                <a:tc>
                  <a:txBody>
                    <a:bodyPr/>
                    <a:lstStyle/>
                    <a:p>
                      <a:r>
                        <a:rPr sz="1250" b="0">
                          <a:solidFill>
                            <a:srgbClr val="1A1F24"/>
                          </a:solidFill>
                          <a:latin typeface="Calibri"/>
                        </a:rPr>
                        <a:t>Safety shield</a:t>
                      </a:r>
                    </a:p>
                  </a:txBody>
                  <a:tcPr marT="38100" marB="38100" anchor="ctr">
                    <a:solidFill>
                      <a:srgbClr val="FFFFFF"/>
                    </a:solidFill>
                  </a:tcPr>
                </a:tc>
                <a:tc>
                  <a:txBody>
                    <a:bodyPr/>
                    <a:lstStyle/>
                    <a:p>
                      <a:r>
                        <a:rPr sz="1250" b="0">
                          <a:solidFill>
                            <a:srgbClr val="1A1F24"/>
                          </a:solidFill>
                          <a:latin typeface="Calibri"/>
                        </a:rPr>
                        <a:t>implemented + ON/OFF ablation with reliance analysis</a:t>
                      </a:r>
                    </a:p>
                  </a:txBody>
                  <a:tcPr marT="38100" marB="38100" anchor="ctr">
                    <a:solidFill>
                      <a:srgbClr val="FFFFFF"/>
                    </a:solidFill>
                  </a:tcPr>
                </a:tc>
                <a:tc>
                  <a:txBody>
                    <a:bodyPr/>
                    <a:lstStyle/>
                    <a:p>
                      <a:r>
                        <a:rPr sz="1250" b="0">
                          <a:solidFill>
                            <a:srgbClr val="1A1F24"/>
                          </a:solidFill>
                          <a:latin typeface="Calibri"/>
                        </a:rPr>
                        <a:t>PILOT</a:t>
                      </a:r>
                    </a:p>
                  </a:txBody>
                  <a:tcPr marT="38100" marB="38100" anchor="ctr">
                    <a:solidFill>
                      <a:srgbClr val="FFFFFF"/>
                    </a:solidFill>
                  </a:tcPr>
                </a:tc>
              </a:tr>
              <a:tr h="448890">
                <a:tc>
                  <a:txBody>
                    <a:bodyPr/>
                    <a:lstStyle/>
                    <a:p>
                      <a:r>
                        <a:rPr sz="1250" b="0">
                          <a:solidFill>
                            <a:srgbClr val="1A1F24"/>
                          </a:solidFill>
                          <a:latin typeface="Calibri"/>
                        </a:rPr>
                        <a:t>Engineering tests</a:t>
                      </a:r>
                    </a:p>
                  </a:txBody>
                  <a:tcPr marT="38100" marB="38100" anchor="ctr">
                    <a:solidFill>
                      <a:srgbClr val="F1F4F6"/>
                    </a:solidFill>
                  </a:tcPr>
                </a:tc>
                <a:tc>
                  <a:txBody>
                    <a:bodyPr/>
                    <a:lstStyle/>
                    <a:p>
                      <a:r>
                        <a:rPr sz="1250" b="0">
                          <a:solidFill>
                            <a:srgbClr val="1A1F24"/>
                          </a:solidFill>
                          <a:latin typeface="Calibri"/>
                        </a:rPr>
                        <a:t>62 / 62 passing</a:t>
                      </a:r>
                    </a:p>
                  </a:txBody>
                  <a:tcPr marT="38100" marB="38100" anchor="ctr">
                    <a:solidFill>
                      <a:srgbClr val="F1F4F6"/>
                    </a:solidFill>
                  </a:tcPr>
                </a:tc>
                <a:tc>
                  <a:txBody>
                    <a:bodyPr/>
                    <a:lstStyle/>
                    <a:p>
                      <a:r>
                        <a:rPr sz="1250" b="0">
                          <a:solidFill>
                            <a:srgbClr val="1A1F24"/>
                          </a:solidFill>
                          <a:latin typeface="Calibri"/>
                        </a:rPr>
                        <a:t>VERIFIED</a:t>
                      </a:r>
                    </a:p>
                  </a:txBody>
                  <a:tcPr marT="38100" marB="38100" anchor="ctr">
                    <a:solidFill>
                      <a:srgbClr val="F1F4F6"/>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What Is Done / What Is Not Yet Final</a:t>
            </a:r>
          </a:p>
        </p:txBody>
      </p:sp>
      <p:sp>
        <p:nvSpPr>
          <p:cNvPr id="3" name="Rounded Rectangle 2"/>
          <p:cNvSpPr/>
          <p:nvPr/>
        </p:nvSpPr>
        <p:spPr>
          <a:xfrm>
            <a:off x="548640" y="1417320"/>
            <a:ext cx="5349240" cy="4572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COMPLETED</a:t>
            </a:r>
          </a:p>
        </p:txBody>
      </p:sp>
      <p:sp>
        <p:nvSpPr>
          <p:cNvPr id="4" name="TextBox 3"/>
          <p:cNvSpPr txBox="1"/>
          <p:nvPr/>
        </p:nvSpPr>
        <p:spPr>
          <a:xfrm>
            <a:off x="548640" y="2011680"/>
            <a:ext cx="5349240" cy="4572000"/>
          </a:xfrm>
          <a:prstGeom prst="rect">
            <a:avLst/>
          </a:prstGeom>
          <a:noFill/>
        </p:spPr>
        <p:txBody>
          <a:bodyPr wrap="square" lIns="0" rIns="0">
            <a:spAutoFit/>
          </a:bodyPr>
          <a:lstStyle/>
          <a:p>
            <a:pPr>
              <a:lnSpc>
                <a:spcPct val="108000"/>
              </a:lnSpc>
              <a:spcAft>
                <a:spcPts val="600"/>
              </a:spcAft>
            </a:pPr>
            <a:r>
              <a:rPr sz="1250" b="0">
                <a:solidFill>
                  <a:srgbClr val="1A1F24"/>
                </a:solidFill>
                <a:latin typeface="Calibri"/>
              </a:rPr>
              <a:t>•  Official data audit + alignment audit</a:t>
            </a:r>
          </a:p>
          <a:p>
            <a:pPr>
              <a:lnSpc>
                <a:spcPct val="108000"/>
              </a:lnSpc>
              <a:spcAft>
                <a:spcPts val="600"/>
              </a:spcAft>
            </a:pPr>
            <a:r>
              <a:rPr sz="1250" b="0">
                <a:solidFill>
                  <a:srgbClr val="1A1F24"/>
                </a:solidFill>
                <a:latin typeface="Calibri"/>
              </a:rPr>
              <a:t>•  Cells A–D extraction</a:t>
            </a:r>
          </a:p>
          <a:p>
            <a:pPr>
              <a:lnSpc>
                <a:spcPct val="108000"/>
              </a:lnSpc>
              <a:spcAft>
                <a:spcPts val="600"/>
              </a:spcAft>
            </a:pPr>
            <a:r>
              <a:rPr sz="1250" b="0">
                <a:solidFill>
                  <a:srgbClr val="1A1F24"/>
                </a:solidFill>
                <a:latin typeface="Calibri"/>
              </a:rPr>
              <a:t>•  All 8 cells' power + machine data extraction</a:t>
            </a:r>
          </a:p>
          <a:p>
            <a:pPr>
              <a:lnSpc>
                <a:spcPct val="108000"/>
              </a:lnSpc>
              <a:spcAft>
                <a:spcPts val="600"/>
              </a:spcAft>
            </a:pPr>
            <a:r>
              <a:rPr sz="1250" b="0">
                <a:solidFill>
                  <a:srgbClr val="1A1F24"/>
                </a:solidFill>
                <a:latin typeface="Calibri"/>
              </a:rPr>
              <a:t>•  Preprocessing pipeline</a:t>
            </a:r>
          </a:p>
          <a:p>
            <a:pPr>
              <a:lnSpc>
                <a:spcPct val="108000"/>
              </a:lnSpc>
              <a:spcAft>
                <a:spcPts val="600"/>
              </a:spcAft>
            </a:pPr>
            <a:r>
              <a:rPr sz="1250" b="0">
                <a:solidFill>
                  <a:srgbClr val="1A1F24"/>
                </a:solidFill>
                <a:latin typeface="Calibri"/>
              </a:rPr>
              <a:t>•  GRU forecaster</a:t>
            </a:r>
          </a:p>
          <a:p>
            <a:pPr>
              <a:lnSpc>
                <a:spcPct val="108000"/>
              </a:lnSpc>
              <a:spcAft>
                <a:spcPts val="600"/>
              </a:spcAft>
            </a:pPr>
            <a:r>
              <a:rPr sz="1250" b="0">
                <a:solidFill>
                  <a:srgbClr val="1A1F24"/>
                </a:solidFill>
                <a:latin typeface="Calibri"/>
              </a:rPr>
              <a:t>•  Empirical power model</a:t>
            </a:r>
          </a:p>
          <a:p>
            <a:pPr>
              <a:lnSpc>
                <a:spcPct val="108000"/>
              </a:lnSpc>
              <a:spcAft>
                <a:spcPts val="600"/>
              </a:spcAft>
            </a:pPr>
            <a:r>
              <a:rPr sz="1250" b="0">
                <a:solidFill>
                  <a:srgbClr val="1A1F24"/>
                </a:solidFill>
                <a:latin typeface="Calibri"/>
              </a:rPr>
              <a:t>•  Thermal calibration (pilot)</a:t>
            </a:r>
          </a:p>
          <a:p>
            <a:pPr>
              <a:lnSpc>
                <a:spcPct val="108000"/>
              </a:lnSpc>
              <a:spcAft>
                <a:spcPts val="600"/>
              </a:spcAft>
            </a:pPr>
            <a:r>
              <a:rPr sz="1250" b="0">
                <a:solidFill>
                  <a:srgbClr val="1A1F24"/>
                </a:solidFill>
                <a:latin typeface="Calibri"/>
              </a:rPr>
              <a:t>•  Classical controllers (Fixed/Threshold/PID)</a:t>
            </a:r>
          </a:p>
          <a:p>
            <a:pPr>
              <a:lnSpc>
                <a:spcPct val="108000"/>
              </a:lnSpc>
              <a:spcAft>
                <a:spcPts val="600"/>
              </a:spcAft>
            </a:pPr>
            <a:r>
              <a:rPr sz="1250" b="0">
                <a:solidFill>
                  <a:srgbClr val="1A1F24"/>
                </a:solidFill>
                <a:latin typeface="Calibri"/>
              </a:rPr>
              <a:t>•  MPC</a:t>
            </a:r>
          </a:p>
          <a:p>
            <a:pPr>
              <a:lnSpc>
                <a:spcPct val="108000"/>
              </a:lnSpc>
              <a:spcAft>
                <a:spcPts val="600"/>
              </a:spcAft>
            </a:pPr>
            <a:r>
              <a:rPr sz="1250" b="0">
                <a:solidFill>
                  <a:srgbClr val="1A1F24"/>
                </a:solidFill>
                <a:latin typeface="Calibri"/>
              </a:rPr>
              <a:t>•  Safety-shield infrastructure + ablation</a:t>
            </a:r>
          </a:p>
          <a:p>
            <a:pPr>
              <a:lnSpc>
                <a:spcPct val="108000"/>
              </a:lnSpc>
              <a:spcAft>
                <a:spcPts val="600"/>
              </a:spcAft>
            </a:pPr>
            <a:r>
              <a:rPr sz="1250" b="0">
                <a:solidFill>
                  <a:srgbClr val="1A1F24"/>
                </a:solidFill>
                <a:latin typeface="Calibri"/>
              </a:rPr>
              <a:t>•  Robustness infrastructure</a:t>
            </a:r>
          </a:p>
          <a:p>
            <a:pPr>
              <a:lnSpc>
                <a:spcPct val="108000"/>
              </a:lnSpc>
              <a:spcAft>
                <a:spcPts val="600"/>
              </a:spcAft>
            </a:pPr>
            <a:r>
              <a:rPr sz="1250" b="0">
                <a:solidFill>
                  <a:srgbClr val="1A1F24"/>
                </a:solidFill>
                <a:latin typeface="Calibri"/>
              </a:rPr>
              <a:t>•  62/62 engineering tests</a:t>
            </a:r>
          </a:p>
          <a:p>
            <a:pPr>
              <a:lnSpc>
                <a:spcPct val="108000"/>
              </a:lnSpc>
              <a:spcAft>
                <a:spcPts val="600"/>
              </a:spcAft>
            </a:pPr>
            <a:r>
              <a:rPr sz="1250" b="0">
                <a:solidFill>
                  <a:srgbClr val="1A1F24"/>
                </a:solidFill>
                <a:latin typeface="Calibri"/>
              </a:rPr>
              <a:t>•  Git/GitHub version control (V1 preserved)</a:t>
            </a:r>
          </a:p>
        </p:txBody>
      </p:sp>
      <p:sp>
        <p:nvSpPr>
          <p:cNvPr id="5" name="Rounded Rectangle 4"/>
          <p:cNvSpPr/>
          <p:nvPr/>
        </p:nvSpPr>
        <p:spPr>
          <a:xfrm>
            <a:off x="6126480" y="1417320"/>
            <a:ext cx="5349240" cy="45720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NOT YET FINAL</a:t>
            </a:r>
          </a:p>
        </p:txBody>
      </p:sp>
      <p:sp>
        <p:nvSpPr>
          <p:cNvPr id="6" name="TextBox 5"/>
          <p:cNvSpPr txBox="1"/>
          <p:nvPr/>
        </p:nvSpPr>
        <p:spPr>
          <a:xfrm>
            <a:off x="6126480" y="2011680"/>
            <a:ext cx="5349240" cy="4572000"/>
          </a:xfrm>
          <a:prstGeom prst="rect">
            <a:avLst/>
          </a:prstGeom>
          <a:noFill/>
        </p:spPr>
        <p:txBody>
          <a:bodyPr wrap="square" lIns="0" rIns="0">
            <a:spAutoFit/>
          </a:bodyPr>
          <a:lstStyle/>
          <a:p>
            <a:pPr>
              <a:lnSpc>
                <a:spcPct val="108000"/>
              </a:lnSpc>
              <a:spcAft>
                <a:spcPts val="600"/>
              </a:spcAft>
            </a:pPr>
            <a:r>
              <a:rPr sz="1250" b="0">
                <a:solidFill>
                  <a:srgbClr val="1A1F24"/>
                </a:solidFill>
                <a:latin typeface="Calibri"/>
              </a:rPr>
              <a:t>•  Cells E–H workload extraction</a:t>
            </a:r>
          </a:p>
          <a:p>
            <a:pPr>
              <a:lnSpc>
                <a:spcPct val="108000"/>
              </a:lnSpc>
              <a:spcAft>
                <a:spcPts val="600"/>
              </a:spcAft>
            </a:pPr>
            <a:r>
              <a:rPr sz="1250" b="0">
                <a:solidFill>
                  <a:srgbClr val="1A1F24"/>
                </a:solidFill>
                <a:latin typeface="Calibri"/>
              </a:rPr>
              <a:t>•  Complete A–H dataset</a:t>
            </a:r>
          </a:p>
          <a:p>
            <a:pPr>
              <a:lnSpc>
                <a:spcPct val="108000"/>
              </a:lnSpc>
              <a:spcAft>
                <a:spcPts val="600"/>
              </a:spcAft>
            </a:pPr>
            <a:r>
              <a:rPr sz="1250" b="0">
                <a:solidFill>
                  <a:srgbClr val="1A1F24"/>
                </a:solidFill>
                <a:latin typeface="Calibri"/>
              </a:rPr>
              <a:t>•  Final model selection (on val, all 8 cells)</a:t>
            </a:r>
          </a:p>
          <a:p>
            <a:pPr>
              <a:lnSpc>
                <a:spcPct val="108000"/>
              </a:lnSpc>
              <a:spcAft>
                <a:spcPts val="600"/>
              </a:spcAft>
            </a:pPr>
            <a:r>
              <a:rPr sz="1250" b="0">
                <a:solidFill>
                  <a:srgbClr val="1A1F24"/>
                </a:solidFill>
                <a:latin typeface="Calibri"/>
              </a:rPr>
              <a:t>•  Full PPO training budget</a:t>
            </a:r>
          </a:p>
          <a:p>
            <a:pPr>
              <a:lnSpc>
                <a:spcPct val="108000"/>
              </a:lnSpc>
              <a:spcAft>
                <a:spcPts val="600"/>
              </a:spcAft>
            </a:pPr>
            <a:r>
              <a:rPr sz="1250" b="0">
                <a:solidFill>
                  <a:srgbClr val="1A1F24"/>
                </a:solidFill>
                <a:latin typeface="Calibri"/>
              </a:rPr>
              <a:t>•  Full MAPPO training budget</a:t>
            </a:r>
          </a:p>
          <a:p>
            <a:pPr>
              <a:lnSpc>
                <a:spcPct val="108000"/>
              </a:lnSpc>
              <a:spcAft>
                <a:spcPts val="600"/>
              </a:spcAft>
            </a:pPr>
            <a:r>
              <a:rPr sz="1250" b="0">
                <a:solidFill>
                  <a:srgbClr val="1A1F24"/>
                </a:solidFill>
                <a:latin typeface="Calibri"/>
              </a:rPr>
              <a:t>•  Final multi-seed evaluation (≥ 5 seeds)</a:t>
            </a:r>
          </a:p>
          <a:p>
            <a:pPr>
              <a:lnSpc>
                <a:spcPct val="108000"/>
              </a:lnSpc>
              <a:spcAft>
                <a:spcPts val="600"/>
              </a:spcAft>
            </a:pPr>
            <a:r>
              <a:rPr sz="1250" b="0">
                <a:solidFill>
                  <a:srgbClr val="1A1F24"/>
                </a:solidFill>
                <a:latin typeface="Calibri"/>
              </a:rPr>
              <a:t>•  Full ablations (forecast on/off, shield on/off) on final data</a:t>
            </a:r>
          </a:p>
          <a:p>
            <a:pPr>
              <a:lnSpc>
                <a:spcPct val="108000"/>
              </a:lnSpc>
              <a:spcAft>
                <a:spcPts val="600"/>
              </a:spcAft>
            </a:pPr>
            <a:r>
              <a:rPr sz="1250" b="0">
                <a:solidFill>
                  <a:srgbClr val="1A1F24"/>
                </a:solidFill>
                <a:latin typeface="Calibri"/>
              </a:rPr>
              <a:t>•  Final robustness study</a:t>
            </a:r>
          </a:p>
          <a:p>
            <a:pPr>
              <a:lnSpc>
                <a:spcPct val="108000"/>
              </a:lnSpc>
              <a:spcAft>
                <a:spcPts val="600"/>
              </a:spcAft>
            </a:pPr>
            <a:r>
              <a:rPr sz="1250" b="0">
                <a:solidFill>
                  <a:srgbClr val="1A1F24"/>
                </a:solidFill>
                <a:latin typeface="Calibri"/>
              </a:rPr>
              <a:t>•  Final untouched test-set evaluation</a:t>
            </a:r>
          </a:p>
          <a:p>
            <a:pPr>
              <a:lnSpc>
                <a:spcPct val="108000"/>
              </a:lnSpc>
              <a:spcAft>
                <a:spcPts val="600"/>
              </a:spcAft>
            </a:pPr>
            <a:r>
              <a:rPr sz="1250" b="0">
                <a:solidFill>
                  <a:srgbClr val="1A1F24"/>
                </a:solidFill>
                <a:latin typeface="Calibri"/>
              </a:rPr>
              <a:t>•  Final independent audit</a:t>
            </a:r>
          </a:p>
          <a:p>
            <a:pPr>
              <a:lnSpc>
                <a:spcPct val="108000"/>
              </a:lnSpc>
              <a:spcAft>
                <a:spcPts val="600"/>
              </a:spcAft>
            </a:pPr>
            <a:r>
              <a:rPr sz="1250" b="0">
                <a:solidFill>
                  <a:srgbClr val="1A1F24"/>
                </a:solidFill>
                <a:latin typeface="Calibri"/>
              </a:rPr>
              <a:t>•  Final research report (DOCX) and final PPTX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Why We Are Not Claiming Final Results Yet</a:t>
            </a:r>
          </a:p>
        </p:txBody>
      </p:sp>
      <p:sp>
        <p:nvSpPr>
          <p:cNvPr id="3" name="TextBox 2"/>
          <p:cNvSpPr txBox="1"/>
          <p:nvPr/>
        </p:nvSpPr>
        <p:spPr>
          <a:xfrm>
            <a:off x="548640" y="1463040"/>
            <a:ext cx="11064240" cy="548640"/>
          </a:xfrm>
          <a:prstGeom prst="rect">
            <a:avLst/>
          </a:prstGeom>
          <a:noFill/>
        </p:spPr>
        <p:txBody>
          <a:bodyPr wrap="square" anchor="t" lIns="0" rIns="0" tIns="0" bIns="0">
            <a:spAutoFit/>
          </a:bodyPr>
          <a:lstStyle/>
          <a:p>
            <a:pPr algn="l">
              <a:lnSpc>
                <a:spcPct val="100000"/>
              </a:lnSpc>
            </a:pPr>
            <a:r>
              <a:rPr sz="1900" b="1" i="0">
                <a:solidFill>
                  <a:srgbClr val="0B3D59"/>
                </a:solidFill>
                <a:latin typeface="Calibri"/>
              </a:rPr>
              <a:t>A–D is 4 of 8 cells — half the intended final population.</a:t>
            </a:r>
          </a:p>
        </p:txBody>
      </p:sp>
      <p:sp>
        <p:nvSpPr>
          <p:cNvPr id="4" name="TextBox 3"/>
          <p:cNvSpPr txBox="1"/>
          <p:nvPr/>
        </p:nvSpPr>
        <p:spPr>
          <a:xfrm>
            <a:off x="548640" y="2286000"/>
            <a:ext cx="10972800" cy="2011680"/>
          </a:xfrm>
          <a:prstGeom prst="rect">
            <a:avLst/>
          </a:prstGeom>
          <a:noFill/>
        </p:spPr>
        <p:txBody>
          <a:bodyPr wrap="square" lIns="0" rIns="0">
            <a:spAutoFit/>
          </a:bodyPr>
          <a:lstStyle/>
          <a:p>
            <a:pPr>
              <a:lnSpc>
                <a:spcPct val="108000"/>
              </a:lnSpc>
              <a:spcAft>
                <a:spcPts val="1400"/>
              </a:spcAft>
            </a:pPr>
            <a:r>
              <a:rPr sz="1500" b="0">
                <a:solidFill>
                  <a:srgbClr val="1A1F24"/>
                </a:solidFill>
                <a:latin typeface="Calibri"/>
              </a:rPr>
              <a:t>•  Repeatedly tuning thermal parameters, rewards, and hyperparameters against A–D and then reporting that as the final research conclusion would risk OVERFITTING to the pilot population.</a:t>
            </a:r>
          </a:p>
          <a:p>
            <a:pPr>
              <a:lnSpc>
                <a:spcPct val="108000"/>
              </a:lnSpc>
              <a:spcAft>
                <a:spcPts val="1400"/>
              </a:spcAft>
            </a:pPr>
            <a:r>
              <a:rPr sz="1500" b="0">
                <a:solidFill>
                  <a:srgbClr val="1A1F24"/>
                </a:solidFill>
                <a:latin typeface="Calibri"/>
              </a:rPr>
              <a:t>•  Model/controller selection decisions made only on A–D could be BIASED in ways that don't hold on E–H.</a:t>
            </a:r>
          </a:p>
          <a:p>
            <a:pPr>
              <a:lnSpc>
                <a:spcPct val="108000"/>
              </a:lnSpc>
              <a:spcAft>
                <a:spcPts val="1400"/>
              </a:spcAft>
            </a:pPr>
            <a:r>
              <a:rPr sz="1500" b="0">
                <a:solidFill>
                  <a:srgbClr val="1A1F24"/>
                </a:solidFill>
                <a:latin typeface="Calibri"/>
              </a:rPr>
              <a:t>•  Presenting pilot smoke-test PPO/MAPPO numbers as a real comparison would be MISLEADING — they used a fraction of a real training budget.</a:t>
            </a:r>
          </a:p>
        </p:txBody>
      </p:sp>
      <p:sp>
        <p:nvSpPr>
          <p:cNvPr id="5" name="Rounded Rectangle 4"/>
          <p:cNvSpPr/>
          <p:nvPr/>
        </p:nvSpPr>
        <p:spPr>
          <a:xfrm>
            <a:off x="2286000" y="4663440"/>
            <a:ext cx="2926080" cy="59436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Calibri"/>
              </a:rPr>
              <a:t>A–D</a:t>
            </a:r>
          </a:p>
        </p:txBody>
      </p:sp>
      <p:cxnSp>
        <p:nvCxnSpPr>
          <p:cNvPr id="6" name="Connector 5"/>
          <p:cNvCxnSpPr/>
          <p:nvPr/>
        </p:nvCxnSpPr>
        <p:spPr>
          <a:xfrm>
            <a:off x="5212080" y="4960620"/>
            <a:ext cx="457200"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806440" y="4663440"/>
            <a:ext cx="2926080" cy="59436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DEVELOPMENT</a:t>
            </a:r>
          </a:p>
        </p:txBody>
      </p:sp>
      <p:sp>
        <p:nvSpPr>
          <p:cNvPr id="8" name="Rounded Rectangle 7"/>
          <p:cNvSpPr/>
          <p:nvPr/>
        </p:nvSpPr>
        <p:spPr>
          <a:xfrm>
            <a:off x="2286000" y="5532120"/>
            <a:ext cx="2926080" cy="5943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Calibri"/>
              </a:rPr>
              <a:t>A–H</a:t>
            </a:r>
          </a:p>
        </p:txBody>
      </p:sp>
      <p:cxnSp>
        <p:nvCxnSpPr>
          <p:cNvPr id="9" name="Connector 8"/>
          <p:cNvCxnSpPr/>
          <p:nvPr/>
        </p:nvCxnSpPr>
        <p:spPr>
          <a:xfrm>
            <a:off x="5212080" y="5829300"/>
            <a:ext cx="457200" cy="0"/>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806440" y="5532120"/>
            <a:ext cx="2926080" cy="5943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Calibri"/>
              </a:rPr>
              <a:t>FINAL EVALUATION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Final Experiment Plan (Once Cells E–H Are Available)</a:t>
            </a:r>
          </a:p>
        </p:txBody>
      </p:sp>
      <p:sp>
        <p:nvSpPr>
          <p:cNvPr id="3" name="Rounded Rectangle 2"/>
          <p:cNvSpPr/>
          <p:nvPr/>
        </p:nvSpPr>
        <p:spPr>
          <a:xfrm>
            <a:off x="2651760" y="1298448"/>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E–H extraction (script ready, verified live)</a:t>
            </a:r>
          </a:p>
        </p:txBody>
      </p:sp>
      <p:cxnSp>
        <p:nvCxnSpPr>
          <p:cNvPr id="4" name="Connector 3"/>
          <p:cNvCxnSpPr/>
          <p:nvPr/>
        </p:nvCxnSpPr>
        <p:spPr>
          <a:xfrm>
            <a:off x="6080760.0" y="1682496"/>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651760" y="1764792"/>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A–H dataset validation (same checks as slide 10, all 8 cells)</a:t>
            </a:r>
          </a:p>
        </p:txBody>
      </p:sp>
      <p:cxnSp>
        <p:nvCxnSpPr>
          <p:cNvPr id="6" name="Connector 5"/>
          <p:cNvCxnSpPr/>
          <p:nvPr/>
        </p:nvCxnSpPr>
        <p:spPr>
          <a:xfrm>
            <a:off x="6080760.0" y="2148840"/>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651760" y="2231136"/>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Final chronological train / validation / test split</a:t>
            </a:r>
          </a:p>
        </p:txBody>
      </p:sp>
      <p:cxnSp>
        <p:nvCxnSpPr>
          <p:cNvPr id="8" name="Connector 7"/>
          <p:cNvCxnSpPr/>
          <p:nvPr/>
        </p:nvCxnSpPr>
        <p:spPr>
          <a:xfrm>
            <a:off x="6080760.0" y="2615184"/>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2697480"/>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Training/validation model selection (forecaster, power model, thermal recalibration)</a:t>
            </a:r>
          </a:p>
        </p:txBody>
      </p:sp>
      <p:cxnSp>
        <p:nvCxnSpPr>
          <p:cNvPr id="10" name="Connector 9"/>
          <p:cNvCxnSpPr/>
          <p:nvPr/>
        </p:nvCxnSpPr>
        <p:spPr>
          <a:xfrm>
            <a:off x="6080760.0" y="3081528"/>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51760" y="3163824"/>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Freeze the final configuration</a:t>
            </a:r>
          </a:p>
        </p:txBody>
      </p:sp>
      <p:cxnSp>
        <p:nvCxnSpPr>
          <p:cNvPr id="12" name="Connector 11"/>
          <p:cNvCxnSpPr/>
          <p:nvPr/>
        </p:nvCxnSpPr>
        <p:spPr>
          <a:xfrm>
            <a:off x="6080760.0" y="3547872"/>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51760" y="3630168"/>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Untouched final test evaluation (once)</a:t>
            </a:r>
          </a:p>
        </p:txBody>
      </p:sp>
      <p:cxnSp>
        <p:nvCxnSpPr>
          <p:cNvPr id="14" name="Connector 13"/>
          <p:cNvCxnSpPr/>
          <p:nvPr/>
        </p:nvCxnSpPr>
        <p:spPr>
          <a:xfrm>
            <a:off x="6080760.0" y="4014216"/>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51760" y="4096512"/>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Fixed / Threshold / PID / MPC</a:t>
            </a:r>
          </a:p>
        </p:txBody>
      </p:sp>
      <p:cxnSp>
        <p:nvCxnSpPr>
          <p:cNvPr id="16" name="Connector 15"/>
          <p:cNvCxnSpPr/>
          <p:nvPr/>
        </p:nvCxnSpPr>
        <p:spPr>
          <a:xfrm>
            <a:off x="6080760.0" y="4480560"/>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651760" y="4562856"/>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PPO / MAPPO, ≥ 5 seeds where computationally feasible</a:t>
            </a:r>
          </a:p>
        </p:txBody>
      </p:sp>
      <p:cxnSp>
        <p:nvCxnSpPr>
          <p:cNvPr id="18" name="Connector 17"/>
          <p:cNvCxnSpPr/>
          <p:nvPr/>
        </p:nvCxnSpPr>
        <p:spPr>
          <a:xfrm>
            <a:off x="6080760.0" y="4946904"/>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651760" y="5029200"/>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Forecast ablation · shield ablation · reward sensitivity · thermal sensitivity</a:t>
            </a:r>
          </a:p>
        </p:txBody>
      </p:sp>
      <p:cxnSp>
        <p:nvCxnSpPr>
          <p:cNvPr id="20" name="Connector 19"/>
          <p:cNvCxnSpPr/>
          <p:nvPr/>
        </p:nvCxnSpPr>
        <p:spPr>
          <a:xfrm>
            <a:off x="6080760.0" y="5413248"/>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651760" y="5495544"/>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Workload robustness · forecast-noise robustness</a:t>
            </a:r>
          </a:p>
        </p:txBody>
      </p:sp>
      <p:cxnSp>
        <p:nvCxnSpPr>
          <p:cNvPr id="22" name="Connector 21"/>
          <p:cNvCxnSpPr/>
          <p:nvPr/>
        </p:nvCxnSpPr>
        <p:spPr>
          <a:xfrm>
            <a:off x="6080760.0" y="5879592"/>
            <a:ext cx="0.0" cy="82296"/>
          </a:xfrm>
          <a:prstGeom prst="line">
            <a:avLst/>
          </a:prstGeom>
          <a:ln w="22225">
            <a:solidFill>
              <a:srgbClr val="5B6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651760" y="5961888"/>
            <a:ext cx="685800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0">
                <a:solidFill>
                  <a:srgbClr val="FFFFFF"/>
                </a:solidFill>
                <a:latin typeface="Calibri"/>
              </a:rPr>
              <a:t>Independent final audit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3D59"/>
        </a:solidFill>
        <a:effectLst/>
      </p:bgPr>
    </p:bg>
    <p:spTree>
      <p:nvGrpSpPr>
        <p:cNvPr id="1" name=""/>
        <p:cNvGrpSpPr/>
        <p:nvPr/>
      </p:nvGrpSpPr>
      <p:grpSpPr/>
      <p:sp>
        <p:nvSpPr>
          <p:cNvPr id="2" name="TextBox 1"/>
          <p:cNvSpPr txBox="1"/>
          <p:nvPr/>
        </p:nvSpPr>
        <p:spPr>
          <a:xfrm>
            <a:off x="731520" y="640080"/>
            <a:ext cx="10515600" cy="640080"/>
          </a:xfrm>
          <a:prstGeom prst="rect">
            <a:avLst/>
          </a:prstGeom>
          <a:noFill/>
        </p:spPr>
        <p:txBody>
          <a:bodyPr wrap="square" anchor="t" lIns="0" rIns="0" tIns="0" bIns="0">
            <a:spAutoFit/>
          </a:bodyPr>
          <a:lstStyle/>
          <a:p>
            <a:pPr algn="l">
              <a:lnSpc>
                <a:spcPct val="100000"/>
              </a:lnSpc>
            </a:pPr>
            <a:r>
              <a:rPr sz="3200" b="1" i="0">
                <a:solidFill>
                  <a:srgbClr val="FFFFFF"/>
                </a:solidFill>
                <a:latin typeface="Cambria"/>
              </a:rPr>
              <a:t>Current Research Status</a:t>
            </a:r>
          </a:p>
        </p:txBody>
      </p:sp>
      <p:sp>
        <p:nvSpPr>
          <p:cNvPr id="3" name="TextBox 2"/>
          <p:cNvSpPr txBox="1"/>
          <p:nvPr/>
        </p:nvSpPr>
        <p:spPr>
          <a:xfrm>
            <a:off x="731520" y="1600200"/>
            <a:ext cx="10515600" cy="2286000"/>
          </a:xfrm>
          <a:prstGeom prst="rect">
            <a:avLst/>
          </a:prstGeom>
          <a:noFill/>
        </p:spPr>
        <p:txBody>
          <a:bodyPr wrap="square" anchor="t" lIns="0" rIns="0" tIns="0" bIns="0">
            <a:spAutoFit/>
          </a:bodyPr>
          <a:lstStyle/>
          <a:p>
            <a:pPr algn="l">
              <a:lnSpc>
                <a:spcPct val="135000"/>
              </a:lnSpc>
            </a:pPr>
            <a:r>
              <a:rPr sz="1800" b="0" i="0">
                <a:solidFill>
                  <a:srgbClr val="E6EEF4"/>
                </a:solidFill>
                <a:latin typeface="Calibri"/>
              </a:rPr>
              <a:t>The Version 2 pipeline has been implemented and technically validated on a real-data pilot using Google Borg cells A–D. The pilot demonstrates feasible workload forecasting, empirical power modeling, thermal-control infrastructure, and a tested PPO/MAPPO pipeline. However, the complete eight-cell experiment is not yet finished, so the current numerical results are development evidence rather than final research conclusions.</a:t>
            </a:r>
          </a:p>
        </p:txBody>
      </p:sp>
      <p:sp>
        <p:nvSpPr>
          <p:cNvPr id="4" name="Rounded Rectangle 3"/>
          <p:cNvSpPr/>
          <p:nvPr/>
        </p:nvSpPr>
        <p:spPr>
          <a:xfrm>
            <a:off x="731520" y="4206240"/>
            <a:ext cx="10515600" cy="1051560"/>
          </a:xfrm>
          <a:prstGeom prst="roundRect">
            <a:avLst/>
          </a:prstGeom>
          <a:solidFill>
            <a:srgbClr val="E06C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Calibri"/>
              </a:rPr>
              <a:t>IMMEDIATE NEXT STEP</a:t>
            </a:r>
          </a:p>
          <a:p>
            <a:pPr algn="ctr"/>
            <a:r>
              <a:rPr sz="1600" b="0">
                <a:solidFill>
                  <a:srgbClr val="FFFFFF"/>
                </a:solidFill>
                <a:latin typeface="Calibri"/>
              </a:rPr>
              <a:t>Complete E–H extraction and re-run the entire final experiment on all eight cells.</a:t>
            </a:r>
          </a:p>
        </p:txBody>
      </p:sp>
      <p:sp>
        <p:nvSpPr>
          <p:cNvPr id="5" name="TextBox 4"/>
          <p:cNvSpPr txBox="1"/>
          <p:nvPr/>
        </p:nvSpPr>
        <p:spPr>
          <a:xfrm>
            <a:off x="731520" y="5669280"/>
            <a:ext cx="10515600" cy="457200"/>
          </a:xfrm>
          <a:prstGeom prst="rect">
            <a:avLst/>
          </a:prstGeom>
          <a:noFill/>
        </p:spPr>
        <p:txBody>
          <a:bodyPr wrap="square" anchor="t" lIns="0" rIns="0" tIns="0" bIns="0">
            <a:spAutoFit/>
          </a:bodyPr>
          <a:lstStyle/>
          <a:p>
            <a:pPr algn="l">
              <a:lnSpc>
                <a:spcPct val="100000"/>
              </a:lnSpc>
            </a:pPr>
            <a:r>
              <a:rPr sz="1250" b="0" i="0">
                <a:solidFill>
                  <a:srgbClr val="9FB6C8"/>
                </a:solidFill>
                <a:latin typeface="Calibri"/>
              </a:rPr>
              <a:t>v2-official-google-data @ b83ce2a  ·  62/62 tests passing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References</a:t>
            </a:r>
          </a:p>
        </p:txBody>
      </p:sp>
      <p:sp>
        <p:nvSpPr>
          <p:cNvPr id="3" name="TextBox 2"/>
          <p:cNvSpPr txBox="1"/>
          <p:nvPr/>
        </p:nvSpPr>
        <p:spPr>
          <a:xfrm>
            <a:off x="548640" y="1463040"/>
            <a:ext cx="11064240" cy="3931920"/>
          </a:xfrm>
          <a:prstGeom prst="rect">
            <a:avLst/>
          </a:prstGeom>
          <a:noFill/>
        </p:spPr>
        <p:txBody>
          <a:bodyPr wrap="square" lIns="0" rIns="0">
            <a:spAutoFit/>
          </a:bodyPr>
          <a:lstStyle/>
          <a:p>
            <a:pPr>
              <a:lnSpc>
                <a:spcPct val="108000"/>
              </a:lnSpc>
              <a:spcAft>
                <a:spcPts val="1400"/>
              </a:spcAft>
            </a:pPr>
            <a:r>
              <a:rPr sz="1450" b="0">
                <a:solidFill>
                  <a:srgbClr val="1A1F24"/>
                </a:solidFill>
                <a:latin typeface="Calibri"/>
              </a:rPr>
              <a:t>•  Google. ClusterData2019 documentation. google/cluster-data, GitHub. https://github.com/google/cluster-data/blob/master/ClusterData2019.md</a:t>
            </a:r>
          </a:p>
          <a:p>
            <a:pPr>
              <a:lnSpc>
                <a:spcPct val="108000"/>
              </a:lnSpc>
              <a:spcAft>
                <a:spcPts val="1400"/>
              </a:spcAft>
            </a:pPr>
            <a:r>
              <a:rPr sz="1450" b="0">
                <a:solidFill>
                  <a:srgbClr val="1A1F24"/>
                </a:solidFill>
                <a:latin typeface="Calibri"/>
              </a:rPr>
              <a:t>•  Google. PowerData2019 documentation. google/cluster-data, GitHub. https://github.com/google/cluster-data/blob/master/PowerData2019.md</a:t>
            </a:r>
          </a:p>
          <a:p>
            <a:pPr>
              <a:lnSpc>
                <a:spcPct val="108000"/>
              </a:lnSpc>
              <a:spcAft>
                <a:spcPts val="1400"/>
              </a:spcAft>
            </a:pPr>
            <a:r>
              <a:rPr sz="1450" b="0">
                <a:solidFill>
                  <a:srgbClr val="1A1F24"/>
                </a:solidFill>
                <a:latin typeface="Calibri"/>
              </a:rPr>
              <a:t>•  Google. cluster-data repository (BigQuery public datasets, schema). https://github.com/google/cluster-data</a:t>
            </a:r>
          </a:p>
          <a:p>
            <a:pPr>
              <a:lnSpc>
                <a:spcPct val="108000"/>
              </a:lnSpc>
              <a:spcAft>
                <a:spcPts val="1400"/>
              </a:spcAft>
            </a:pPr>
            <a:r>
              <a:rPr sz="1450" b="0">
                <a:solidFill>
                  <a:srgbClr val="1A1F24"/>
                </a:solidFill>
                <a:latin typeface="Calibri"/>
              </a:rPr>
              <a:t>•  Kaggle dataset “muzairbair/borg-traces-data” — the Version 1 data source (superseded in V2 by the official traces above).</a:t>
            </a:r>
          </a:p>
          <a:p>
            <a:pPr>
              <a:lnSpc>
                <a:spcPct val="108000"/>
              </a:lnSpc>
              <a:spcAft>
                <a:spcPts val="1400"/>
              </a:spcAft>
            </a:pPr>
            <a:r>
              <a:rPr sz="1450" b="0">
                <a:solidFill>
                  <a:srgbClr val="1A1F24"/>
                </a:solidFill>
                <a:latin typeface="Calibri"/>
              </a:rPr>
              <a:t>•  Project internal documentation: docs/official_data_alignment_audit.md, docs/version2_research_design.md, docs/final_pipeline_readiness_audit.md, docs/final_validation_report.md (V1), results/model_selection_history.csv.</a:t>
            </a:r>
          </a:p>
        </p:txBody>
      </p:sp>
      <p:sp>
        <p:nvSpPr>
          <p:cNvPr id="4" name="Rounded Rectangle 3"/>
          <p:cNvSpPr/>
          <p:nvPr/>
        </p:nvSpPr>
        <p:spPr>
          <a:xfrm>
            <a:off x="548640" y="5212080"/>
            <a:ext cx="11064240" cy="1005840"/>
          </a:xfrm>
          <a:prstGeom prst="round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FFFFFF"/>
                </a:solidFill>
                <a:latin typeface="Calibri"/>
              </a:rPr>
              <a:t/>
            </a:r>
          </a:p>
        </p:txBody>
      </p:sp>
      <p:sp>
        <p:nvSpPr>
          <p:cNvPr id="5" name="TextBox 4"/>
          <p:cNvSpPr txBox="1"/>
          <p:nvPr/>
        </p:nvSpPr>
        <p:spPr>
          <a:xfrm>
            <a:off x="777240" y="5349240"/>
            <a:ext cx="10607040" cy="731520"/>
          </a:xfrm>
          <a:prstGeom prst="rect">
            <a:avLst/>
          </a:prstGeom>
          <a:noFill/>
        </p:spPr>
        <p:txBody>
          <a:bodyPr wrap="square" anchor="t" lIns="0" rIns="0" tIns="0" bIns="0">
            <a:spAutoFit/>
          </a:bodyPr>
          <a:lstStyle/>
          <a:p>
            <a:pPr algn="l">
              <a:lnSpc>
                <a:spcPct val="120000"/>
              </a:lnSpc>
            </a:pPr>
            <a:r>
              <a:rPr sz="1250" b="0" i="1">
                <a:solidFill>
                  <a:srgbClr val="5B666E"/>
                </a:solidFill>
                <a:latin typeface="Calibri"/>
              </a:rPr>
              <a:t>A structured literature review (target: ~20 papers on datacenter cooling control, MARL, and safe RL) is PLANNED for the final research phase and has not yet been conducted — no papers are cited here that were not actually reviewed.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3D59"/>
        </a:solidFill>
        <a:effectLst/>
      </p:bgPr>
    </p:bg>
    <p:spTree>
      <p:nvGrpSpPr>
        <p:cNvPr id="1" name=""/>
        <p:cNvGrpSpPr/>
        <p:nvPr/>
      </p:nvGrpSpPr>
      <p:grpSpPr/>
      <p:sp>
        <p:nvSpPr>
          <p:cNvPr id="2" name="TextBox 1"/>
          <p:cNvSpPr txBox="1"/>
          <p:nvPr/>
        </p:nvSpPr>
        <p:spPr>
          <a:xfrm>
            <a:off x="822960" y="2926080"/>
            <a:ext cx="10058400" cy="914400"/>
          </a:xfrm>
          <a:prstGeom prst="rect">
            <a:avLst/>
          </a:prstGeom>
          <a:noFill/>
        </p:spPr>
        <p:txBody>
          <a:bodyPr wrap="square" anchor="t" lIns="0" rIns="0" tIns="0" bIns="0">
            <a:spAutoFit/>
          </a:bodyPr>
          <a:lstStyle/>
          <a:p>
            <a:pPr algn="l">
              <a:lnSpc>
                <a:spcPct val="100000"/>
              </a:lnSpc>
            </a:pPr>
            <a:r>
              <a:rPr sz="4000" b="1" i="0">
                <a:solidFill>
                  <a:srgbClr val="FFFFFF"/>
                </a:solidFill>
                <a:latin typeface="Cambria"/>
              </a:rPr>
              <a:t>Appendix</a:t>
            </a:r>
          </a:p>
        </p:txBody>
      </p:sp>
      <p:sp>
        <p:nvSpPr>
          <p:cNvPr id="3" name="TextBox 2"/>
          <p:cNvSpPr txBox="1"/>
          <p:nvPr/>
        </p:nvSpPr>
        <p:spPr>
          <a:xfrm>
            <a:off x="822960" y="3794760"/>
            <a:ext cx="10058400" cy="548640"/>
          </a:xfrm>
          <a:prstGeom prst="rect">
            <a:avLst/>
          </a:prstGeom>
          <a:noFill/>
        </p:spPr>
        <p:txBody>
          <a:bodyPr wrap="square" anchor="t" lIns="0" rIns="0" tIns="0" bIns="0">
            <a:spAutoFit/>
          </a:bodyPr>
          <a:lstStyle/>
          <a:p>
            <a:pPr algn="l">
              <a:lnSpc>
                <a:spcPct val="100000"/>
              </a:lnSpc>
            </a:pPr>
            <a:r>
              <a:rPr sz="1500" b="0" i="0">
                <a:solidFill>
                  <a:srgbClr val="CADCFC"/>
                </a:solidFill>
                <a:latin typeface="Calibri"/>
              </a:rPr>
              <a:t>Architecture, formulation, and configuration detail for follow-up questions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0058400" cy="274320"/>
          </a:xfrm>
          <a:prstGeom prst="rect">
            <a:avLst/>
          </a:prstGeom>
          <a:noFill/>
        </p:spPr>
        <p:txBody>
          <a:bodyPr wrap="square" anchor="t" lIns="0" rIns="0" tIns="0" bIns="0">
            <a:spAutoFit/>
          </a:bodyPr>
          <a:lstStyle/>
          <a:p>
            <a:pPr algn="l">
              <a:lnSpc>
                <a:spcPct val="100000"/>
              </a:lnSpc>
            </a:pPr>
            <a:r>
              <a:rPr sz="1150" b="1" i="0">
                <a:solidFill>
                  <a:srgbClr val="E06C2B"/>
                </a:solidFill>
                <a:latin typeface="Calibri"/>
              </a:rPr>
              <a:t>DETAIL</a:t>
            </a:r>
          </a:p>
        </p:txBody>
      </p:sp>
      <p:sp>
        <p:nvSpPr>
          <p:cNvPr id="3" name="TextBox 2"/>
          <p:cNvSpPr txBox="1"/>
          <p:nvPr/>
        </p:nvSpPr>
        <p:spPr>
          <a:xfrm>
            <a:off x="548640" y="530352"/>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Appendix A — GRU Architecture</a:t>
            </a:r>
          </a:p>
        </p:txBody>
      </p:sp>
      <p:graphicFrame>
        <p:nvGraphicFramePr>
          <p:cNvPr id="4" name="Table 3"/>
          <p:cNvGraphicFramePr>
            <a:graphicFrameLocks noGrp="1"/>
          </p:cNvGraphicFramePr>
          <p:nvPr/>
        </p:nvGraphicFramePr>
        <p:xfrm>
          <a:off x="548640" y="1554480"/>
          <a:ext cx="6400800" cy="3840480"/>
        </p:xfrm>
        <a:graphic>
          <a:graphicData uri="http://schemas.openxmlformats.org/drawingml/2006/table">
            <a:tbl>
              <a:tblPr firstRow="1" bandRow="1">
                <a:tableStyleId>{5C22544A-7EE6-4342-B048-85BDC9FD1C3A}</a:tableStyleId>
              </a:tblPr>
              <a:tblGrid>
                <a:gridCol w="2011680"/>
                <a:gridCol w="4389120"/>
              </a:tblGrid>
              <a:tr h="480060">
                <a:tc>
                  <a:txBody>
                    <a:bodyPr/>
                    <a:lstStyle/>
                    <a:p>
                      <a:r>
                        <a:rPr sz="1350" b="1">
                          <a:solidFill>
                            <a:srgbClr val="FFFFFF"/>
                          </a:solidFill>
                          <a:latin typeface="Calibri"/>
                        </a:rPr>
                        <a:t>Setting</a:t>
                      </a:r>
                    </a:p>
                  </a:txBody>
                  <a:tcPr marT="50800" marB="50800">
                    <a:solidFill>
                      <a:srgbClr val="0B3D59"/>
                    </a:solidFill>
                  </a:tcPr>
                </a:tc>
                <a:tc>
                  <a:txBody>
                    <a:bodyPr/>
                    <a:lstStyle/>
                    <a:p>
                      <a:r>
                        <a:rPr sz="1350" b="1">
                          <a:solidFill>
                            <a:srgbClr val="FFFFFF"/>
                          </a:solidFill>
                          <a:latin typeface="Calibri"/>
                        </a:rPr>
                        <a:t>Value</a:t>
                      </a:r>
                    </a:p>
                  </a:txBody>
                  <a:tcPr marT="50800" marB="50800">
                    <a:solidFill>
                      <a:srgbClr val="0B3D59"/>
                    </a:solidFill>
                  </a:tcPr>
                </a:tc>
              </a:tr>
              <a:tr h="480060">
                <a:tc>
                  <a:txBody>
                    <a:bodyPr/>
                    <a:lstStyle/>
                    <a:p>
                      <a:r>
                        <a:rPr sz="1300" b="0">
                          <a:solidFill>
                            <a:srgbClr val="1A1F24"/>
                          </a:solidFill>
                          <a:latin typeface="Calibri"/>
                        </a:rPr>
                        <a:t>Cell type</a:t>
                      </a:r>
                    </a:p>
                  </a:txBody>
                  <a:tcPr marT="38100" marB="38100" anchor="ctr">
                    <a:solidFill>
                      <a:srgbClr val="FFFFFF"/>
                    </a:solidFill>
                  </a:tcPr>
                </a:tc>
                <a:tc>
                  <a:txBody>
                    <a:bodyPr/>
                    <a:lstStyle/>
                    <a:p>
                      <a:r>
                        <a:rPr sz="1300" b="0">
                          <a:solidFill>
                            <a:srgbClr val="1A1F24"/>
                          </a:solidFill>
                          <a:latin typeface="Calibri"/>
                        </a:rPr>
                        <a:t>GRU (Gated Recurrent Unit), 1 layer</a:t>
                      </a:r>
                    </a:p>
                  </a:txBody>
                  <a:tcPr marT="38100" marB="38100" anchor="ctr">
                    <a:solidFill>
                      <a:srgbClr val="FFFFFF"/>
                    </a:solidFill>
                  </a:tcPr>
                </a:tc>
              </a:tr>
              <a:tr h="480060">
                <a:tc>
                  <a:txBody>
                    <a:bodyPr/>
                    <a:lstStyle/>
                    <a:p>
                      <a:r>
                        <a:rPr sz="1300" b="0">
                          <a:solidFill>
                            <a:srgbClr val="1A1F24"/>
                          </a:solidFill>
                          <a:latin typeface="Calibri"/>
                        </a:rPr>
                        <a:t>Hidden size</a:t>
                      </a:r>
                    </a:p>
                  </a:txBody>
                  <a:tcPr marT="38100" marB="38100" anchor="ctr">
                    <a:solidFill>
                      <a:srgbClr val="F1F4F6"/>
                    </a:solidFill>
                  </a:tcPr>
                </a:tc>
                <a:tc>
                  <a:txBody>
                    <a:bodyPr/>
                    <a:lstStyle/>
                    <a:p>
                      <a:r>
                        <a:rPr sz="1300" b="0">
                          <a:solidFill>
                            <a:srgbClr val="1A1F24"/>
                          </a:solidFill>
                          <a:latin typeface="Calibri"/>
                        </a:rPr>
                        <a:t>32</a:t>
                      </a:r>
                    </a:p>
                  </a:txBody>
                  <a:tcPr marT="38100" marB="38100" anchor="ctr">
                    <a:solidFill>
                      <a:srgbClr val="F1F4F6"/>
                    </a:solidFill>
                  </a:tcPr>
                </a:tc>
              </a:tr>
              <a:tr h="480060">
                <a:tc>
                  <a:txBody>
                    <a:bodyPr/>
                    <a:lstStyle/>
                    <a:p>
                      <a:r>
                        <a:rPr sz="1300" b="0">
                          <a:solidFill>
                            <a:srgbClr val="1A1F24"/>
                          </a:solidFill>
                          <a:latin typeface="Calibri"/>
                        </a:rPr>
                        <a:t>Input</a:t>
                      </a:r>
                    </a:p>
                  </a:txBody>
                  <a:tcPr marT="38100" marB="38100" anchor="ctr">
                    <a:solidFill>
                      <a:srgbClr val="FFFFFF"/>
                    </a:solidFill>
                  </a:tcPr>
                </a:tc>
                <a:tc>
                  <a:txBody>
                    <a:bodyPr/>
                    <a:lstStyle/>
                    <a:p>
                      <a:r>
                        <a:rPr sz="1300" b="0">
                          <a:solidFill>
                            <a:srgbClr val="1A1F24"/>
                          </a:solidFill>
                          <a:latin typeface="Calibri"/>
                        </a:rPr>
                        <a:t>1-D sequence, 48 steps (sum_cpu, per cell, normalized on TRAIN)</a:t>
                      </a:r>
                    </a:p>
                  </a:txBody>
                  <a:tcPr marT="38100" marB="38100" anchor="ctr">
                    <a:solidFill>
                      <a:srgbClr val="FFFFFF"/>
                    </a:solidFill>
                  </a:tcPr>
                </a:tc>
              </a:tr>
              <a:tr h="480060">
                <a:tc>
                  <a:txBody>
                    <a:bodyPr/>
                    <a:lstStyle/>
                    <a:p>
                      <a:r>
                        <a:rPr sz="1300" b="0">
                          <a:solidFill>
                            <a:srgbClr val="1A1F24"/>
                          </a:solidFill>
                          <a:latin typeface="Calibri"/>
                        </a:rPr>
                        <a:t>Output</a:t>
                      </a:r>
                    </a:p>
                  </a:txBody>
                  <a:tcPr marT="38100" marB="38100" anchor="ctr">
                    <a:solidFill>
                      <a:srgbClr val="F1F4F6"/>
                    </a:solidFill>
                  </a:tcPr>
                </a:tc>
                <a:tc>
                  <a:txBody>
                    <a:bodyPr/>
                    <a:lstStyle/>
                    <a:p>
                      <a:r>
                        <a:rPr sz="1300" b="0">
                          <a:solidFill>
                            <a:srgbClr val="1A1F24"/>
                          </a:solidFill>
                          <a:latin typeface="Calibri"/>
                        </a:rPr>
                        <a:t>6-step forecast (30 minutes ahead)</a:t>
                      </a:r>
                    </a:p>
                  </a:txBody>
                  <a:tcPr marT="38100" marB="38100" anchor="ctr">
                    <a:solidFill>
                      <a:srgbClr val="F1F4F6"/>
                    </a:solidFill>
                  </a:tcPr>
                </a:tc>
              </a:tr>
              <a:tr h="480060">
                <a:tc>
                  <a:txBody>
                    <a:bodyPr/>
                    <a:lstStyle/>
                    <a:p>
                      <a:r>
                        <a:rPr sz="1300" b="0">
                          <a:solidFill>
                            <a:srgbClr val="1A1F24"/>
                          </a:solidFill>
                          <a:latin typeface="Calibri"/>
                        </a:rPr>
                        <a:t>Loss</a:t>
                      </a:r>
                    </a:p>
                  </a:txBody>
                  <a:tcPr marT="38100" marB="38100" anchor="ctr">
                    <a:solidFill>
                      <a:srgbClr val="FFFFFF"/>
                    </a:solidFill>
                  </a:tcPr>
                </a:tc>
                <a:tc>
                  <a:txBody>
                    <a:bodyPr/>
                    <a:lstStyle/>
                    <a:p>
                      <a:r>
                        <a:rPr sz="1300" b="0">
                          <a:solidFill>
                            <a:srgbClr val="1A1F24"/>
                          </a:solidFill>
                          <a:latin typeface="Calibri"/>
                        </a:rPr>
                        <a:t>MSE, Adam optimizer, lr = 0.001</a:t>
                      </a:r>
                    </a:p>
                  </a:txBody>
                  <a:tcPr marT="38100" marB="38100" anchor="ctr">
                    <a:solidFill>
                      <a:srgbClr val="FFFFFF"/>
                    </a:solidFill>
                  </a:tcPr>
                </a:tc>
              </a:tr>
              <a:tr h="480060">
                <a:tc>
                  <a:txBody>
                    <a:bodyPr/>
                    <a:lstStyle/>
                    <a:p>
                      <a:r>
                        <a:rPr sz="1300" b="0">
                          <a:solidFill>
                            <a:srgbClr val="1A1F24"/>
                          </a:solidFill>
                          <a:latin typeface="Calibri"/>
                        </a:rPr>
                        <a:t>Early stopping</a:t>
                      </a:r>
                    </a:p>
                  </a:txBody>
                  <a:tcPr marT="38100" marB="38100" anchor="ctr">
                    <a:solidFill>
                      <a:srgbClr val="F1F4F6"/>
                    </a:solidFill>
                  </a:tcPr>
                </a:tc>
                <a:tc>
                  <a:txBody>
                    <a:bodyPr/>
                    <a:lstStyle/>
                    <a:p>
                      <a:r>
                        <a:rPr sz="1300" b="0">
                          <a:solidFill>
                            <a:srgbClr val="1A1F24"/>
                          </a:solidFill>
                          <a:latin typeface="Calibri"/>
                        </a:rPr>
                        <a:t>patience = 5 epochs, on validation loss</a:t>
                      </a:r>
                    </a:p>
                  </a:txBody>
                  <a:tcPr marT="38100" marB="38100" anchor="ctr">
                    <a:solidFill>
                      <a:srgbClr val="F1F4F6"/>
                    </a:solidFill>
                  </a:tcPr>
                </a:tc>
              </a:tr>
              <a:tr h="480060">
                <a:tc>
                  <a:txBody>
                    <a:bodyPr/>
                    <a:lstStyle/>
                    <a:p>
                      <a:r>
                        <a:rPr sz="1300" b="0">
                          <a:solidFill>
                            <a:srgbClr val="1A1F24"/>
                          </a:solidFill>
                          <a:latin typeface="Calibri"/>
                        </a:rPr>
                        <a:t>Training result</a:t>
                      </a:r>
                    </a:p>
                  </a:txBody>
                  <a:tcPr marT="38100" marB="38100" anchor="ctr">
                    <a:solidFill>
                      <a:srgbClr val="FFFFFF"/>
                    </a:solidFill>
                  </a:tcPr>
                </a:tc>
                <a:tc>
                  <a:txBody>
                    <a:bodyPr/>
                    <a:lstStyle/>
                    <a:p>
                      <a:r>
                        <a:rPr sz="1300" b="0">
                          <a:solidFill>
                            <a:srgbClr val="1A1F24"/>
                          </a:solidFill>
                          <a:latin typeface="Calibri"/>
                        </a:rPr>
                        <a:t>converged (early-stopped before 30 epochs)</a:t>
                      </a:r>
                    </a:p>
                  </a:txBody>
                  <a:tcPr marT="38100" marB="38100" anchor="ctr">
                    <a:solidFill>
                      <a:srgbClr val="FFFFFF"/>
                    </a:solidFill>
                  </a:tcPr>
                </a:tc>
              </a:tr>
            </a:tbl>
          </a:graphicData>
        </a:graphic>
      </p:graphicFrame>
      <p:sp>
        <p:nvSpPr>
          <p:cNvPr id="5" name="TextBox 4"/>
          <p:cNvSpPr txBox="1"/>
          <p:nvPr/>
        </p:nvSpPr>
        <p:spPr>
          <a:xfrm>
            <a:off x="7315200" y="1554480"/>
            <a:ext cx="4297680" cy="3931920"/>
          </a:xfrm>
          <a:prstGeom prst="rect">
            <a:avLst/>
          </a:prstGeom>
          <a:noFill/>
        </p:spPr>
        <p:txBody>
          <a:bodyPr wrap="square" anchor="t" lIns="0" rIns="0" tIns="0" bIns="0">
            <a:spAutoFit/>
          </a:bodyPr>
          <a:lstStyle/>
          <a:p>
            <a:pPr algn="l">
              <a:lnSpc>
                <a:spcPct val="135000"/>
              </a:lnSpc>
            </a:pPr>
            <a:r>
              <a:rPr sz="1250" b="0" i="0">
                <a:solidFill>
                  <a:srgbClr val="1A1F24"/>
                </a:solidFill>
                <a:latin typeface="Calibri"/>
              </a:rPr>
              <a:t>GRU update equations (per step t):</a:t>
            </a:r>
          </a:p>
          <a:p>
            <a:pPr algn="l">
              <a:lnSpc>
                <a:spcPct val="135000"/>
              </a:lnSpc>
            </a:pPr>
            <a:r>
              <a:rPr sz="1250" b="0" i="0">
                <a:solidFill>
                  <a:srgbClr val="1A1F24"/>
                </a:solidFill>
                <a:latin typeface="Calibri"/>
              </a:rPr>
              <a:t/>
            </a:r>
          </a:p>
          <a:p>
            <a:pPr algn="l">
              <a:lnSpc>
                <a:spcPct val="135000"/>
              </a:lnSpc>
            </a:pPr>
            <a:r>
              <a:rPr sz="1250" b="0" i="0">
                <a:solidFill>
                  <a:srgbClr val="1A1F24"/>
                </a:solidFill>
                <a:latin typeface="Calibri"/>
              </a:rPr>
              <a:t>z_t = σ(W_z x_t + U_z h_{t-1})   (update gate)</a:t>
            </a:r>
          </a:p>
          <a:p>
            <a:pPr algn="l">
              <a:lnSpc>
                <a:spcPct val="135000"/>
              </a:lnSpc>
            </a:pPr>
            <a:r>
              <a:rPr sz="1250" b="0" i="0">
                <a:solidFill>
                  <a:srgbClr val="1A1F24"/>
                </a:solidFill>
                <a:latin typeface="Calibri"/>
              </a:rPr>
              <a:t>r_t = σ(W_r x_t + U_r h_{t-1})   (reset gate)</a:t>
            </a:r>
          </a:p>
          <a:p>
            <a:pPr algn="l">
              <a:lnSpc>
                <a:spcPct val="135000"/>
              </a:lnSpc>
            </a:pPr>
            <a:r>
              <a:rPr sz="1250" b="0" i="0">
                <a:solidFill>
                  <a:srgbClr val="1A1F24"/>
                </a:solidFill>
                <a:latin typeface="Calibri"/>
              </a:rPr>
              <a:t>h̃_t = tanh(W_h x_t + U_h (r_t ⊙ h_{t-1}))</a:t>
            </a:r>
          </a:p>
          <a:p>
            <a:pPr algn="l">
              <a:lnSpc>
                <a:spcPct val="135000"/>
              </a:lnSpc>
            </a:pPr>
            <a:r>
              <a:rPr sz="1250" b="0" i="0">
                <a:solidFill>
                  <a:srgbClr val="1A1F24"/>
                </a:solidFill>
                <a:latin typeface="Calibri"/>
              </a:rPr>
              <a:t>h_t = (1 − z_t) ⊙ h_{t-1} + z_t ⊙ h̃_t</a:t>
            </a:r>
          </a:p>
          <a:p>
            <a:pPr algn="l">
              <a:lnSpc>
                <a:spcPct val="135000"/>
              </a:lnSpc>
            </a:pPr>
            <a:r>
              <a:rPr sz="1250" b="0" i="0">
                <a:solidFill>
                  <a:srgbClr val="1A1F24"/>
                </a:solidFill>
                <a:latin typeface="Calibri"/>
              </a:rPr>
              <a:t/>
            </a:r>
          </a:p>
          <a:p>
            <a:pPr algn="l">
              <a:lnSpc>
                <a:spcPct val="135000"/>
              </a:lnSpc>
            </a:pPr>
            <a:r>
              <a:rPr sz="1250" b="0" i="0">
                <a:solidFill>
                  <a:srgbClr val="1A1F24"/>
                </a:solidFill>
                <a:latin typeface="Calibri"/>
              </a:rPr>
              <a:t>x_t: workload at step t. h_t: hidden state. σ: sigmoid. ⊙: elementwise product.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0058400" cy="274320"/>
          </a:xfrm>
          <a:prstGeom prst="rect">
            <a:avLst/>
          </a:prstGeom>
          <a:noFill/>
        </p:spPr>
        <p:txBody>
          <a:bodyPr wrap="square" anchor="t" lIns="0" rIns="0" tIns="0" bIns="0">
            <a:spAutoFit/>
          </a:bodyPr>
          <a:lstStyle/>
          <a:p>
            <a:pPr algn="l">
              <a:lnSpc>
                <a:spcPct val="100000"/>
              </a:lnSpc>
            </a:pPr>
            <a:r>
              <a:rPr sz="1150" b="1" i="0">
                <a:solidFill>
                  <a:srgbClr val="E06C2B"/>
                </a:solidFill>
                <a:latin typeface="Calibri"/>
              </a:rPr>
              <a:t>DETAIL</a:t>
            </a:r>
          </a:p>
        </p:txBody>
      </p:sp>
      <p:sp>
        <p:nvSpPr>
          <p:cNvPr id="3" name="TextBox 2"/>
          <p:cNvSpPr txBox="1"/>
          <p:nvPr/>
        </p:nvSpPr>
        <p:spPr>
          <a:xfrm>
            <a:off x="548640" y="530352"/>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Appendix B — Power-Model Features</a:t>
            </a:r>
          </a:p>
        </p:txBody>
      </p:sp>
      <p:graphicFrame>
        <p:nvGraphicFramePr>
          <p:cNvPr id="4" name="Table 3"/>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1828800"/>
                <a:gridCol w="2377440"/>
                <a:gridCol w="6858000"/>
              </a:tblGrid>
              <a:tr h="457200">
                <a:tc>
                  <a:txBody>
                    <a:bodyPr/>
                    <a:lstStyle/>
                    <a:p>
                      <a:r>
                        <a:rPr sz="1350" b="1">
                          <a:solidFill>
                            <a:srgbClr val="FFFFFF"/>
                          </a:solidFill>
                          <a:latin typeface="Calibri"/>
                        </a:rPr>
                        <a:t>Feature</a:t>
                      </a:r>
                    </a:p>
                  </a:txBody>
                  <a:tcPr marT="50800" marB="50800">
                    <a:solidFill>
                      <a:srgbClr val="0B3D59"/>
                    </a:solidFill>
                  </a:tcPr>
                </a:tc>
                <a:tc>
                  <a:txBody>
                    <a:bodyPr/>
                    <a:lstStyle/>
                    <a:p>
                      <a:r>
                        <a:rPr sz="1350" b="1">
                          <a:solidFill>
                            <a:srgbClr val="FFFFFF"/>
                          </a:solidFill>
                          <a:latin typeface="Calibri"/>
                        </a:rPr>
                        <a:t>Random Forest importance</a:t>
                      </a:r>
                    </a:p>
                  </a:txBody>
                  <a:tcPr marT="50800" marB="50800">
                    <a:solidFill>
                      <a:srgbClr val="0B3D59"/>
                    </a:solidFill>
                  </a:tcPr>
                </a:tc>
                <a:tc>
                  <a:txBody>
                    <a:bodyPr/>
                    <a:lstStyle/>
                    <a:p>
                      <a:r>
                        <a:rPr sz="1350" b="1">
                          <a:solidFill>
                            <a:srgbClr val="FFFFFF"/>
                          </a:solidFill>
                          <a:latin typeface="Calibri"/>
                        </a:rPr>
                        <a:t>Meaning</a:t>
                      </a:r>
                    </a:p>
                  </a:txBody>
                  <a:tcPr marT="50800" marB="50800">
                    <a:solidFill>
                      <a:srgbClr val="0B3D59"/>
                    </a:solidFill>
                  </a:tcPr>
                </a:tc>
              </a:tr>
              <a:tr h="457200">
                <a:tc>
                  <a:txBody>
                    <a:bodyPr/>
                    <a:lstStyle/>
                    <a:p>
                      <a:r>
                        <a:rPr sz="1300" b="0">
                          <a:solidFill>
                            <a:srgbClr val="1A1F24"/>
                          </a:solidFill>
                          <a:latin typeface="Calibri"/>
                        </a:rPr>
                        <a:t>sum_cpu</a:t>
                      </a:r>
                    </a:p>
                  </a:txBody>
                  <a:tcPr marT="38100" marB="38100" anchor="ctr">
                    <a:solidFill>
                      <a:srgbClr val="FFFFFF"/>
                    </a:solidFill>
                  </a:tcPr>
                </a:tc>
                <a:tc>
                  <a:txBody>
                    <a:bodyPr/>
                    <a:lstStyle/>
                    <a:p>
                      <a:r>
                        <a:rPr sz="1300" b="0">
                          <a:solidFill>
                            <a:srgbClr val="1A1F24"/>
                          </a:solidFill>
                          <a:latin typeface="Calibri"/>
                        </a:rPr>
                        <a:t>0.584</a:t>
                      </a:r>
                    </a:p>
                  </a:txBody>
                  <a:tcPr marT="38100" marB="38100" anchor="ctr">
                    <a:solidFill>
                      <a:srgbClr val="FFFFFF"/>
                    </a:solidFill>
                  </a:tcPr>
                </a:tc>
                <a:tc>
                  <a:txBody>
                    <a:bodyPr/>
                    <a:lstStyle/>
                    <a:p>
                      <a:r>
                        <a:rPr sz="1300" b="0">
                          <a:solidFill>
                            <a:srgbClr val="1A1F24"/>
                          </a:solidFill>
                          <a:latin typeface="Calibri"/>
                        </a:rPr>
                        <a:t>sum of average_usage.cpus, active machines, per cell/bucket</a:t>
                      </a:r>
                    </a:p>
                  </a:txBody>
                  <a:tcPr marT="38100" marB="38100" anchor="ctr">
                    <a:solidFill>
                      <a:srgbClr val="FFFFFF"/>
                    </a:solidFill>
                  </a:tcPr>
                </a:tc>
              </a:tr>
              <a:tr h="457200">
                <a:tc>
                  <a:txBody>
                    <a:bodyPr/>
                    <a:lstStyle/>
                    <a:p>
                      <a:r>
                        <a:rPr sz="1300" b="0">
                          <a:solidFill>
                            <a:srgbClr val="1A1F24"/>
                          </a:solidFill>
                          <a:latin typeface="Calibri"/>
                        </a:rPr>
                        <a:t>cell_code</a:t>
                      </a:r>
                    </a:p>
                  </a:txBody>
                  <a:tcPr marT="38100" marB="38100" anchor="ctr">
                    <a:solidFill>
                      <a:srgbClr val="F1F4F6"/>
                    </a:solidFill>
                  </a:tcPr>
                </a:tc>
                <a:tc>
                  <a:txBody>
                    <a:bodyPr/>
                    <a:lstStyle/>
                    <a:p>
                      <a:r>
                        <a:rPr sz="1300" b="0">
                          <a:solidFill>
                            <a:srgbClr val="1A1F24"/>
                          </a:solidFill>
                          <a:latin typeface="Calibri"/>
                        </a:rPr>
                        <a:t>0.367</a:t>
                      </a:r>
                    </a:p>
                  </a:txBody>
                  <a:tcPr marT="38100" marB="38100" anchor="ctr">
                    <a:solidFill>
                      <a:srgbClr val="F1F4F6"/>
                    </a:solidFill>
                  </a:tcPr>
                </a:tc>
                <a:tc>
                  <a:txBody>
                    <a:bodyPr/>
                    <a:lstStyle/>
                    <a:p>
                      <a:r>
                        <a:rPr sz="1300" b="0">
                          <a:solidFill>
                            <a:srgbClr val="1A1F24"/>
                          </a:solidFill>
                          <a:latin typeface="Calibri"/>
                        </a:rPr>
                        <a:t>categorical cell identity (captures per-cell baseline draw)</a:t>
                      </a:r>
                    </a:p>
                  </a:txBody>
                  <a:tcPr marT="38100" marB="38100" anchor="ctr">
                    <a:solidFill>
                      <a:srgbClr val="F1F4F6"/>
                    </a:solidFill>
                  </a:tcPr>
                </a:tc>
              </a:tr>
              <a:tr h="457200">
                <a:tc>
                  <a:txBody>
                    <a:bodyPr/>
                    <a:lstStyle/>
                    <a:p>
                      <a:r>
                        <a:rPr sz="1300" b="0">
                          <a:solidFill>
                            <a:srgbClr val="1A1F24"/>
                          </a:solidFill>
                          <a:latin typeface="Calibri"/>
                        </a:rPr>
                        <a:t>sum_mem</a:t>
                      </a:r>
                    </a:p>
                  </a:txBody>
                  <a:tcPr marT="38100" marB="38100" anchor="ctr">
                    <a:solidFill>
                      <a:srgbClr val="FFFFFF"/>
                    </a:solidFill>
                  </a:tcPr>
                </a:tc>
                <a:tc>
                  <a:txBody>
                    <a:bodyPr/>
                    <a:lstStyle/>
                    <a:p>
                      <a:r>
                        <a:rPr sz="1300" b="0">
                          <a:solidFill>
                            <a:srgbClr val="1A1F24"/>
                          </a:solidFill>
                          <a:latin typeface="Calibri"/>
                        </a:rPr>
                        <a:t>0.049</a:t>
                      </a:r>
                    </a:p>
                  </a:txBody>
                  <a:tcPr marT="38100" marB="38100" anchor="ctr">
                    <a:solidFill>
                      <a:srgbClr val="FFFFFF"/>
                    </a:solidFill>
                  </a:tcPr>
                </a:tc>
                <a:tc>
                  <a:txBody>
                    <a:bodyPr/>
                    <a:lstStyle/>
                    <a:p>
                      <a:r>
                        <a:rPr sz="1300" b="0">
                          <a:solidFill>
                            <a:srgbClr val="1A1F24"/>
                          </a:solidFill>
                          <a:latin typeface="Calibri"/>
                        </a:rPr>
                        <a:t>sum of average_usage.memory, active machines, per cell/bucket</a:t>
                      </a:r>
                    </a:p>
                  </a:txBody>
                  <a:tcPr marT="38100" marB="38100" anchor="ctr">
                    <a:solidFill>
                      <a:srgbClr val="FFFFFF"/>
                    </a:solidFill>
                  </a:tcPr>
                </a:tc>
              </a:tr>
            </a:tbl>
          </a:graphicData>
        </a:graphic>
      </p:graphicFrame>
      <p:pic>
        <p:nvPicPr>
          <p:cNvPr id="5" name="Picture 4" descr="power_residuals.png"/>
          <p:cNvPicPr>
            <a:picLocks noChangeAspect="1"/>
          </p:cNvPicPr>
          <p:nvPr/>
        </p:nvPicPr>
        <p:blipFill>
          <a:blip r:embed="rId2"/>
          <a:stretch>
            <a:fillRect/>
          </a:stretch>
        </p:blipFill>
        <p:spPr>
          <a:xfrm>
            <a:off x="548640" y="3657600"/>
            <a:ext cx="5419797" cy="2834640"/>
          </a:xfrm>
          <a:prstGeom prst="rect">
            <a:avLst/>
          </a:prstGeom>
        </p:spPr>
      </p:pic>
      <p:sp>
        <p:nvSpPr>
          <p:cNvPr id="6" name="TextBox 5"/>
          <p:cNvSpPr txBox="1"/>
          <p:nvPr/>
        </p:nvSpPr>
        <p:spPr>
          <a:xfrm>
            <a:off x="6583680" y="3840480"/>
            <a:ext cx="5029200" cy="2468880"/>
          </a:xfrm>
          <a:prstGeom prst="rect">
            <a:avLst/>
          </a:prstGeom>
          <a:noFill/>
        </p:spPr>
        <p:txBody>
          <a:bodyPr wrap="square" anchor="t" lIns="0" rIns="0" tIns="0" bIns="0">
            <a:spAutoFit/>
          </a:bodyPr>
          <a:lstStyle/>
          <a:p>
            <a:pPr algn="l">
              <a:lnSpc>
                <a:spcPct val="130000"/>
              </a:lnSpc>
            </a:pPr>
            <a:r>
              <a:rPr sz="1200" b="0" i="0">
                <a:solidFill>
                  <a:srgbClr val="5B666E"/>
                </a:solidFill>
                <a:latin typeface="Calibri"/>
              </a:rPr>
              <a:t>Target: mean_measured_power_util (fraction of PDU rated capacity, NOT watts — no PDU capacity-in-kW field exists in the public PowerData2019 schema).</a:t>
            </a:r>
          </a:p>
          <a:p>
            <a:pPr algn="l">
              <a:lnSpc>
                <a:spcPct val="130000"/>
              </a:lnSpc>
            </a:pPr>
            <a:r>
              <a:rPr sz="1200" b="0" i="0">
                <a:solidFill>
                  <a:srgbClr val="5B666E"/>
                </a:solidFill>
                <a:latin typeface="Calibri"/>
              </a:rPr>
              <a:t/>
            </a:r>
          </a:p>
          <a:p>
            <a:pPr algn="l">
              <a:lnSpc>
                <a:spcPct val="130000"/>
              </a:lnSpc>
            </a:pPr>
            <a:r>
              <a:rPr sz="1200" b="0" i="0">
                <a:solidFill>
                  <a:srgbClr val="5B666E"/>
                </a:solidFill>
                <a:latin typeface="Calibri"/>
              </a:rPr>
              <a:t>Residuals show a modest positive bias at high load (underprediction) — disclosed as a limitation, not corrected by re-fitting against the same data it would be tested 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0058400" cy="274320"/>
          </a:xfrm>
          <a:prstGeom prst="rect">
            <a:avLst/>
          </a:prstGeom>
          <a:noFill/>
        </p:spPr>
        <p:txBody>
          <a:bodyPr wrap="square" anchor="t" lIns="0" rIns="0" tIns="0" bIns="0">
            <a:spAutoFit/>
          </a:bodyPr>
          <a:lstStyle/>
          <a:p>
            <a:pPr algn="l">
              <a:lnSpc>
                <a:spcPct val="100000"/>
              </a:lnSpc>
            </a:pPr>
            <a:r>
              <a:rPr sz="1150" b="1" i="0">
                <a:solidFill>
                  <a:srgbClr val="E06C2B"/>
                </a:solidFill>
                <a:latin typeface="Calibri"/>
              </a:rPr>
              <a:t>DETAIL</a:t>
            </a:r>
          </a:p>
        </p:txBody>
      </p:sp>
      <p:sp>
        <p:nvSpPr>
          <p:cNvPr id="3" name="TextBox 2"/>
          <p:cNvSpPr txBox="1"/>
          <p:nvPr/>
        </p:nvSpPr>
        <p:spPr>
          <a:xfrm>
            <a:off x="548640" y="530352"/>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Appendix C — Thermal Model Equations</a:t>
            </a:r>
          </a:p>
        </p:txBody>
      </p:sp>
      <p:sp>
        <p:nvSpPr>
          <p:cNvPr id="4" name="TextBox 3"/>
          <p:cNvSpPr txBox="1"/>
          <p:nvPr/>
        </p:nvSpPr>
        <p:spPr>
          <a:xfrm>
            <a:off x="548640" y="1554480"/>
            <a:ext cx="11064240" cy="1463040"/>
          </a:xfrm>
          <a:prstGeom prst="rect">
            <a:avLst/>
          </a:prstGeom>
          <a:noFill/>
        </p:spPr>
        <p:txBody>
          <a:bodyPr wrap="square" anchor="t" lIns="0" rIns="0" tIns="0" bIns="0">
            <a:spAutoFit/>
          </a:bodyPr>
          <a:lstStyle/>
          <a:p>
            <a:pPr algn="l">
              <a:lnSpc>
                <a:spcPct val="140000"/>
              </a:lnSpc>
            </a:pPr>
            <a:r>
              <a:rPr sz="1550" b="0" i="0">
                <a:solidFill>
                  <a:srgbClr val="1A1F24"/>
                </a:solidFill>
                <a:latin typeface="Calibri"/>
              </a:rPr>
              <a:t>Per zone i, discretized with explicit (forward) Euler at dt = 5 minutes:</a:t>
            </a:r>
          </a:p>
          <a:p>
            <a:pPr algn="l">
              <a:lnSpc>
                <a:spcPct val="140000"/>
              </a:lnSpc>
            </a:pPr>
            <a:r>
              <a:rPr sz="1550" b="0" i="0">
                <a:solidFill>
                  <a:srgbClr val="1A1F24"/>
                </a:solidFill>
                <a:latin typeface="Calibri"/>
              </a:rPr>
              <a:t/>
            </a:r>
          </a:p>
          <a:p>
            <a:pPr algn="l">
              <a:lnSpc>
                <a:spcPct val="140000"/>
              </a:lnSpc>
            </a:pPr>
            <a:r>
              <a:rPr sz="1550" b="0" i="0">
                <a:solidFill>
                  <a:srgbClr val="1A1F24"/>
                </a:solidFill>
                <a:latin typeface="Calibri"/>
              </a:rPr>
              <a:t>T_i[t+1] = T_i[t] + (dt_hours / C_i) × ( Q_i[t] − a_i[t]·P_cool·η  + Σ_j K_ij (T_j[t] − T_i[t]) + K_amb (T_amb − T_i[t]) )</a:t>
            </a:r>
          </a:p>
        </p:txBody>
      </p:sp>
      <p:graphicFrame>
        <p:nvGraphicFramePr>
          <p:cNvPr id="5" name="Table 4"/>
          <p:cNvGraphicFramePr>
            <a:graphicFrameLocks noGrp="1"/>
          </p:cNvGraphicFramePr>
          <p:nvPr/>
        </p:nvGraphicFramePr>
        <p:xfrm>
          <a:off x="548640" y="3200400"/>
          <a:ext cx="11064240" cy="3108960"/>
        </p:xfrm>
        <a:graphic>
          <a:graphicData uri="http://schemas.openxmlformats.org/drawingml/2006/table">
            <a:tbl>
              <a:tblPr firstRow="1" bandRow="1">
                <a:tableStyleId>{5C22544A-7EE6-4342-B048-85BDC9FD1C3A}</a:tableStyleId>
              </a:tblPr>
              <a:tblGrid>
                <a:gridCol w="1828800"/>
                <a:gridCol w="3657600"/>
                <a:gridCol w="5577840"/>
              </a:tblGrid>
              <a:tr h="444137">
                <a:tc>
                  <a:txBody>
                    <a:bodyPr/>
                    <a:lstStyle/>
                    <a:p>
                      <a:r>
                        <a:rPr sz="1300" b="1">
                          <a:solidFill>
                            <a:srgbClr val="FFFFFF"/>
                          </a:solidFill>
                          <a:latin typeface="Calibri"/>
                        </a:rPr>
                        <a:t>Term</a:t>
                      </a:r>
                    </a:p>
                  </a:txBody>
                  <a:tcPr marT="50800" marB="50800">
                    <a:solidFill>
                      <a:srgbClr val="0B3D59"/>
                    </a:solidFill>
                  </a:tcPr>
                </a:tc>
                <a:tc>
                  <a:txBody>
                    <a:bodyPr/>
                    <a:lstStyle/>
                    <a:p>
                      <a:r>
                        <a:rPr sz="1300" b="1">
                          <a:solidFill>
                            <a:srgbClr val="FFFFFF"/>
                          </a:solidFill>
                          <a:latin typeface="Calibri"/>
                        </a:rPr>
                        <a:t>Meaning</a:t>
                      </a:r>
                    </a:p>
                  </a:txBody>
                  <a:tcPr marT="50800" marB="50800">
                    <a:solidFill>
                      <a:srgbClr val="0B3D59"/>
                    </a:solidFill>
                  </a:tcPr>
                </a:tc>
                <a:tc>
                  <a:txBody>
                    <a:bodyPr/>
                    <a:lstStyle/>
                    <a:p>
                      <a:r>
                        <a:rPr sz="1300" b="1">
                          <a:solidFill>
                            <a:srgbClr val="FFFFFF"/>
                          </a:solidFill>
                          <a:latin typeface="Calibri"/>
                        </a:rPr>
                        <a:t>Status</a:t>
                      </a:r>
                    </a:p>
                  </a:txBody>
                  <a:tcPr marT="50800" marB="50800">
                    <a:solidFill>
                      <a:srgbClr val="0B3D59"/>
                    </a:solidFill>
                  </a:tcPr>
                </a:tc>
              </a:tr>
              <a:tr h="444137">
                <a:tc>
                  <a:txBody>
                    <a:bodyPr/>
                    <a:lstStyle/>
                    <a:p>
                      <a:r>
                        <a:rPr sz="1250" b="0">
                          <a:solidFill>
                            <a:srgbClr val="1A1F24"/>
                          </a:solidFill>
                          <a:latin typeface="Calibri"/>
                        </a:rPr>
                        <a:t>Q_i</a:t>
                      </a:r>
                    </a:p>
                  </a:txBody>
                  <a:tcPr marT="38100" marB="38100" anchor="ctr">
                    <a:solidFill>
                      <a:srgbClr val="FFFFFF"/>
                    </a:solidFill>
                  </a:tcPr>
                </a:tc>
                <a:tc>
                  <a:txBody>
                    <a:bodyPr/>
                    <a:lstStyle/>
                    <a:p>
                      <a:r>
                        <a:rPr sz="1250" b="0">
                          <a:solidFill>
                            <a:srgbClr val="1A1F24"/>
                          </a:solidFill>
                          <a:latin typeface="Calibri"/>
                        </a:rPr>
                        <a:t>heat input to zone i</a:t>
                      </a:r>
                    </a:p>
                  </a:txBody>
                  <a:tcPr marT="38100" marB="38100" anchor="ctr">
                    <a:solidFill>
                      <a:srgbClr val="FFFFFF"/>
                    </a:solidFill>
                  </a:tcPr>
                </a:tc>
                <a:tc>
                  <a:txBody>
                    <a:bodyPr/>
                    <a:lstStyle/>
                    <a:p>
                      <a:r>
                        <a:rPr sz="1250" b="0">
                          <a:solidFill>
                            <a:srgbClr val="1A1F24"/>
                          </a:solidFill>
                          <a:latin typeface="Calibri"/>
                        </a:rPr>
                        <a:t>FITTED (empirical power model × heat_scale_kw)</a:t>
                      </a:r>
                    </a:p>
                  </a:txBody>
                  <a:tcPr marT="38100" marB="38100" anchor="ctr">
                    <a:solidFill>
                      <a:srgbClr val="FFFFFF"/>
                    </a:solidFill>
                  </a:tcPr>
                </a:tc>
              </a:tr>
              <a:tr h="444137">
                <a:tc>
                  <a:txBody>
                    <a:bodyPr/>
                    <a:lstStyle/>
                    <a:p>
                      <a:r>
                        <a:rPr sz="1250" b="0">
                          <a:solidFill>
                            <a:srgbClr val="1A1F24"/>
                          </a:solidFill>
                          <a:latin typeface="Calibri"/>
                        </a:rPr>
                        <a:t>C_i</a:t>
                      </a:r>
                    </a:p>
                  </a:txBody>
                  <a:tcPr marT="38100" marB="38100" anchor="ctr">
                    <a:solidFill>
                      <a:srgbClr val="F1F4F6"/>
                    </a:solidFill>
                  </a:tcPr>
                </a:tc>
                <a:tc>
                  <a:txBody>
                    <a:bodyPr/>
                    <a:lstStyle/>
                    <a:p>
                      <a:r>
                        <a:rPr sz="1250" b="0">
                          <a:solidFill>
                            <a:srgbClr val="1A1F24"/>
                          </a:solidFill>
                          <a:latin typeface="Calibri"/>
                        </a:rPr>
                        <a:t>thermal mass</a:t>
                      </a:r>
                    </a:p>
                  </a:txBody>
                  <a:tcPr marT="38100" marB="38100" anchor="ctr">
                    <a:solidFill>
                      <a:srgbClr val="F1F4F6"/>
                    </a:solidFill>
                  </a:tcPr>
                </a:tc>
                <a:tc>
                  <a:txBody>
                    <a:bodyPr/>
                    <a:lstStyle/>
                    <a:p>
                      <a:r>
                        <a:rPr sz="1250" b="0">
                          <a:solidFill>
                            <a:srgbClr val="1A1F24"/>
                          </a:solidFill>
                          <a:latin typeface="Calibri"/>
                        </a:rPr>
                        <a:t>ASSUMED simulation constant (0.5 kWh/°C)</a:t>
                      </a:r>
                    </a:p>
                  </a:txBody>
                  <a:tcPr marT="38100" marB="38100" anchor="ctr">
                    <a:solidFill>
                      <a:srgbClr val="F1F4F6"/>
                    </a:solidFill>
                  </a:tcPr>
                </a:tc>
              </a:tr>
              <a:tr h="444137">
                <a:tc>
                  <a:txBody>
                    <a:bodyPr/>
                    <a:lstStyle/>
                    <a:p>
                      <a:r>
                        <a:rPr sz="1250" b="0">
                          <a:solidFill>
                            <a:srgbClr val="1A1F24"/>
                          </a:solidFill>
                          <a:latin typeface="Calibri"/>
                        </a:rPr>
                        <a:t>K_ij</a:t>
                      </a:r>
                    </a:p>
                  </a:txBody>
                  <a:tcPr marT="38100" marB="38100" anchor="ctr">
                    <a:solidFill>
                      <a:srgbClr val="FFFFFF"/>
                    </a:solidFill>
                  </a:tcPr>
                </a:tc>
                <a:tc>
                  <a:txBody>
                    <a:bodyPr/>
                    <a:lstStyle/>
                    <a:p>
                      <a:r>
                        <a:rPr sz="1250" b="0">
                          <a:solidFill>
                            <a:srgbClr val="1A1F24"/>
                          </a:solidFill>
                          <a:latin typeface="Calibri"/>
                        </a:rPr>
                        <a:t>inter-zone coupling</a:t>
                      </a:r>
                    </a:p>
                  </a:txBody>
                  <a:tcPr marT="38100" marB="38100" anchor="ctr">
                    <a:solidFill>
                      <a:srgbClr val="FFFFFF"/>
                    </a:solidFill>
                  </a:tcPr>
                </a:tc>
                <a:tc>
                  <a:txBody>
                    <a:bodyPr/>
                    <a:lstStyle/>
                    <a:p>
                      <a:r>
                        <a:rPr sz="1250" b="0">
                          <a:solidFill>
                            <a:srgbClr val="1A1F24"/>
                          </a:solidFill>
                          <a:latin typeface="Calibri"/>
                        </a:rPr>
                        <a:t>ASSUMED (0.05 kW/°C, line-graph topology)</a:t>
                      </a:r>
                    </a:p>
                  </a:txBody>
                  <a:tcPr marT="38100" marB="38100" anchor="ctr">
                    <a:solidFill>
                      <a:srgbClr val="FFFFFF"/>
                    </a:solidFill>
                  </a:tcPr>
                </a:tc>
              </a:tr>
              <a:tr h="444137">
                <a:tc>
                  <a:txBody>
                    <a:bodyPr/>
                    <a:lstStyle/>
                    <a:p>
                      <a:r>
                        <a:rPr sz="1250" b="0">
                          <a:solidFill>
                            <a:srgbClr val="1A1F24"/>
                          </a:solidFill>
                          <a:latin typeface="Calibri"/>
                        </a:rPr>
                        <a:t>K_amb</a:t>
                      </a:r>
                    </a:p>
                  </a:txBody>
                  <a:tcPr marT="38100" marB="38100" anchor="ctr">
                    <a:solidFill>
                      <a:srgbClr val="F1F4F6"/>
                    </a:solidFill>
                  </a:tcPr>
                </a:tc>
                <a:tc>
                  <a:txBody>
                    <a:bodyPr/>
                    <a:lstStyle/>
                    <a:p>
                      <a:r>
                        <a:rPr sz="1250" b="0">
                          <a:solidFill>
                            <a:srgbClr val="1A1F24"/>
                          </a:solidFill>
                          <a:latin typeface="Calibri"/>
                        </a:rPr>
                        <a:t>ambient coupling</a:t>
                      </a:r>
                    </a:p>
                  </a:txBody>
                  <a:tcPr marT="38100" marB="38100" anchor="ctr">
                    <a:solidFill>
                      <a:srgbClr val="F1F4F6"/>
                    </a:solidFill>
                  </a:tcPr>
                </a:tc>
                <a:tc>
                  <a:txBody>
                    <a:bodyPr/>
                    <a:lstStyle/>
                    <a:p>
                      <a:r>
                        <a:rPr sz="1250" b="0">
                          <a:solidFill>
                            <a:srgbClr val="1A1F24"/>
                          </a:solidFill>
                          <a:latin typeface="Calibri"/>
                        </a:rPr>
                        <a:t>ASSUMED (0.02 kW/°C)</a:t>
                      </a:r>
                    </a:p>
                  </a:txBody>
                  <a:tcPr marT="38100" marB="38100" anchor="ctr">
                    <a:solidFill>
                      <a:srgbClr val="F1F4F6"/>
                    </a:solidFill>
                  </a:tcPr>
                </a:tc>
              </a:tr>
              <a:tr h="444137">
                <a:tc>
                  <a:txBody>
                    <a:bodyPr/>
                    <a:lstStyle/>
                    <a:p>
                      <a:r>
                        <a:rPr sz="1250" b="0">
                          <a:solidFill>
                            <a:srgbClr val="1A1F24"/>
                          </a:solidFill>
                          <a:latin typeface="Calibri"/>
                        </a:rPr>
                        <a:t>a_i, P_cool, η</a:t>
                      </a:r>
                    </a:p>
                  </a:txBody>
                  <a:tcPr marT="38100" marB="38100" anchor="ctr">
                    <a:solidFill>
                      <a:srgbClr val="FFFFFF"/>
                    </a:solidFill>
                  </a:tcPr>
                </a:tc>
                <a:tc>
                  <a:txBody>
                    <a:bodyPr/>
                    <a:lstStyle/>
                    <a:p>
                      <a:r>
                        <a:rPr sz="1250" b="0">
                          <a:solidFill>
                            <a:srgbClr val="1A1F24"/>
                          </a:solidFill>
                          <a:latin typeface="Calibri"/>
                        </a:rPr>
                        <a:t>cooling action, max cooling power, efficiency</a:t>
                      </a:r>
                    </a:p>
                  </a:txBody>
                  <a:tcPr marT="38100" marB="38100" anchor="ctr">
                    <a:solidFill>
                      <a:srgbClr val="FFFFFF"/>
                    </a:solidFill>
                  </a:tcPr>
                </a:tc>
                <a:tc>
                  <a:txBody>
                    <a:bodyPr/>
                    <a:lstStyle/>
                    <a:p>
                      <a:r>
                        <a:rPr sz="1250" b="0">
                          <a:solidFill>
                            <a:srgbClr val="1A1F24"/>
                          </a:solidFill>
                          <a:latin typeface="Calibri"/>
                        </a:rPr>
                        <a:t>ASSUMED (a∈[0,1], 0.5 kW, 1.0)</a:t>
                      </a:r>
                    </a:p>
                  </a:txBody>
                  <a:tcPr marT="38100" marB="38100" anchor="ctr">
                    <a:solidFill>
                      <a:srgbClr val="FFFFFF"/>
                    </a:solidFill>
                  </a:tcPr>
                </a:tc>
              </a:tr>
              <a:tr h="444138">
                <a:tc>
                  <a:txBody>
                    <a:bodyPr/>
                    <a:lstStyle/>
                    <a:p>
                      <a:r>
                        <a:rPr sz="1250" b="0">
                          <a:solidFill>
                            <a:srgbClr val="1A1F24"/>
                          </a:solidFill>
                          <a:latin typeface="Calibri"/>
                        </a:rPr>
                        <a:t>T_amb</a:t>
                      </a:r>
                    </a:p>
                  </a:txBody>
                  <a:tcPr marT="38100" marB="38100" anchor="ctr">
                    <a:solidFill>
                      <a:srgbClr val="F1F4F6"/>
                    </a:solidFill>
                  </a:tcPr>
                </a:tc>
                <a:tc>
                  <a:txBody>
                    <a:bodyPr/>
                    <a:lstStyle/>
                    <a:p>
                      <a:r>
                        <a:rPr sz="1250" b="0">
                          <a:solidFill>
                            <a:srgbClr val="1A1F24"/>
                          </a:solidFill>
                          <a:latin typeface="Calibri"/>
                        </a:rPr>
                        <a:t>ambient temperature</a:t>
                      </a:r>
                    </a:p>
                  </a:txBody>
                  <a:tcPr marT="38100" marB="38100" anchor="ctr">
                    <a:solidFill>
                      <a:srgbClr val="F1F4F6"/>
                    </a:solidFill>
                  </a:tcPr>
                </a:tc>
                <a:tc>
                  <a:txBody>
                    <a:bodyPr/>
                    <a:lstStyle/>
                    <a:p>
                      <a:r>
                        <a:rPr sz="1250" b="0">
                          <a:solidFill>
                            <a:srgbClr val="1A1F24"/>
                          </a:solidFill>
                          <a:latin typeface="Calibri"/>
                        </a:rPr>
                        <a:t>ASSUMED (22°C)</a:t>
                      </a:r>
                    </a:p>
                  </a:txBody>
                  <a:tcPr marT="38100" marB="38100" anchor="ctr">
                    <a:solidFill>
                      <a:srgbClr val="F1F4F6"/>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0058400" cy="274320"/>
          </a:xfrm>
          <a:prstGeom prst="rect">
            <a:avLst/>
          </a:prstGeom>
          <a:noFill/>
        </p:spPr>
        <p:txBody>
          <a:bodyPr wrap="square" anchor="t" lIns="0" rIns="0" tIns="0" bIns="0">
            <a:spAutoFit/>
          </a:bodyPr>
          <a:lstStyle/>
          <a:p>
            <a:pPr algn="l">
              <a:lnSpc>
                <a:spcPct val="100000"/>
              </a:lnSpc>
            </a:pPr>
            <a:r>
              <a:rPr sz="1150" b="1" i="0">
                <a:solidFill>
                  <a:srgbClr val="E06C2B"/>
                </a:solidFill>
                <a:latin typeface="Calibri"/>
              </a:rPr>
              <a:t>DETAIL</a:t>
            </a:r>
          </a:p>
        </p:txBody>
      </p:sp>
      <p:sp>
        <p:nvSpPr>
          <p:cNvPr id="3" name="TextBox 2"/>
          <p:cNvSpPr txBox="1"/>
          <p:nvPr/>
        </p:nvSpPr>
        <p:spPr>
          <a:xfrm>
            <a:off x="548640" y="530352"/>
            <a:ext cx="11064240" cy="685800"/>
          </a:xfrm>
          <a:prstGeom prst="rect">
            <a:avLst/>
          </a:prstGeom>
          <a:noFill/>
        </p:spPr>
        <p:txBody>
          <a:bodyPr wrap="square" anchor="t" lIns="0" rIns="0" tIns="0" bIns="0">
            <a:spAutoFit/>
          </a:bodyPr>
          <a:lstStyle/>
          <a:p>
            <a:pPr algn="l">
              <a:lnSpc>
                <a:spcPct val="100000"/>
              </a:lnSpc>
            </a:pPr>
            <a:r>
              <a:rPr sz="2800" b="1" i="0">
                <a:solidFill>
                  <a:srgbClr val="0B3D59"/>
                </a:solidFill>
                <a:latin typeface="Cambria"/>
              </a:rPr>
              <a:t>Appendix D — PPO / MAPPO Objective</a:t>
            </a:r>
          </a:p>
        </p:txBody>
      </p:sp>
      <p:sp>
        <p:nvSpPr>
          <p:cNvPr id="4" name="TextBox 3"/>
          <p:cNvSpPr txBox="1"/>
          <p:nvPr/>
        </p:nvSpPr>
        <p:spPr>
          <a:xfrm>
            <a:off x="548640" y="1554480"/>
            <a:ext cx="11064240" cy="1188720"/>
          </a:xfrm>
          <a:prstGeom prst="rect">
            <a:avLst/>
          </a:prstGeom>
          <a:noFill/>
        </p:spPr>
        <p:txBody>
          <a:bodyPr wrap="square" anchor="t" lIns="0" rIns="0" tIns="0" bIns="0">
            <a:spAutoFit/>
          </a:bodyPr>
          <a:lstStyle/>
          <a:p>
            <a:pPr algn="l">
              <a:lnSpc>
                <a:spcPct val="140000"/>
              </a:lnSpc>
            </a:pPr>
            <a:r>
              <a:rPr sz="1600" b="0" i="0">
                <a:solidFill>
                  <a:srgbClr val="1A1F24"/>
                </a:solidFill>
                <a:latin typeface="Calibri"/>
              </a:rPr>
              <a:t>Clipped surrogate objective (shared by PPO and MAPPO's per-agent update):</a:t>
            </a:r>
          </a:p>
          <a:p>
            <a:pPr algn="l">
              <a:lnSpc>
                <a:spcPct val="140000"/>
              </a:lnSpc>
            </a:pPr>
            <a:r>
              <a:rPr sz="1600" b="0" i="0">
                <a:solidFill>
                  <a:srgbClr val="1A1F24"/>
                </a:solidFill>
                <a:latin typeface="Calibri"/>
              </a:rPr>
              <a:t/>
            </a:r>
          </a:p>
          <a:p>
            <a:pPr algn="l">
              <a:lnSpc>
                <a:spcPct val="140000"/>
              </a:lnSpc>
            </a:pPr>
            <a:r>
              <a:rPr sz="1600" b="0" i="0">
                <a:solidFill>
                  <a:srgbClr val="1A1F24"/>
                </a:solidFill>
                <a:latin typeface="Calibri"/>
              </a:rPr>
              <a:t>L(θ) = E[ min( r_t(θ)·A_t ,  clip(r_t(θ), 1−ε, 1+ε)·A_t ) ]</a:t>
            </a:r>
          </a:p>
        </p:txBody>
      </p:sp>
      <p:graphicFrame>
        <p:nvGraphicFramePr>
          <p:cNvPr id="5" name="Table 4"/>
          <p:cNvGraphicFramePr>
            <a:graphicFrameLocks noGrp="1"/>
          </p:cNvGraphicFramePr>
          <p:nvPr/>
        </p:nvGraphicFramePr>
        <p:xfrm>
          <a:off x="548640" y="2926080"/>
          <a:ext cx="11064240" cy="3383280"/>
        </p:xfrm>
        <a:graphic>
          <a:graphicData uri="http://schemas.openxmlformats.org/drawingml/2006/table">
            <a:tbl>
              <a:tblPr firstRow="1" bandRow="1">
                <a:tableStyleId>{5C22544A-7EE6-4342-B048-85BDC9FD1C3A}</a:tableStyleId>
              </a:tblPr>
              <a:tblGrid>
                <a:gridCol w="1920240"/>
                <a:gridCol w="9144000"/>
              </a:tblGrid>
              <a:tr h="483325">
                <a:tc>
                  <a:txBody>
                    <a:bodyPr/>
                    <a:lstStyle/>
                    <a:p>
                      <a:r>
                        <a:rPr sz="1350" b="1">
                          <a:solidFill>
                            <a:srgbClr val="FFFFFF"/>
                          </a:solidFill>
                          <a:latin typeface="Calibri"/>
                        </a:rPr>
                        <a:t>Term</a:t>
                      </a:r>
                    </a:p>
                  </a:txBody>
                  <a:tcPr marT="50800" marB="50800">
                    <a:solidFill>
                      <a:srgbClr val="0B3D59"/>
                    </a:solidFill>
                  </a:tcPr>
                </a:tc>
                <a:tc>
                  <a:txBody>
                    <a:bodyPr/>
                    <a:lstStyle/>
                    <a:p>
                      <a:r>
                        <a:rPr sz="1350" b="1">
                          <a:solidFill>
                            <a:srgbClr val="FFFFFF"/>
                          </a:solidFill>
                          <a:latin typeface="Calibri"/>
                        </a:rPr>
                        <a:t>Meaning</a:t>
                      </a:r>
                    </a:p>
                  </a:txBody>
                  <a:tcPr marT="50800" marB="50800">
                    <a:solidFill>
                      <a:srgbClr val="0B3D59"/>
                    </a:solidFill>
                  </a:tcPr>
                </a:tc>
              </a:tr>
              <a:tr h="483325">
                <a:tc>
                  <a:txBody>
                    <a:bodyPr/>
                    <a:lstStyle/>
                    <a:p>
                      <a:r>
                        <a:rPr sz="1300" b="0">
                          <a:solidFill>
                            <a:srgbClr val="1A1F24"/>
                          </a:solidFill>
                          <a:latin typeface="Calibri"/>
                        </a:rPr>
                        <a:t>r_t(θ)</a:t>
                      </a:r>
                    </a:p>
                  </a:txBody>
                  <a:tcPr marT="38100" marB="38100" anchor="ctr">
                    <a:solidFill>
                      <a:srgbClr val="FFFFFF"/>
                    </a:solidFill>
                  </a:tcPr>
                </a:tc>
                <a:tc>
                  <a:txBody>
                    <a:bodyPr/>
                    <a:lstStyle/>
                    <a:p>
                      <a:r>
                        <a:rPr sz="1300" b="0">
                          <a:solidFill>
                            <a:srgbClr val="1A1F24"/>
                          </a:solidFill>
                          <a:latin typeface="Calibri"/>
                        </a:rPr>
                        <a:t>π_θ(a_t|s_t) / π_θ_old(a_t|s_t) — importance-sampling ratio</a:t>
                      </a:r>
                    </a:p>
                  </a:txBody>
                  <a:tcPr marT="38100" marB="38100" anchor="ctr">
                    <a:solidFill>
                      <a:srgbClr val="FFFFFF"/>
                    </a:solidFill>
                  </a:tcPr>
                </a:tc>
              </a:tr>
              <a:tr h="483325">
                <a:tc>
                  <a:txBody>
                    <a:bodyPr/>
                    <a:lstStyle/>
                    <a:p>
                      <a:r>
                        <a:rPr sz="1300" b="0">
                          <a:solidFill>
                            <a:srgbClr val="1A1F24"/>
                          </a:solidFill>
                          <a:latin typeface="Calibri"/>
                        </a:rPr>
                        <a:t>A_t</a:t>
                      </a:r>
                    </a:p>
                  </a:txBody>
                  <a:tcPr marT="38100" marB="38100" anchor="ctr">
                    <a:solidFill>
                      <a:srgbClr val="F1F4F6"/>
                    </a:solidFill>
                  </a:tcPr>
                </a:tc>
                <a:tc>
                  <a:txBody>
                    <a:bodyPr/>
                    <a:lstStyle/>
                    <a:p>
                      <a:r>
                        <a:rPr sz="1300" b="0">
                          <a:solidFill>
                            <a:srgbClr val="1A1F24"/>
                          </a:solidFill>
                          <a:latin typeface="Calibri"/>
                        </a:rPr>
                        <a:t>advantage estimate (Generalized Advantage Estimation, λ = 0.95)</a:t>
                      </a:r>
                    </a:p>
                  </a:txBody>
                  <a:tcPr marT="38100" marB="38100" anchor="ctr">
                    <a:solidFill>
                      <a:srgbClr val="F1F4F6"/>
                    </a:solidFill>
                  </a:tcPr>
                </a:tc>
              </a:tr>
              <a:tr h="483325">
                <a:tc>
                  <a:txBody>
                    <a:bodyPr/>
                    <a:lstStyle/>
                    <a:p>
                      <a:r>
                        <a:rPr sz="1300" b="0">
                          <a:solidFill>
                            <a:srgbClr val="1A1F24"/>
                          </a:solidFill>
                          <a:latin typeface="Calibri"/>
                        </a:rPr>
                        <a:t>ε</a:t>
                      </a:r>
                    </a:p>
                  </a:txBody>
                  <a:tcPr marT="38100" marB="38100" anchor="ctr">
                    <a:solidFill>
                      <a:srgbClr val="FFFFFF"/>
                    </a:solidFill>
                  </a:tcPr>
                </a:tc>
                <a:tc>
                  <a:txBody>
                    <a:bodyPr/>
                    <a:lstStyle/>
                    <a:p>
                      <a:r>
                        <a:rPr sz="1300" b="0">
                          <a:solidFill>
                            <a:srgbClr val="1A1F24"/>
                          </a:solidFill>
                          <a:latin typeface="Calibri"/>
                        </a:rPr>
                        <a:t>clip range (0.2 here) — bounds how far one update can move the policy</a:t>
                      </a:r>
                    </a:p>
                  </a:txBody>
                  <a:tcPr marT="38100" marB="38100" anchor="ctr">
                    <a:solidFill>
                      <a:srgbClr val="FFFFFF"/>
                    </a:solidFill>
                  </a:tcPr>
                </a:tc>
              </a:tr>
              <a:tr h="483325">
                <a:tc>
                  <a:txBody>
                    <a:bodyPr/>
                    <a:lstStyle/>
                    <a:p>
                      <a:r>
                        <a:rPr sz="1300" b="0">
                          <a:solidFill>
                            <a:srgbClr val="1A1F24"/>
                          </a:solidFill>
                          <a:latin typeface="Calibri"/>
                        </a:rPr>
                        <a:t>PPO critic</a:t>
                      </a:r>
                    </a:p>
                  </a:txBody>
                  <a:tcPr marT="38100" marB="38100" anchor="ctr">
                    <a:solidFill>
                      <a:srgbClr val="F1F4F6"/>
                    </a:solidFill>
                  </a:tcPr>
                </a:tc>
                <a:tc>
                  <a:txBody>
                    <a:bodyPr/>
                    <a:lstStyle/>
                    <a:p>
                      <a:r>
                        <a:rPr sz="1300" b="0">
                          <a:solidFill>
                            <a:srgbClr val="1A1F24"/>
                          </a:solidFill>
                          <a:latin typeface="Calibri"/>
                        </a:rPr>
                        <a:t>single value function over the joint (21-dim) observation</a:t>
                      </a:r>
                    </a:p>
                  </a:txBody>
                  <a:tcPr marT="38100" marB="38100" anchor="ctr">
                    <a:solidFill>
                      <a:srgbClr val="F1F4F6"/>
                    </a:solidFill>
                  </a:tcPr>
                </a:tc>
              </a:tr>
              <a:tr h="483325">
                <a:tc>
                  <a:txBody>
                    <a:bodyPr/>
                    <a:lstStyle/>
                    <a:p>
                      <a:r>
                        <a:rPr sz="1300" b="0">
                          <a:solidFill>
                            <a:srgbClr val="1A1F24"/>
                          </a:solidFill>
                          <a:latin typeface="Calibri"/>
                        </a:rPr>
                        <a:t>MAPPO critic</a:t>
                      </a:r>
                    </a:p>
                  </a:txBody>
                  <a:tcPr marT="38100" marB="38100" anchor="ctr">
                    <a:solidFill>
                      <a:srgbClr val="FFFFFF"/>
                    </a:solidFill>
                  </a:tcPr>
                </a:tc>
                <a:tc>
                  <a:txBody>
                    <a:bodyPr/>
                    <a:lstStyle/>
                    <a:p>
                      <a:r>
                        <a:rPr sz="1300" b="0">
                          <a:solidFill>
                            <a:srgbClr val="1A1F24"/>
                          </a:solidFill>
                          <a:latin typeface="Calibri"/>
                        </a:rPr>
                        <a:t>single centralized value function over the concatenated global (36-dim, 4 zones × 9-dim local) state — training only</a:t>
                      </a:r>
                    </a:p>
                  </a:txBody>
                  <a:tcPr marT="38100" marB="38100" anchor="ctr">
                    <a:solidFill>
                      <a:srgbClr val="FFFFFF"/>
                    </a:solidFill>
                  </a:tcPr>
                </a:tc>
              </a:tr>
              <a:tr h="483330">
                <a:tc>
                  <a:txBody>
                    <a:bodyPr/>
                    <a:lstStyle/>
                    <a:p>
                      <a:r>
                        <a:rPr sz="1300" b="0">
                          <a:solidFill>
                            <a:srgbClr val="1A1F24"/>
                          </a:solidFill>
                          <a:latin typeface="Calibri"/>
                        </a:rPr>
                        <a:t>MAPPO actor</a:t>
                      </a:r>
                    </a:p>
                  </a:txBody>
                  <a:tcPr marT="38100" marB="38100" anchor="ctr">
                    <a:solidFill>
                      <a:srgbClr val="F1F4F6"/>
                    </a:solidFill>
                  </a:tcPr>
                </a:tc>
                <a:tc>
                  <a:txBody>
                    <a:bodyPr/>
                    <a:lstStyle/>
                    <a:p>
                      <a:r>
                        <a:rPr sz="1300" b="0">
                          <a:solidFill>
                            <a:srgbClr val="1A1F24"/>
                          </a:solidFill>
                          <a:latin typeface="Calibri"/>
                        </a:rPr>
                        <a:t>parameter-shared, per-zone, 9-dim local observation → 1-dim action</a:t>
                      </a:r>
                    </a:p>
                  </a:txBody>
                  <a:tcPr marT="38100" marB="38100" anchor="ctr">
                    <a:solidFill>
                      <a:srgbClr val="F1F4F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